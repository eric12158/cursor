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webExtension1.xml" ContentType="application/vnd.wps-officedocument.webExtension+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7" r:id="rId3"/>
    <p:sldId id="264" r:id="rId4"/>
    <p:sldId id="258" r:id="rId5"/>
    <p:sldId id="259" r:id="rId6"/>
    <p:sldId id="274" r:id="rId7"/>
    <p:sldId id="273" r:id="rId8"/>
    <p:sldId id="263" r:id="rId9"/>
    <p:sldId id="260" r:id="rId10"/>
    <p:sldId id="277" r:id="rId11"/>
    <p:sldId id="272" r:id="rId12"/>
    <p:sldId id="261" r:id="rId13"/>
    <p:sldId id="275" r:id="rId15"/>
    <p:sldId id="276" r:id="rId16"/>
    <p:sldId id="270"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782743ff-7f2b-4f31-93b4-0099345628de}">
          <p14:sldIdLst>
            <p14:sldId id="257"/>
            <p14:sldId id="264"/>
            <p14:sldId id="258"/>
            <p14:sldId id="259"/>
            <p14:sldId id="274"/>
            <p14:sldId id="273"/>
            <p14:sldId id="263"/>
            <p14:sldId id="260"/>
            <p14:sldId id="277"/>
            <p14:sldId id="272"/>
            <p14:sldId id="261"/>
            <p14:sldId id="275"/>
            <p14:sldId id="276"/>
            <p14:sldId id="27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25F755A-2BD3-43AA-B238-27F56FF2A8C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25F755A-2BD3-43AA-B238-27F56FF2A8C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25F755A-2BD3-43AA-B238-27F56FF2A8C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0" name="矩形 19"/>
          <p:cNvSpPr/>
          <p:nvPr userDrawn="1"/>
        </p:nvSpPr>
        <p:spPr>
          <a:xfrm>
            <a:off x="-16207" y="0"/>
            <a:ext cx="1368000" cy="6858000"/>
          </a:xfrm>
          <a:prstGeom prst="rect">
            <a:avLst/>
          </a:prstGeom>
          <a:solidFill>
            <a:srgbClr val="002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26"/>
          <p:cNvSpPr/>
          <p:nvPr userDrawn="1"/>
        </p:nvSpPr>
        <p:spPr>
          <a:xfrm>
            <a:off x="1638704" y="729451"/>
            <a:ext cx="3509091"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509091" h="142316">
                <a:moveTo>
                  <a:pt x="0" y="1905"/>
                </a:moveTo>
                <a:lnTo>
                  <a:pt x="3362406" y="0"/>
                </a:lnTo>
                <a:lnTo>
                  <a:pt x="3509091" y="142316"/>
                </a:lnTo>
                <a:lnTo>
                  <a:pt x="0" y="142316"/>
                </a:lnTo>
                <a:lnTo>
                  <a:pt x="0" y="1905"/>
                </a:lnTo>
                <a:close/>
              </a:path>
            </a:pathLst>
          </a:cu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26"/>
          <p:cNvSpPr/>
          <p:nvPr userDrawn="1"/>
        </p:nvSpPr>
        <p:spPr>
          <a:xfrm rot="10800000">
            <a:off x="5079215" y="729451"/>
            <a:ext cx="1904580"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 name="connsiteX0-11" fmla="*/ 0 w 3640166"/>
              <a:gd name="connsiteY0-12" fmla="*/ 1905 h 142316"/>
              <a:gd name="connsiteX1-13" fmla="*/ 3362406 w 3640166"/>
              <a:gd name="connsiteY1-14" fmla="*/ 0 h 142316"/>
              <a:gd name="connsiteX2-15" fmla="*/ 3640166 w 3640166"/>
              <a:gd name="connsiteY2-16" fmla="*/ 138506 h 142316"/>
              <a:gd name="connsiteX3-17" fmla="*/ 0 w 3640166"/>
              <a:gd name="connsiteY3-18" fmla="*/ 142316 h 142316"/>
              <a:gd name="connsiteX4-19" fmla="*/ 0 w 3640166"/>
              <a:gd name="connsiteY4-2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40166" h="142316">
                <a:moveTo>
                  <a:pt x="0" y="1905"/>
                </a:moveTo>
                <a:lnTo>
                  <a:pt x="3362406" y="0"/>
                </a:lnTo>
                <a:lnTo>
                  <a:pt x="3640166" y="138506"/>
                </a:lnTo>
                <a:lnTo>
                  <a:pt x="0" y="142316"/>
                </a:lnTo>
                <a:lnTo>
                  <a:pt x="0" y="1905"/>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标题 1"/>
          <p:cNvSpPr>
            <a:spLocks noGrp="1"/>
          </p:cNvSpPr>
          <p:nvPr>
            <p:ph type="title"/>
          </p:nvPr>
        </p:nvSpPr>
        <p:spPr>
          <a:xfrm>
            <a:off x="1564057" y="-214444"/>
            <a:ext cx="9209824" cy="1325563"/>
          </a:xfrm>
        </p:spPr>
        <p:txBody>
          <a:bodyPr>
            <a:noAutofit/>
          </a:bodyPr>
          <a:lstStyle>
            <a:lvl1pPr>
              <a:defRPr sz="3200" b="1">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5" name="文本框 4"/>
          <p:cNvSpPr txBox="1"/>
          <p:nvPr userDrawn="1"/>
        </p:nvSpPr>
        <p:spPr>
          <a:xfrm>
            <a:off x="-16207" y="814057"/>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项目背景</a:t>
            </a:r>
            <a:endParaRPr lang="zh-CN" altLang="en-US" sz="1800" b="1" dirty="0">
              <a:solidFill>
                <a:schemeClr val="bg1"/>
              </a:solidFill>
              <a:latin typeface="微软雅黑" panose="020B0503020204020204" charset="-122"/>
              <a:ea typeface="微软雅黑" panose="020B0503020204020204" charset="-122"/>
            </a:endParaRPr>
          </a:p>
        </p:txBody>
      </p:sp>
      <p:sp>
        <p:nvSpPr>
          <p:cNvPr id="8" name="文本框 7"/>
          <p:cNvSpPr txBox="1"/>
          <p:nvPr userDrawn="1"/>
        </p:nvSpPr>
        <p:spPr>
          <a:xfrm>
            <a:off x="-16207" y="2270043"/>
            <a:ext cx="1368000" cy="376581"/>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解决方案</a:t>
            </a:r>
            <a:endParaRPr lang="zh-CN" altLang="en-US" sz="1800" b="1" dirty="0">
              <a:solidFill>
                <a:schemeClr val="bg1"/>
              </a:solidFill>
              <a:latin typeface="微软雅黑" panose="020B0503020204020204" charset="-122"/>
              <a:ea typeface="微软雅黑" panose="020B0503020204020204" charset="-122"/>
            </a:endParaRPr>
          </a:p>
        </p:txBody>
      </p:sp>
      <p:sp>
        <p:nvSpPr>
          <p:cNvPr id="12" name="文本框 11"/>
          <p:cNvSpPr txBox="1"/>
          <p:nvPr userDrawn="1"/>
        </p:nvSpPr>
        <p:spPr>
          <a:xfrm>
            <a:off x="-16207" y="3726031"/>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实施部署</a:t>
            </a:r>
            <a:endParaRPr lang="zh-CN" altLang="en-US" sz="1800" b="1" dirty="0">
              <a:solidFill>
                <a:schemeClr val="bg1"/>
              </a:solidFill>
              <a:latin typeface="微软雅黑" panose="020B0503020204020204" charset="-122"/>
              <a:ea typeface="微软雅黑" panose="020B0503020204020204" charset="-122"/>
            </a:endParaRPr>
          </a:p>
        </p:txBody>
      </p:sp>
      <p:sp>
        <p:nvSpPr>
          <p:cNvPr id="15" name="文本框 14"/>
          <p:cNvSpPr txBox="1"/>
          <p:nvPr userDrawn="1"/>
        </p:nvSpPr>
        <p:spPr>
          <a:xfrm>
            <a:off x="-16207" y="5205166"/>
            <a:ext cx="1368000" cy="373193"/>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配置计划</a:t>
            </a:r>
            <a:endParaRPr lang="zh-CN" altLang="en-US" sz="1800" b="1" dirty="0">
              <a:solidFill>
                <a:schemeClr val="bg1"/>
              </a:solidFill>
              <a:latin typeface="微软雅黑" panose="020B0503020204020204" charset="-122"/>
              <a:ea typeface="微软雅黑" panose="020B0503020204020204" charset="-122"/>
            </a:endParaRPr>
          </a:p>
        </p:txBody>
      </p:sp>
      <p:sp>
        <p:nvSpPr>
          <p:cNvPr id="21" name="文本框 20"/>
          <p:cNvSpPr txBox="1"/>
          <p:nvPr userDrawn="1"/>
        </p:nvSpPr>
        <p:spPr>
          <a:xfrm>
            <a:off x="-16207" y="1243155"/>
            <a:ext cx="1368000" cy="307777"/>
          </a:xfrm>
          <a:prstGeom prst="rect">
            <a:avLst/>
          </a:prstGeom>
          <a:solidFill>
            <a:srgbClr val="FF8815"/>
          </a:solid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基本信息</a:t>
            </a:r>
            <a:endParaRPr lang="zh-CN" altLang="en-US" sz="1400" b="1" dirty="0">
              <a:solidFill>
                <a:schemeClr val="bg1"/>
              </a:solidFill>
              <a:latin typeface="微软雅黑" panose="020B0503020204020204" charset="-122"/>
              <a:ea typeface="微软雅黑" panose="020B0503020204020204" charset="-122"/>
            </a:endParaRPr>
          </a:p>
        </p:txBody>
      </p:sp>
      <p:sp>
        <p:nvSpPr>
          <p:cNvPr id="22" name="文本框 21"/>
          <p:cNvSpPr txBox="1"/>
          <p:nvPr userDrawn="1"/>
        </p:nvSpPr>
        <p:spPr>
          <a:xfrm>
            <a:off x="-16207" y="1615109"/>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数据分析</a:t>
            </a:r>
            <a:endParaRPr lang="zh-CN" altLang="en-US" sz="1400" b="1" dirty="0">
              <a:solidFill>
                <a:schemeClr val="bg1"/>
              </a:solidFill>
              <a:latin typeface="微软雅黑" panose="020B0503020204020204" charset="-122"/>
              <a:ea typeface="微软雅黑" panose="020B0503020204020204" charset="-122"/>
            </a:endParaRPr>
          </a:p>
        </p:txBody>
      </p:sp>
      <p:sp>
        <p:nvSpPr>
          <p:cNvPr id="23" name="文本框 22"/>
          <p:cNvSpPr txBox="1"/>
          <p:nvPr userDrawn="1"/>
        </p:nvSpPr>
        <p:spPr>
          <a:xfrm>
            <a:off x="-16207" y="2714663"/>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方案介绍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4" name="文本框 23"/>
          <p:cNvSpPr txBox="1"/>
          <p:nvPr userDrawn="1"/>
        </p:nvSpPr>
        <p:spPr>
          <a:xfrm>
            <a:off x="-16207" y="308661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产品介绍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5" name="文本框 24"/>
          <p:cNvSpPr txBox="1"/>
          <p:nvPr userDrawn="1"/>
        </p:nvSpPr>
        <p:spPr>
          <a:xfrm>
            <a:off x="-16207" y="4158988"/>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场地环境</a:t>
            </a:r>
            <a:endParaRPr lang="zh-CN" altLang="en-US" sz="1400" b="1" dirty="0">
              <a:solidFill>
                <a:schemeClr val="bg1"/>
              </a:solidFill>
              <a:latin typeface="微软雅黑" panose="020B0503020204020204" charset="-122"/>
              <a:ea typeface="微软雅黑" panose="020B0503020204020204" charset="-122"/>
            </a:endParaRPr>
          </a:p>
        </p:txBody>
      </p:sp>
      <p:sp>
        <p:nvSpPr>
          <p:cNvPr id="26" name="文本框 25"/>
          <p:cNvSpPr txBox="1"/>
          <p:nvPr userDrawn="1"/>
        </p:nvSpPr>
        <p:spPr>
          <a:xfrm>
            <a:off x="-16207" y="4530942"/>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网络要求</a:t>
            </a:r>
            <a:endParaRPr lang="zh-CN" altLang="en-US" sz="1400" b="1" dirty="0">
              <a:solidFill>
                <a:schemeClr val="bg1"/>
              </a:solidFill>
              <a:latin typeface="微软雅黑" panose="020B0503020204020204" charset="-122"/>
              <a:ea typeface="微软雅黑" panose="020B0503020204020204" charset="-122"/>
            </a:endParaRPr>
          </a:p>
        </p:txBody>
      </p:sp>
      <p:sp>
        <p:nvSpPr>
          <p:cNvPr id="27" name="文本框 26"/>
          <p:cNvSpPr txBox="1"/>
          <p:nvPr userDrawn="1"/>
        </p:nvSpPr>
        <p:spPr>
          <a:xfrm>
            <a:off x="-16207" y="564253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项目清单</a:t>
            </a:r>
            <a:endParaRPr lang="zh-CN" altLang="en-US" sz="1400" b="1" dirty="0">
              <a:solidFill>
                <a:schemeClr val="bg1"/>
              </a:solidFill>
              <a:latin typeface="微软雅黑" panose="020B0503020204020204" charset="-122"/>
              <a:ea typeface="微软雅黑" panose="020B0503020204020204" charset="-122"/>
            </a:endParaRPr>
          </a:p>
        </p:txBody>
      </p:sp>
      <p:sp>
        <p:nvSpPr>
          <p:cNvPr id="28" name="文本框 27"/>
          <p:cNvSpPr txBox="1"/>
          <p:nvPr userDrawn="1"/>
        </p:nvSpPr>
        <p:spPr>
          <a:xfrm>
            <a:off x="-16207" y="6014491"/>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项目计划</a:t>
            </a:r>
            <a:endParaRPr lang="zh-CN" altLang="en-US" sz="1400" b="1" dirty="0">
              <a:solidFill>
                <a:schemeClr val="bg1"/>
              </a:solidFill>
              <a:latin typeface="微软雅黑" panose="020B0503020204020204" charset="-122"/>
              <a:ea typeface="微软雅黑" panose="020B0503020204020204" charset="-122"/>
            </a:endParaRPr>
          </a:p>
        </p:txBody>
      </p:sp>
      <p:sp>
        <p:nvSpPr>
          <p:cNvPr id="33" name="矩形 32"/>
          <p:cNvSpPr/>
          <p:nvPr userDrawn="1"/>
        </p:nvSpPr>
        <p:spPr>
          <a:xfrm>
            <a:off x="-16207" y="2061786"/>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userDrawn="1"/>
        </p:nvSpPr>
        <p:spPr>
          <a:xfrm>
            <a:off x="-16207" y="3536403"/>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16207" y="4997567"/>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userDrawn="1"/>
        </p:nvPicPr>
        <p:blipFill>
          <a:blip r:embed="rId2"/>
          <a:stretch>
            <a:fillRect/>
          </a:stretch>
        </p:blipFill>
        <p:spPr>
          <a:xfrm>
            <a:off x="10442863" y="69303"/>
            <a:ext cx="1667231" cy="538908"/>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空白">
    <p:spTree>
      <p:nvGrpSpPr>
        <p:cNvPr id="1" name=""/>
        <p:cNvGrpSpPr/>
        <p:nvPr/>
      </p:nvGrpSpPr>
      <p:grpSpPr>
        <a:xfrm>
          <a:off x="0" y="0"/>
          <a:ext cx="0" cy="0"/>
          <a:chOff x="0" y="0"/>
          <a:chExt cx="0" cy="0"/>
        </a:xfrm>
      </p:grpSpPr>
      <p:sp>
        <p:nvSpPr>
          <p:cNvPr id="20" name="矩形 19"/>
          <p:cNvSpPr/>
          <p:nvPr userDrawn="1"/>
        </p:nvSpPr>
        <p:spPr>
          <a:xfrm>
            <a:off x="-16207" y="0"/>
            <a:ext cx="1368000" cy="6858000"/>
          </a:xfrm>
          <a:prstGeom prst="rect">
            <a:avLst/>
          </a:prstGeom>
          <a:solidFill>
            <a:srgbClr val="002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26"/>
          <p:cNvSpPr/>
          <p:nvPr userDrawn="1"/>
        </p:nvSpPr>
        <p:spPr>
          <a:xfrm>
            <a:off x="1638704" y="729451"/>
            <a:ext cx="3509091"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509091" h="142316">
                <a:moveTo>
                  <a:pt x="0" y="1905"/>
                </a:moveTo>
                <a:lnTo>
                  <a:pt x="3362406" y="0"/>
                </a:lnTo>
                <a:lnTo>
                  <a:pt x="3509091" y="142316"/>
                </a:lnTo>
                <a:lnTo>
                  <a:pt x="0" y="142316"/>
                </a:lnTo>
                <a:lnTo>
                  <a:pt x="0" y="1905"/>
                </a:lnTo>
                <a:close/>
              </a:path>
            </a:pathLst>
          </a:cu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26"/>
          <p:cNvSpPr/>
          <p:nvPr userDrawn="1"/>
        </p:nvSpPr>
        <p:spPr>
          <a:xfrm rot="10800000">
            <a:off x="5079215" y="729451"/>
            <a:ext cx="1904580"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 name="connsiteX0-11" fmla="*/ 0 w 3640166"/>
              <a:gd name="connsiteY0-12" fmla="*/ 1905 h 142316"/>
              <a:gd name="connsiteX1-13" fmla="*/ 3362406 w 3640166"/>
              <a:gd name="connsiteY1-14" fmla="*/ 0 h 142316"/>
              <a:gd name="connsiteX2-15" fmla="*/ 3640166 w 3640166"/>
              <a:gd name="connsiteY2-16" fmla="*/ 138506 h 142316"/>
              <a:gd name="connsiteX3-17" fmla="*/ 0 w 3640166"/>
              <a:gd name="connsiteY3-18" fmla="*/ 142316 h 142316"/>
              <a:gd name="connsiteX4-19" fmla="*/ 0 w 3640166"/>
              <a:gd name="connsiteY4-2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40166" h="142316">
                <a:moveTo>
                  <a:pt x="0" y="1905"/>
                </a:moveTo>
                <a:lnTo>
                  <a:pt x="3362406" y="0"/>
                </a:lnTo>
                <a:lnTo>
                  <a:pt x="3640166" y="138506"/>
                </a:lnTo>
                <a:lnTo>
                  <a:pt x="0" y="142316"/>
                </a:lnTo>
                <a:lnTo>
                  <a:pt x="0" y="1905"/>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标题 1"/>
          <p:cNvSpPr>
            <a:spLocks noGrp="1"/>
          </p:cNvSpPr>
          <p:nvPr>
            <p:ph type="title"/>
          </p:nvPr>
        </p:nvSpPr>
        <p:spPr>
          <a:xfrm>
            <a:off x="1564057" y="-214444"/>
            <a:ext cx="9209824" cy="1325563"/>
          </a:xfrm>
        </p:spPr>
        <p:txBody>
          <a:bodyPr>
            <a:noAutofit/>
          </a:bodyPr>
          <a:lstStyle>
            <a:lvl1pPr>
              <a:defRPr sz="3200" b="1">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5" name="文本框 4"/>
          <p:cNvSpPr txBox="1"/>
          <p:nvPr userDrawn="1"/>
        </p:nvSpPr>
        <p:spPr>
          <a:xfrm>
            <a:off x="-16207" y="814057"/>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项目背景</a:t>
            </a:r>
            <a:endParaRPr lang="zh-CN" altLang="en-US" sz="1800" b="1" dirty="0">
              <a:solidFill>
                <a:schemeClr val="bg1"/>
              </a:solidFill>
              <a:latin typeface="微软雅黑" panose="020B0503020204020204" charset="-122"/>
              <a:ea typeface="微软雅黑" panose="020B0503020204020204" charset="-122"/>
            </a:endParaRPr>
          </a:p>
        </p:txBody>
      </p:sp>
      <p:sp>
        <p:nvSpPr>
          <p:cNvPr id="8" name="文本框 7"/>
          <p:cNvSpPr txBox="1"/>
          <p:nvPr userDrawn="1"/>
        </p:nvSpPr>
        <p:spPr>
          <a:xfrm>
            <a:off x="-16207" y="2270043"/>
            <a:ext cx="1368000" cy="376581"/>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解决方案</a:t>
            </a:r>
            <a:endParaRPr lang="zh-CN" altLang="en-US" sz="1800" b="1" dirty="0">
              <a:solidFill>
                <a:schemeClr val="bg1"/>
              </a:solidFill>
              <a:latin typeface="微软雅黑" panose="020B0503020204020204" charset="-122"/>
              <a:ea typeface="微软雅黑" panose="020B0503020204020204" charset="-122"/>
            </a:endParaRPr>
          </a:p>
        </p:txBody>
      </p:sp>
      <p:sp>
        <p:nvSpPr>
          <p:cNvPr id="12" name="文本框 11"/>
          <p:cNvSpPr txBox="1"/>
          <p:nvPr userDrawn="1"/>
        </p:nvSpPr>
        <p:spPr>
          <a:xfrm>
            <a:off x="-16207" y="3726031"/>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实施部署</a:t>
            </a:r>
            <a:endParaRPr lang="zh-CN" altLang="en-US" sz="1800" b="1" dirty="0">
              <a:solidFill>
                <a:schemeClr val="bg1"/>
              </a:solidFill>
              <a:latin typeface="微软雅黑" panose="020B0503020204020204" charset="-122"/>
              <a:ea typeface="微软雅黑" panose="020B0503020204020204" charset="-122"/>
            </a:endParaRPr>
          </a:p>
        </p:txBody>
      </p:sp>
      <p:sp>
        <p:nvSpPr>
          <p:cNvPr id="15" name="文本框 14"/>
          <p:cNvSpPr txBox="1"/>
          <p:nvPr userDrawn="1"/>
        </p:nvSpPr>
        <p:spPr>
          <a:xfrm>
            <a:off x="-16207" y="5205166"/>
            <a:ext cx="1368000" cy="373193"/>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配置计划</a:t>
            </a:r>
            <a:endParaRPr lang="zh-CN" altLang="en-US" sz="1800" b="1" dirty="0">
              <a:solidFill>
                <a:schemeClr val="bg1"/>
              </a:solidFill>
              <a:latin typeface="微软雅黑" panose="020B0503020204020204" charset="-122"/>
              <a:ea typeface="微软雅黑" panose="020B0503020204020204" charset="-122"/>
            </a:endParaRPr>
          </a:p>
        </p:txBody>
      </p:sp>
      <p:sp>
        <p:nvSpPr>
          <p:cNvPr id="21" name="文本框 20"/>
          <p:cNvSpPr txBox="1"/>
          <p:nvPr userDrawn="1"/>
        </p:nvSpPr>
        <p:spPr>
          <a:xfrm>
            <a:off x="-16207" y="1243155"/>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基本信息</a:t>
            </a:r>
            <a:endParaRPr lang="zh-CN" altLang="en-US" sz="1400" b="1" dirty="0">
              <a:solidFill>
                <a:schemeClr val="bg1"/>
              </a:solidFill>
              <a:latin typeface="微软雅黑" panose="020B0503020204020204" charset="-122"/>
              <a:ea typeface="微软雅黑" panose="020B0503020204020204" charset="-122"/>
            </a:endParaRPr>
          </a:p>
        </p:txBody>
      </p:sp>
      <p:sp>
        <p:nvSpPr>
          <p:cNvPr id="22" name="文本框 21"/>
          <p:cNvSpPr txBox="1"/>
          <p:nvPr userDrawn="1"/>
        </p:nvSpPr>
        <p:spPr>
          <a:xfrm>
            <a:off x="-16207" y="1615109"/>
            <a:ext cx="1368000" cy="307777"/>
          </a:xfrm>
          <a:prstGeom prst="rect">
            <a:avLst/>
          </a:prstGeom>
          <a:solidFill>
            <a:srgbClr val="FF8815"/>
          </a:solid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数据分析</a:t>
            </a:r>
            <a:endParaRPr lang="zh-CN" altLang="en-US" sz="1400" b="1" dirty="0">
              <a:solidFill>
                <a:schemeClr val="bg1"/>
              </a:solidFill>
              <a:latin typeface="微软雅黑" panose="020B0503020204020204" charset="-122"/>
              <a:ea typeface="微软雅黑" panose="020B0503020204020204" charset="-122"/>
            </a:endParaRPr>
          </a:p>
        </p:txBody>
      </p:sp>
      <p:sp>
        <p:nvSpPr>
          <p:cNvPr id="23" name="文本框 22"/>
          <p:cNvSpPr txBox="1"/>
          <p:nvPr userDrawn="1"/>
        </p:nvSpPr>
        <p:spPr>
          <a:xfrm>
            <a:off x="-16207" y="2714663"/>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方案介绍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4" name="文本框 23"/>
          <p:cNvSpPr txBox="1"/>
          <p:nvPr userDrawn="1"/>
        </p:nvSpPr>
        <p:spPr>
          <a:xfrm>
            <a:off x="-16207" y="308661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产品介绍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5" name="文本框 24"/>
          <p:cNvSpPr txBox="1"/>
          <p:nvPr userDrawn="1"/>
        </p:nvSpPr>
        <p:spPr>
          <a:xfrm>
            <a:off x="-16207" y="4158988"/>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场地环境</a:t>
            </a:r>
            <a:endParaRPr lang="zh-CN" altLang="en-US" sz="1400" b="1" dirty="0">
              <a:solidFill>
                <a:schemeClr val="bg1"/>
              </a:solidFill>
              <a:latin typeface="微软雅黑" panose="020B0503020204020204" charset="-122"/>
              <a:ea typeface="微软雅黑" panose="020B0503020204020204" charset="-122"/>
            </a:endParaRPr>
          </a:p>
        </p:txBody>
      </p:sp>
      <p:sp>
        <p:nvSpPr>
          <p:cNvPr id="26" name="文本框 25"/>
          <p:cNvSpPr txBox="1"/>
          <p:nvPr userDrawn="1"/>
        </p:nvSpPr>
        <p:spPr>
          <a:xfrm>
            <a:off x="-16207" y="4530942"/>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网络要求</a:t>
            </a:r>
            <a:endParaRPr lang="zh-CN" altLang="en-US" sz="1400" b="1" dirty="0">
              <a:solidFill>
                <a:schemeClr val="bg1"/>
              </a:solidFill>
              <a:latin typeface="微软雅黑" panose="020B0503020204020204" charset="-122"/>
              <a:ea typeface="微软雅黑" panose="020B0503020204020204" charset="-122"/>
            </a:endParaRPr>
          </a:p>
        </p:txBody>
      </p:sp>
      <p:sp>
        <p:nvSpPr>
          <p:cNvPr id="27" name="文本框 26"/>
          <p:cNvSpPr txBox="1"/>
          <p:nvPr userDrawn="1"/>
        </p:nvSpPr>
        <p:spPr>
          <a:xfrm>
            <a:off x="-16207" y="564253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项目清单</a:t>
            </a:r>
            <a:endParaRPr lang="zh-CN" altLang="en-US" sz="1400" b="1" dirty="0">
              <a:solidFill>
                <a:schemeClr val="bg1"/>
              </a:solidFill>
              <a:latin typeface="微软雅黑" panose="020B0503020204020204" charset="-122"/>
              <a:ea typeface="微软雅黑" panose="020B0503020204020204" charset="-122"/>
            </a:endParaRPr>
          </a:p>
        </p:txBody>
      </p:sp>
      <p:sp>
        <p:nvSpPr>
          <p:cNvPr id="28" name="文本框 27"/>
          <p:cNvSpPr txBox="1"/>
          <p:nvPr userDrawn="1"/>
        </p:nvSpPr>
        <p:spPr>
          <a:xfrm>
            <a:off x="-16207" y="6014491"/>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项目计划</a:t>
            </a:r>
            <a:endParaRPr lang="zh-CN" altLang="en-US" sz="1400" b="1" dirty="0">
              <a:solidFill>
                <a:schemeClr val="bg1"/>
              </a:solidFill>
              <a:latin typeface="微软雅黑" panose="020B0503020204020204" charset="-122"/>
              <a:ea typeface="微软雅黑" panose="020B0503020204020204" charset="-122"/>
            </a:endParaRPr>
          </a:p>
        </p:txBody>
      </p:sp>
      <p:sp>
        <p:nvSpPr>
          <p:cNvPr id="33" name="矩形 32"/>
          <p:cNvSpPr/>
          <p:nvPr userDrawn="1"/>
        </p:nvSpPr>
        <p:spPr>
          <a:xfrm>
            <a:off x="-16207" y="2061786"/>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userDrawn="1"/>
        </p:nvSpPr>
        <p:spPr>
          <a:xfrm>
            <a:off x="-16207" y="3536403"/>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16207" y="4997567"/>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2"/>
          <a:stretch>
            <a:fillRect/>
          </a:stretch>
        </p:blipFill>
        <p:spPr>
          <a:xfrm>
            <a:off x="10442863" y="69303"/>
            <a:ext cx="1667231" cy="538908"/>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空白">
    <p:spTree>
      <p:nvGrpSpPr>
        <p:cNvPr id="1" name=""/>
        <p:cNvGrpSpPr/>
        <p:nvPr/>
      </p:nvGrpSpPr>
      <p:grpSpPr>
        <a:xfrm>
          <a:off x="0" y="0"/>
          <a:ext cx="0" cy="0"/>
          <a:chOff x="0" y="0"/>
          <a:chExt cx="0" cy="0"/>
        </a:xfrm>
      </p:grpSpPr>
      <p:sp>
        <p:nvSpPr>
          <p:cNvPr id="20" name="矩形 19"/>
          <p:cNvSpPr/>
          <p:nvPr userDrawn="1"/>
        </p:nvSpPr>
        <p:spPr>
          <a:xfrm>
            <a:off x="-16207" y="0"/>
            <a:ext cx="1368000" cy="6858000"/>
          </a:xfrm>
          <a:prstGeom prst="rect">
            <a:avLst/>
          </a:prstGeom>
          <a:solidFill>
            <a:srgbClr val="002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26"/>
          <p:cNvSpPr/>
          <p:nvPr userDrawn="1"/>
        </p:nvSpPr>
        <p:spPr>
          <a:xfrm>
            <a:off x="1638704" y="729451"/>
            <a:ext cx="3509091"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509091" h="142316">
                <a:moveTo>
                  <a:pt x="0" y="1905"/>
                </a:moveTo>
                <a:lnTo>
                  <a:pt x="3362406" y="0"/>
                </a:lnTo>
                <a:lnTo>
                  <a:pt x="3509091" y="142316"/>
                </a:lnTo>
                <a:lnTo>
                  <a:pt x="0" y="142316"/>
                </a:lnTo>
                <a:lnTo>
                  <a:pt x="0" y="1905"/>
                </a:lnTo>
                <a:close/>
              </a:path>
            </a:pathLst>
          </a:cu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26"/>
          <p:cNvSpPr/>
          <p:nvPr userDrawn="1"/>
        </p:nvSpPr>
        <p:spPr>
          <a:xfrm rot="10800000">
            <a:off x="5079215" y="729451"/>
            <a:ext cx="1904580"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 name="connsiteX0-11" fmla="*/ 0 w 3640166"/>
              <a:gd name="connsiteY0-12" fmla="*/ 1905 h 142316"/>
              <a:gd name="connsiteX1-13" fmla="*/ 3362406 w 3640166"/>
              <a:gd name="connsiteY1-14" fmla="*/ 0 h 142316"/>
              <a:gd name="connsiteX2-15" fmla="*/ 3640166 w 3640166"/>
              <a:gd name="connsiteY2-16" fmla="*/ 138506 h 142316"/>
              <a:gd name="connsiteX3-17" fmla="*/ 0 w 3640166"/>
              <a:gd name="connsiteY3-18" fmla="*/ 142316 h 142316"/>
              <a:gd name="connsiteX4-19" fmla="*/ 0 w 3640166"/>
              <a:gd name="connsiteY4-2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40166" h="142316">
                <a:moveTo>
                  <a:pt x="0" y="1905"/>
                </a:moveTo>
                <a:lnTo>
                  <a:pt x="3362406" y="0"/>
                </a:lnTo>
                <a:lnTo>
                  <a:pt x="3640166" y="138506"/>
                </a:lnTo>
                <a:lnTo>
                  <a:pt x="0" y="142316"/>
                </a:lnTo>
                <a:lnTo>
                  <a:pt x="0" y="1905"/>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标题 1"/>
          <p:cNvSpPr>
            <a:spLocks noGrp="1"/>
          </p:cNvSpPr>
          <p:nvPr>
            <p:ph type="title"/>
          </p:nvPr>
        </p:nvSpPr>
        <p:spPr>
          <a:xfrm>
            <a:off x="1564057" y="-214444"/>
            <a:ext cx="9209824" cy="1325563"/>
          </a:xfrm>
        </p:spPr>
        <p:txBody>
          <a:bodyPr>
            <a:noAutofit/>
          </a:bodyPr>
          <a:lstStyle>
            <a:lvl1pPr>
              <a:defRPr sz="3200" b="1">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5" name="文本框 4"/>
          <p:cNvSpPr txBox="1"/>
          <p:nvPr userDrawn="1"/>
        </p:nvSpPr>
        <p:spPr>
          <a:xfrm>
            <a:off x="-16207" y="814057"/>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项目背景</a:t>
            </a:r>
            <a:endParaRPr lang="zh-CN" altLang="en-US" sz="1800" b="1" dirty="0">
              <a:solidFill>
                <a:schemeClr val="bg1"/>
              </a:solidFill>
              <a:latin typeface="微软雅黑" panose="020B0503020204020204" charset="-122"/>
              <a:ea typeface="微软雅黑" panose="020B0503020204020204" charset="-122"/>
            </a:endParaRPr>
          </a:p>
        </p:txBody>
      </p:sp>
      <p:sp>
        <p:nvSpPr>
          <p:cNvPr id="8" name="文本框 7"/>
          <p:cNvSpPr txBox="1"/>
          <p:nvPr userDrawn="1"/>
        </p:nvSpPr>
        <p:spPr>
          <a:xfrm>
            <a:off x="-16207" y="2270043"/>
            <a:ext cx="1368000" cy="376581"/>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解决方案</a:t>
            </a:r>
            <a:endParaRPr lang="zh-CN" altLang="en-US" sz="1800" b="1" dirty="0">
              <a:solidFill>
                <a:schemeClr val="bg1"/>
              </a:solidFill>
              <a:latin typeface="微软雅黑" panose="020B0503020204020204" charset="-122"/>
              <a:ea typeface="微软雅黑" panose="020B0503020204020204" charset="-122"/>
            </a:endParaRPr>
          </a:p>
        </p:txBody>
      </p:sp>
      <p:sp>
        <p:nvSpPr>
          <p:cNvPr id="12" name="文本框 11"/>
          <p:cNvSpPr txBox="1"/>
          <p:nvPr userDrawn="1"/>
        </p:nvSpPr>
        <p:spPr>
          <a:xfrm>
            <a:off x="-16207" y="3726031"/>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实施部署</a:t>
            </a:r>
            <a:endParaRPr lang="zh-CN" altLang="en-US" sz="1800" b="1" dirty="0">
              <a:solidFill>
                <a:schemeClr val="bg1"/>
              </a:solidFill>
              <a:latin typeface="微软雅黑" panose="020B0503020204020204" charset="-122"/>
              <a:ea typeface="微软雅黑" panose="020B0503020204020204" charset="-122"/>
            </a:endParaRPr>
          </a:p>
        </p:txBody>
      </p:sp>
      <p:sp>
        <p:nvSpPr>
          <p:cNvPr id="15" name="文本框 14"/>
          <p:cNvSpPr txBox="1"/>
          <p:nvPr userDrawn="1"/>
        </p:nvSpPr>
        <p:spPr>
          <a:xfrm>
            <a:off x="-16207" y="5205166"/>
            <a:ext cx="1368000" cy="373193"/>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配置计划</a:t>
            </a:r>
            <a:endParaRPr lang="zh-CN" altLang="en-US" sz="1800" b="1" dirty="0">
              <a:solidFill>
                <a:schemeClr val="bg1"/>
              </a:solidFill>
              <a:latin typeface="微软雅黑" panose="020B0503020204020204" charset="-122"/>
              <a:ea typeface="微软雅黑" panose="020B0503020204020204" charset="-122"/>
            </a:endParaRPr>
          </a:p>
        </p:txBody>
      </p:sp>
      <p:sp>
        <p:nvSpPr>
          <p:cNvPr id="21" name="文本框 20"/>
          <p:cNvSpPr txBox="1"/>
          <p:nvPr userDrawn="1"/>
        </p:nvSpPr>
        <p:spPr>
          <a:xfrm>
            <a:off x="-16207" y="1243155"/>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基本信息</a:t>
            </a:r>
            <a:endParaRPr lang="zh-CN" altLang="en-US" sz="1400" b="1" dirty="0">
              <a:solidFill>
                <a:schemeClr val="bg1"/>
              </a:solidFill>
              <a:latin typeface="微软雅黑" panose="020B0503020204020204" charset="-122"/>
              <a:ea typeface="微软雅黑" panose="020B0503020204020204" charset="-122"/>
            </a:endParaRPr>
          </a:p>
        </p:txBody>
      </p:sp>
      <p:sp>
        <p:nvSpPr>
          <p:cNvPr id="22" name="文本框 21"/>
          <p:cNvSpPr txBox="1"/>
          <p:nvPr userDrawn="1"/>
        </p:nvSpPr>
        <p:spPr>
          <a:xfrm>
            <a:off x="-16207" y="1615109"/>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数据分析</a:t>
            </a:r>
            <a:endParaRPr lang="zh-CN" altLang="en-US" sz="1400" b="1" dirty="0">
              <a:solidFill>
                <a:schemeClr val="bg1"/>
              </a:solidFill>
              <a:latin typeface="微软雅黑" panose="020B0503020204020204" charset="-122"/>
              <a:ea typeface="微软雅黑" panose="020B0503020204020204" charset="-122"/>
            </a:endParaRPr>
          </a:p>
        </p:txBody>
      </p:sp>
      <p:sp>
        <p:nvSpPr>
          <p:cNvPr id="23" name="文本框 22"/>
          <p:cNvSpPr txBox="1"/>
          <p:nvPr userDrawn="1"/>
        </p:nvSpPr>
        <p:spPr>
          <a:xfrm>
            <a:off x="-16207" y="2714663"/>
            <a:ext cx="1368000" cy="307777"/>
          </a:xfrm>
          <a:prstGeom prst="rect">
            <a:avLst/>
          </a:prstGeom>
          <a:solidFill>
            <a:srgbClr val="FF8815"/>
          </a:solid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方案介绍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4" name="文本框 23"/>
          <p:cNvSpPr txBox="1"/>
          <p:nvPr userDrawn="1"/>
        </p:nvSpPr>
        <p:spPr>
          <a:xfrm>
            <a:off x="-16207" y="308661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产品介绍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5" name="文本框 24"/>
          <p:cNvSpPr txBox="1"/>
          <p:nvPr userDrawn="1"/>
        </p:nvSpPr>
        <p:spPr>
          <a:xfrm>
            <a:off x="-16207" y="4158988"/>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场地环境</a:t>
            </a:r>
            <a:endParaRPr lang="zh-CN" altLang="en-US" sz="1400" b="1" dirty="0">
              <a:solidFill>
                <a:schemeClr val="bg1"/>
              </a:solidFill>
              <a:latin typeface="微软雅黑" panose="020B0503020204020204" charset="-122"/>
              <a:ea typeface="微软雅黑" panose="020B0503020204020204" charset="-122"/>
            </a:endParaRPr>
          </a:p>
        </p:txBody>
      </p:sp>
      <p:sp>
        <p:nvSpPr>
          <p:cNvPr id="26" name="文本框 25"/>
          <p:cNvSpPr txBox="1"/>
          <p:nvPr userDrawn="1"/>
        </p:nvSpPr>
        <p:spPr>
          <a:xfrm>
            <a:off x="-16207" y="4530942"/>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网络要求</a:t>
            </a:r>
            <a:endParaRPr lang="zh-CN" altLang="en-US" sz="1400" b="1" dirty="0">
              <a:solidFill>
                <a:schemeClr val="bg1"/>
              </a:solidFill>
              <a:latin typeface="微软雅黑" panose="020B0503020204020204" charset="-122"/>
              <a:ea typeface="微软雅黑" panose="020B0503020204020204" charset="-122"/>
            </a:endParaRPr>
          </a:p>
        </p:txBody>
      </p:sp>
      <p:sp>
        <p:nvSpPr>
          <p:cNvPr id="27" name="文本框 26"/>
          <p:cNvSpPr txBox="1"/>
          <p:nvPr userDrawn="1"/>
        </p:nvSpPr>
        <p:spPr>
          <a:xfrm>
            <a:off x="-16207" y="564253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项目清单</a:t>
            </a:r>
            <a:endParaRPr lang="zh-CN" altLang="en-US" sz="1400" b="1" dirty="0">
              <a:solidFill>
                <a:schemeClr val="bg1"/>
              </a:solidFill>
              <a:latin typeface="微软雅黑" panose="020B0503020204020204" charset="-122"/>
              <a:ea typeface="微软雅黑" panose="020B0503020204020204" charset="-122"/>
            </a:endParaRPr>
          </a:p>
        </p:txBody>
      </p:sp>
      <p:sp>
        <p:nvSpPr>
          <p:cNvPr id="28" name="文本框 27"/>
          <p:cNvSpPr txBox="1"/>
          <p:nvPr userDrawn="1"/>
        </p:nvSpPr>
        <p:spPr>
          <a:xfrm>
            <a:off x="-16207" y="6014491"/>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项目计划</a:t>
            </a:r>
            <a:endParaRPr lang="zh-CN" altLang="en-US" sz="1400" b="1" dirty="0">
              <a:solidFill>
                <a:schemeClr val="bg1"/>
              </a:solidFill>
              <a:latin typeface="微软雅黑" panose="020B0503020204020204" charset="-122"/>
              <a:ea typeface="微软雅黑" panose="020B0503020204020204" charset="-122"/>
            </a:endParaRPr>
          </a:p>
        </p:txBody>
      </p:sp>
      <p:sp>
        <p:nvSpPr>
          <p:cNvPr id="33" name="矩形 32"/>
          <p:cNvSpPr/>
          <p:nvPr userDrawn="1"/>
        </p:nvSpPr>
        <p:spPr>
          <a:xfrm>
            <a:off x="-16207" y="2061786"/>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userDrawn="1"/>
        </p:nvSpPr>
        <p:spPr>
          <a:xfrm>
            <a:off x="-16207" y="3536403"/>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16207" y="4997567"/>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2"/>
          <a:stretch>
            <a:fillRect/>
          </a:stretch>
        </p:blipFill>
        <p:spPr>
          <a:xfrm>
            <a:off x="10442863" y="69303"/>
            <a:ext cx="1667231" cy="538908"/>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空白">
    <p:spTree>
      <p:nvGrpSpPr>
        <p:cNvPr id="1" name=""/>
        <p:cNvGrpSpPr/>
        <p:nvPr/>
      </p:nvGrpSpPr>
      <p:grpSpPr>
        <a:xfrm>
          <a:off x="0" y="0"/>
          <a:ext cx="0" cy="0"/>
          <a:chOff x="0" y="0"/>
          <a:chExt cx="0" cy="0"/>
        </a:xfrm>
      </p:grpSpPr>
      <p:sp>
        <p:nvSpPr>
          <p:cNvPr id="20" name="矩形 19"/>
          <p:cNvSpPr/>
          <p:nvPr userDrawn="1"/>
        </p:nvSpPr>
        <p:spPr>
          <a:xfrm>
            <a:off x="-16207" y="0"/>
            <a:ext cx="1368000" cy="6858000"/>
          </a:xfrm>
          <a:prstGeom prst="rect">
            <a:avLst/>
          </a:prstGeom>
          <a:solidFill>
            <a:srgbClr val="002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26"/>
          <p:cNvSpPr/>
          <p:nvPr userDrawn="1"/>
        </p:nvSpPr>
        <p:spPr>
          <a:xfrm>
            <a:off x="1638704" y="729451"/>
            <a:ext cx="3509091"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509091" h="142316">
                <a:moveTo>
                  <a:pt x="0" y="1905"/>
                </a:moveTo>
                <a:lnTo>
                  <a:pt x="3362406" y="0"/>
                </a:lnTo>
                <a:lnTo>
                  <a:pt x="3509091" y="142316"/>
                </a:lnTo>
                <a:lnTo>
                  <a:pt x="0" y="142316"/>
                </a:lnTo>
                <a:lnTo>
                  <a:pt x="0" y="1905"/>
                </a:lnTo>
                <a:close/>
              </a:path>
            </a:pathLst>
          </a:cu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26"/>
          <p:cNvSpPr/>
          <p:nvPr userDrawn="1"/>
        </p:nvSpPr>
        <p:spPr>
          <a:xfrm rot="10800000">
            <a:off x="5079215" y="729451"/>
            <a:ext cx="1904580"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 name="connsiteX0-11" fmla="*/ 0 w 3640166"/>
              <a:gd name="connsiteY0-12" fmla="*/ 1905 h 142316"/>
              <a:gd name="connsiteX1-13" fmla="*/ 3362406 w 3640166"/>
              <a:gd name="connsiteY1-14" fmla="*/ 0 h 142316"/>
              <a:gd name="connsiteX2-15" fmla="*/ 3640166 w 3640166"/>
              <a:gd name="connsiteY2-16" fmla="*/ 138506 h 142316"/>
              <a:gd name="connsiteX3-17" fmla="*/ 0 w 3640166"/>
              <a:gd name="connsiteY3-18" fmla="*/ 142316 h 142316"/>
              <a:gd name="connsiteX4-19" fmla="*/ 0 w 3640166"/>
              <a:gd name="connsiteY4-2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40166" h="142316">
                <a:moveTo>
                  <a:pt x="0" y="1905"/>
                </a:moveTo>
                <a:lnTo>
                  <a:pt x="3362406" y="0"/>
                </a:lnTo>
                <a:lnTo>
                  <a:pt x="3640166" y="138506"/>
                </a:lnTo>
                <a:lnTo>
                  <a:pt x="0" y="142316"/>
                </a:lnTo>
                <a:lnTo>
                  <a:pt x="0" y="1905"/>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标题 1"/>
          <p:cNvSpPr>
            <a:spLocks noGrp="1"/>
          </p:cNvSpPr>
          <p:nvPr>
            <p:ph type="title"/>
          </p:nvPr>
        </p:nvSpPr>
        <p:spPr>
          <a:xfrm>
            <a:off x="1564057" y="-214444"/>
            <a:ext cx="9209824" cy="1325563"/>
          </a:xfrm>
        </p:spPr>
        <p:txBody>
          <a:bodyPr>
            <a:noAutofit/>
          </a:bodyPr>
          <a:lstStyle>
            <a:lvl1pPr>
              <a:defRPr sz="3200" b="1">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5" name="文本框 4"/>
          <p:cNvSpPr txBox="1"/>
          <p:nvPr userDrawn="1"/>
        </p:nvSpPr>
        <p:spPr>
          <a:xfrm>
            <a:off x="-16207" y="814057"/>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项目背景</a:t>
            </a:r>
            <a:endParaRPr lang="zh-CN" altLang="en-US" sz="1800" b="1" dirty="0">
              <a:solidFill>
                <a:schemeClr val="bg1"/>
              </a:solidFill>
              <a:latin typeface="微软雅黑" panose="020B0503020204020204" charset="-122"/>
              <a:ea typeface="微软雅黑" panose="020B0503020204020204" charset="-122"/>
            </a:endParaRPr>
          </a:p>
        </p:txBody>
      </p:sp>
      <p:sp>
        <p:nvSpPr>
          <p:cNvPr id="8" name="文本框 7"/>
          <p:cNvSpPr txBox="1"/>
          <p:nvPr userDrawn="1"/>
        </p:nvSpPr>
        <p:spPr>
          <a:xfrm>
            <a:off x="-16207" y="2270043"/>
            <a:ext cx="1368000" cy="376581"/>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解决方案</a:t>
            </a:r>
            <a:endParaRPr lang="zh-CN" altLang="en-US" sz="1800" b="1" dirty="0">
              <a:solidFill>
                <a:schemeClr val="bg1"/>
              </a:solidFill>
              <a:latin typeface="微软雅黑" panose="020B0503020204020204" charset="-122"/>
              <a:ea typeface="微软雅黑" panose="020B0503020204020204" charset="-122"/>
            </a:endParaRPr>
          </a:p>
        </p:txBody>
      </p:sp>
      <p:sp>
        <p:nvSpPr>
          <p:cNvPr id="12" name="文本框 11"/>
          <p:cNvSpPr txBox="1"/>
          <p:nvPr userDrawn="1"/>
        </p:nvSpPr>
        <p:spPr>
          <a:xfrm>
            <a:off x="-16207" y="3726031"/>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实施部署</a:t>
            </a:r>
            <a:endParaRPr lang="zh-CN" altLang="en-US" sz="1800" b="1" dirty="0">
              <a:solidFill>
                <a:schemeClr val="bg1"/>
              </a:solidFill>
              <a:latin typeface="微软雅黑" panose="020B0503020204020204" charset="-122"/>
              <a:ea typeface="微软雅黑" panose="020B0503020204020204" charset="-122"/>
            </a:endParaRPr>
          </a:p>
        </p:txBody>
      </p:sp>
      <p:sp>
        <p:nvSpPr>
          <p:cNvPr id="15" name="文本框 14"/>
          <p:cNvSpPr txBox="1"/>
          <p:nvPr userDrawn="1"/>
        </p:nvSpPr>
        <p:spPr>
          <a:xfrm>
            <a:off x="-16207" y="5205166"/>
            <a:ext cx="1368000" cy="373193"/>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配置计划</a:t>
            </a:r>
            <a:endParaRPr lang="zh-CN" altLang="en-US" sz="1800" b="1" dirty="0">
              <a:solidFill>
                <a:schemeClr val="bg1"/>
              </a:solidFill>
              <a:latin typeface="微软雅黑" panose="020B0503020204020204" charset="-122"/>
              <a:ea typeface="微软雅黑" panose="020B0503020204020204" charset="-122"/>
            </a:endParaRPr>
          </a:p>
        </p:txBody>
      </p:sp>
      <p:sp>
        <p:nvSpPr>
          <p:cNvPr id="21" name="文本框 20"/>
          <p:cNvSpPr txBox="1"/>
          <p:nvPr userDrawn="1"/>
        </p:nvSpPr>
        <p:spPr>
          <a:xfrm>
            <a:off x="-16207" y="1243155"/>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基本信息</a:t>
            </a:r>
            <a:endParaRPr lang="zh-CN" altLang="en-US" sz="1400" b="1" dirty="0">
              <a:solidFill>
                <a:schemeClr val="bg1"/>
              </a:solidFill>
              <a:latin typeface="微软雅黑" panose="020B0503020204020204" charset="-122"/>
              <a:ea typeface="微软雅黑" panose="020B0503020204020204" charset="-122"/>
            </a:endParaRPr>
          </a:p>
        </p:txBody>
      </p:sp>
      <p:sp>
        <p:nvSpPr>
          <p:cNvPr id="22" name="文本框 21"/>
          <p:cNvSpPr txBox="1"/>
          <p:nvPr userDrawn="1"/>
        </p:nvSpPr>
        <p:spPr>
          <a:xfrm>
            <a:off x="-16207" y="1615109"/>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数据分析</a:t>
            </a:r>
            <a:endParaRPr lang="zh-CN" altLang="en-US" sz="1400" b="1" dirty="0">
              <a:solidFill>
                <a:schemeClr val="bg1"/>
              </a:solidFill>
              <a:latin typeface="微软雅黑" panose="020B0503020204020204" charset="-122"/>
              <a:ea typeface="微软雅黑" panose="020B0503020204020204" charset="-122"/>
            </a:endParaRPr>
          </a:p>
        </p:txBody>
      </p:sp>
      <p:sp>
        <p:nvSpPr>
          <p:cNvPr id="23" name="文本框 22"/>
          <p:cNvSpPr txBox="1"/>
          <p:nvPr userDrawn="1"/>
        </p:nvSpPr>
        <p:spPr>
          <a:xfrm>
            <a:off x="-16207" y="2714663"/>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方案介绍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4" name="文本框 23"/>
          <p:cNvSpPr txBox="1"/>
          <p:nvPr userDrawn="1"/>
        </p:nvSpPr>
        <p:spPr>
          <a:xfrm>
            <a:off x="-16207" y="3086617"/>
            <a:ext cx="1368000" cy="307777"/>
          </a:xfrm>
          <a:prstGeom prst="rect">
            <a:avLst/>
          </a:prstGeom>
          <a:solidFill>
            <a:srgbClr val="FF8815"/>
          </a:solid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产品介绍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5" name="文本框 24"/>
          <p:cNvSpPr txBox="1"/>
          <p:nvPr userDrawn="1"/>
        </p:nvSpPr>
        <p:spPr>
          <a:xfrm>
            <a:off x="-16207" y="4158988"/>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场地环境</a:t>
            </a:r>
            <a:endParaRPr lang="zh-CN" altLang="en-US" sz="1400" b="1" dirty="0">
              <a:solidFill>
                <a:schemeClr val="bg1"/>
              </a:solidFill>
              <a:latin typeface="微软雅黑" panose="020B0503020204020204" charset="-122"/>
              <a:ea typeface="微软雅黑" panose="020B0503020204020204" charset="-122"/>
            </a:endParaRPr>
          </a:p>
        </p:txBody>
      </p:sp>
      <p:sp>
        <p:nvSpPr>
          <p:cNvPr id="26" name="文本框 25"/>
          <p:cNvSpPr txBox="1"/>
          <p:nvPr userDrawn="1"/>
        </p:nvSpPr>
        <p:spPr>
          <a:xfrm>
            <a:off x="-16207" y="4530942"/>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网络要求</a:t>
            </a:r>
            <a:endParaRPr lang="zh-CN" altLang="en-US" sz="1400" b="1" dirty="0">
              <a:solidFill>
                <a:schemeClr val="bg1"/>
              </a:solidFill>
              <a:latin typeface="微软雅黑" panose="020B0503020204020204" charset="-122"/>
              <a:ea typeface="微软雅黑" panose="020B0503020204020204" charset="-122"/>
            </a:endParaRPr>
          </a:p>
        </p:txBody>
      </p:sp>
      <p:sp>
        <p:nvSpPr>
          <p:cNvPr id="27" name="文本框 26"/>
          <p:cNvSpPr txBox="1"/>
          <p:nvPr userDrawn="1"/>
        </p:nvSpPr>
        <p:spPr>
          <a:xfrm>
            <a:off x="-16207" y="564253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项目清单</a:t>
            </a:r>
            <a:endParaRPr lang="zh-CN" altLang="en-US" sz="1400" b="1" dirty="0">
              <a:solidFill>
                <a:schemeClr val="bg1"/>
              </a:solidFill>
              <a:latin typeface="微软雅黑" panose="020B0503020204020204" charset="-122"/>
              <a:ea typeface="微软雅黑" panose="020B0503020204020204" charset="-122"/>
            </a:endParaRPr>
          </a:p>
        </p:txBody>
      </p:sp>
      <p:sp>
        <p:nvSpPr>
          <p:cNvPr id="28" name="文本框 27"/>
          <p:cNvSpPr txBox="1"/>
          <p:nvPr userDrawn="1"/>
        </p:nvSpPr>
        <p:spPr>
          <a:xfrm>
            <a:off x="-16207" y="6014491"/>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项目计划</a:t>
            </a:r>
            <a:endParaRPr lang="zh-CN" altLang="en-US" sz="1400" b="1" dirty="0">
              <a:solidFill>
                <a:schemeClr val="bg1"/>
              </a:solidFill>
              <a:latin typeface="微软雅黑" panose="020B0503020204020204" charset="-122"/>
              <a:ea typeface="微软雅黑" panose="020B0503020204020204" charset="-122"/>
            </a:endParaRPr>
          </a:p>
        </p:txBody>
      </p:sp>
      <p:sp>
        <p:nvSpPr>
          <p:cNvPr id="33" name="矩形 32"/>
          <p:cNvSpPr/>
          <p:nvPr userDrawn="1"/>
        </p:nvSpPr>
        <p:spPr>
          <a:xfrm>
            <a:off x="-16207" y="2061786"/>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userDrawn="1"/>
        </p:nvSpPr>
        <p:spPr>
          <a:xfrm>
            <a:off x="-16207" y="3536403"/>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16207" y="4997567"/>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2"/>
          <a:stretch>
            <a:fillRect/>
          </a:stretch>
        </p:blipFill>
        <p:spPr>
          <a:xfrm>
            <a:off x="10442863" y="69303"/>
            <a:ext cx="1667231" cy="538908"/>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 y="779284"/>
            <a:ext cx="5299432" cy="5299432"/>
          </a:xfrm>
          <a:prstGeom prst="rect">
            <a:avLst/>
          </a:prstGeom>
        </p:spPr>
      </p:pic>
      <p:sp>
        <p:nvSpPr>
          <p:cNvPr id="8" name="文本框 7"/>
          <p:cNvSpPr txBox="1"/>
          <p:nvPr userDrawn="1"/>
        </p:nvSpPr>
        <p:spPr>
          <a:xfrm>
            <a:off x="6096001" y="899917"/>
            <a:ext cx="6096000" cy="1015663"/>
          </a:xfrm>
          <a:prstGeom prst="rect">
            <a:avLst/>
          </a:prstGeom>
          <a:noFill/>
        </p:spPr>
        <p:txBody>
          <a:bodyPr wrap="square" rtlCol="0">
            <a:spAutoFit/>
          </a:bodyPr>
          <a:lstStyle/>
          <a:p>
            <a:pPr algn="ctr"/>
            <a:r>
              <a:rPr lang="zh-CN" altLang="en-US" sz="6000" dirty="0">
                <a:solidFill>
                  <a:srgbClr val="FF8815"/>
                </a:solidFill>
                <a:effectLst>
                  <a:outerShdw blurRad="38100" dist="38100" dir="2700000" algn="tl">
                    <a:srgbClr val="000000">
                      <a:alpha val="43137"/>
                    </a:srgbClr>
                  </a:outerShdw>
                </a:effectLst>
                <a:latin typeface="微软雅黑" panose="020B0503020204020204" charset="-122"/>
                <a:ea typeface="微软雅黑" panose="020B0503020204020204" charset="-122"/>
              </a:rPr>
              <a:t>目录</a:t>
            </a:r>
            <a:endParaRPr lang="zh-CN" altLang="en-US" sz="6000" dirty="0">
              <a:solidFill>
                <a:srgbClr val="FF8815"/>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9" name="文本框 8"/>
          <p:cNvSpPr txBox="1"/>
          <p:nvPr userDrawn="1"/>
        </p:nvSpPr>
        <p:spPr>
          <a:xfrm>
            <a:off x="8374917" y="1701486"/>
            <a:ext cx="1904013" cy="707886"/>
          </a:xfrm>
          <a:prstGeom prst="rect">
            <a:avLst/>
          </a:prstGeom>
          <a:noFill/>
        </p:spPr>
        <p:txBody>
          <a:bodyPr wrap="square" rtlCol="0">
            <a:spAutoFit/>
          </a:bodyPr>
          <a:lstStyle/>
          <a:p>
            <a:r>
              <a:rPr lang="en-US" altLang="zh-CN" sz="4000" dirty="0">
                <a:solidFill>
                  <a:srgbClr val="FF8815"/>
                </a:solidFill>
                <a:latin typeface="Chaparral Pro Light" panose="02060403030505090203" pitchFamily="18" charset="0"/>
              </a:rPr>
              <a:t>content</a:t>
            </a:r>
            <a:endParaRPr lang="en-US" altLang="zh-CN" sz="4000" dirty="0">
              <a:solidFill>
                <a:srgbClr val="FF8815"/>
              </a:solidFill>
              <a:latin typeface="Chaparral Pro Light" panose="02060403030505090203" pitchFamily="18"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空白">
    <p:spTree>
      <p:nvGrpSpPr>
        <p:cNvPr id="1" name=""/>
        <p:cNvGrpSpPr/>
        <p:nvPr/>
      </p:nvGrpSpPr>
      <p:grpSpPr>
        <a:xfrm>
          <a:off x="0" y="0"/>
          <a:ext cx="0" cy="0"/>
          <a:chOff x="0" y="0"/>
          <a:chExt cx="0" cy="0"/>
        </a:xfrm>
      </p:grpSpPr>
      <p:sp>
        <p:nvSpPr>
          <p:cNvPr id="20" name="矩形 19"/>
          <p:cNvSpPr/>
          <p:nvPr userDrawn="1"/>
        </p:nvSpPr>
        <p:spPr>
          <a:xfrm>
            <a:off x="-16207" y="0"/>
            <a:ext cx="1368000" cy="6858000"/>
          </a:xfrm>
          <a:prstGeom prst="rect">
            <a:avLst/>
          </a:prstGeom>
          <a:solidFill>
            <a:srgbClr val="002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26"/>
          <p:cNvSpPr/>
          <p:nvPr userDrawn="1"/>
        </p:nvSpPr>
        <p:spPr>
          <a:xfrm>
            <a:off x="1638704" y="729451"/>
            <a:ext cx="3509091"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509091" h="142316">
                <a:moveTo>
                  <a:pt x="0" y="1905"/>
                </a:moveTo>
                <a:lnTo>
                  <a:pt x="3362406" y="0"/>
                </a:lnTo>
                <a:lnTo>
                  <a:pt x="3509091" y="142316"/>
                </a:lnTo>
                <a:lnTo>
                  <a:pt x="0" y="142316"/>
                </a:lnTo>
                <a:lnTo>
                  <a:pt x="0" y="1905"/>
                </a:lnTo>
                <a:close/>
              </a:path>
            </a:pathLst>
          </a:cu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26"/>
          <p:cNvSpPr/>
          <p:nvPr userDrawn="1"/>
        </p:nvSpPr>
        <p:spPr>
          <a:xfrm rot="10800000">
            <a:off x="5079215" y="729451"/>
            <a:ext cx="1904580"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 name="connsiteX0-11" fmla="*/ 0 w 3640166"/>
              <a:gd name="connsiteY0-12" fmla="*/ 1905 h 142316"/>
              <a:gd name="connsiteX1-13" fmla="*/ 3362406 w 3640166"/>
              <a:gd name="connsiteY1-14" fmla="*/ 0 h 142316"/>
              <a:gd name="connsiteX2-15" fmla="*/ 3640166 w 3640166"/>
              <a:gd name="connsiteY2-16" fmla="*/ 138506 h 142316"/>
              <a:gd name="connsiteX3-17" fmla="*/ 0 w 3640166"/>
              <a:gd name="connsiteY3-18" fmla="*/ 142316 h 142316"/>
              <a:gd name="connsiteX4-19" fmla="*/ 0 w 3640166"/>
              <a:gd name="connsiteY4-2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40166" h="142316">
                <a:moveTo>
                  <a:pt x="0" y="1905"/>
                </a:moveTo>
                <a:lnTo>
                  <a:pt x="3362406" y="0"/>
                </a:lnTo>
                <a:lnTo>
                  <a:pt x="3640166" y="138506"/>
                </a:lnTo>
                <a:lnTo>
                  <a:pt x="0" y="142316"/>
                </a:lnTo>
                <a:lnTo>
                  <a:pt x="0" y="1905"/>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标题 1"/>
          <p:cNvSpPr>
            <a:spLocks noGrp="1"/>
          </p:cNvSpPr>
          <p:nvPr>
            <p:ph type="title"/>
          </p:nvPr>
        </p:nvSpPr>
        <p:spPr>
          <a:xfrm>
            <a:off x="1564057" y="-214444"/>
            <a:ext cx="9209824" cy="1325563"/>
          </a:xfrm>
        </p:spPr>
        <p:txBody>
          <a:bodyPr>
            <a:noAutofit/>
          </a:bodyPr>
          <a:lstStyle>
            <a:lvl1pPr>
              <a:defRPr sz="3200" b="1">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5" name="文本框 4"/>
          <p:cNvSpPr txBox="1"/>
          <p:nvPr userDrawn="1"/>
        </p:nvSpPr>
        <p:spPr>
          <a:xfrm>
            <a:off x="-16207" y="814057"/>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项目背景</a:t>
            </a:r>
            <a:endParaRPr lang="zh-CN" altLang="en-US" sz="1800" b="1" dirty="0">
              <a:solidFill>
                <a:schemeClr val="bg1"/>
              </a:solidFill>
              <a:latin typeface="微软雅黑" panose="020B0503020204020204" charset="-122"/>
              <a:ea typeface="微软雅黑" panose="020B0503020204020204" charset="-122"/>
            </a:endParaRPr>
          </a:p>
        </p:txBody>
      </p:sp>
      <p:sp>
        <p:nvSpPr>
          <p:cNvPr id="8" name="文本框 7"/>
          <p:cNvSpPr txBox="1"/>
          <p:nvPr userDrawn="1"/>
        </p:nvSpPr>
        <p:spPr>
          <a:xfrm>
            <a:off x="-16207" y="2270043"/>
            <a:ext cx="1368000" cy="376581"/>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解决方案</a:t>
            </a:r>
            <a:endParaRPr lang="zh-CN" altLang="en-US" sz="1800" b="1" dirty="0">
              <a:solidFill>
                <a:schemeClr val="bg1"/>
              </a:solidFill>
              <a:latin typeface="微软雅黑" panose="020B0503020204020204" charset="-122"/>
              <a:ea typeface="微软雅黑" panose="020B0503020204020204" charset="-122"/>
            </a:endParaRPr>
          </a:p>
        </p:txBody>
      </p:sp>
      <p:sp>
        <p:nvSpPr>
          <p:cNvPr id="12" name="文本框 11"/>
          <p:cNvSpPr txBox="1"/>
          <p:nvPr userDrawn="1"/>
        </p:nvSpPr>
        <p:spPr>
          <a:xfrm>
            <a:off x="-16207" y="3726031"/>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实施部署</a:t>
            </a:r>
            <a:endParaRPr lang="zh-CN" altLang="en-US" sz="1800" b="1" dirty="0">
              <a:solidFill>
                <a:schemeClr val="bg1"/>
              </a:solidFill>
              <a:latin typeface="微软雅黑" panose="020B0503020204020204" charset="-122"/>
              <a:ea typeface="微软雅黑" panose="020B0503020204020204" charset="-122"/>
            </a:endParaRPr>
          </a:p>
        </p:txBody>
      </p:sp>
      <p:sp>
        <p:nvSpPr>
          <p:cNvPr id="15" name="文本框 14"/>
          <p:cNvSpPr txBox="1"/>
          <p:nvPr userDrawn="1"/>
        </p:nvSpPr>
        <p:spPr>
          <a:xfrm>
            <a:off x="-16207" y="5205166"/>
            <a:ext cx="1368000" cy="373193"/>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配置计划</a:t>
            </a:r>
            <a:endParaRPr lang="zh-CN" altLang="en-US" sz="1800" b="1" dirty="0">
              <a:solidFill>
                <a:schemeClr val="bg1"/>
              </a:solidFill>
              <a:latin typeface="微软雅黑" panose="020B0503020204020204" charset="-122"/>
              <a:ea typeface="微软雅黑" panose="020B0503020204020204" charset="-122"/>
            </a:endParaRPr>
          </a:p>
        </p:txBody>
      </p:sp>
      <p:sp>
        <p:nvSpPr>
          <p:cNvPr id="21" name="文本框 20"/>
          <p:cNvSpPr txBox="1"/>
          <p:nvPr userDrawn="1"/>
        </p:nvSpPr>
        <p:spPr>
          <a:xfrm>
            <a:off x="-16207" y="1243155"/>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基本信息</a:t>
            </a:r>
            <a:endParaRPr lang="zh-CN" altLang="en-US" sz="1400" b="1" dirty="0">
              <a:solidFill>
                <a:schemeClr val="bg1"/>
              </a:solidFill>
              <a:latin typeface="微软雅黑" panose="020B0503020204020204" charset="-122"/>
              <a:ea typeface="微软雅黑" panose="020B0503020204020204" charset="-122"/>
            </a:endParaRPr>
          </a:p>
        </p:txBody>
      </p:sp>
      <p:sp>
        <p:nvSpPr>
          <p:cNvPr id="22" name="文本框 21"/>
          <p:cNvSpPr txBox="1"/>
          <p:nvPr userDrawn="1"/>
        </p:nvSpPr>
        <p:spPr>
          <a:xfrm>
            <a:off x="-16207" y="1615109"/>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数据分析</a:t>
            </a:r>
            <a:endParaRPr lang="zh-CN" altLang="en-US" sz="1400" b="1" dirty="0">
              <a:solidFill>
                <a:schemeClr val="bg1"/>
              </a:solidFill>
              <a:latin typeface="微软雅黑" panose="020B0503020204020204" charset="-122"/>
              <a:ea typeface="微软雅黑" panose="020B0503020204020204" charset="-122"/>
            </a:endParaRPr>
          </a:p>
        </p:txBody>
      </p:sp>
      <p:sp>
        <p:nvSpPr>
          <p:cNvPr id="23" name="文本框 22"/>
          <p:cNvSpPr txBox="1"/>
          <p:nvPr userDrawn="1"/>
        </p:nvSpPr>
        <p:spPr>
          <a:xfrm>
            <a:off x="-16207" y="2714663"/>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方案介绍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4" name="文本框 23"/>
          <p:cNvSpPr txBox="1"/>
          <p:nvPr userDrawn="1"/>
        </p:nvSpPr>
        <p:spPr>
          <a:xfrm>
            <a:off x="-16207" y="308661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产品介绍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5" name="文本框 24"/>
          <p:cNvSpPr txBox="1"/>
          <p:nvPr userDrawn="1"/>
        </p:nvSpPr>
        <p:spPr>
          <a:xfrm>
            <a:off x="-16207" y="4158988"/>
            <a:ext cx="1368000" cy="307777"/>
          </a:xfrm>
          <a:prstGeom prst="rect">
            <a:avLst/>
          </a:prstGeom>
          <a:solidFill>
            <a:srgbClr val="FF8815"/>
          </a:solid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场地环境</a:t>
            </a:r>
            <a:endParaRPr lang="zh-CN" altLang="en-US" sz="1400" b="1" dirty="0">
              <a:solidFill>
                <a:schemeClr val="bg1"/>
              </a:solidFill>
              <a:latin typeface="微软雅黑" panose="020B0503020204020204" charset="-122"/>
              <a:ea typeface="微软雅黑" panose="020B0503020204020204" charset="-122"/>
            </a:endParaRPr>
          </a:p>
        </p:txBody>
      </p:sp>
      <p:sp>
        <p:nvSpPr>
          <p:cNvPr id="26" name="文本框 25"/>
          <p:cNvSpPr txBox="1"/>
          <p:nvPr userDrawn="1"/>
        </p:nvSpPr>
        <p:spPr>
          <a:xfrm>
            <a:off x="-16207" y="4530942"/>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网络要求</a:t>
            </a:r>
            <a:endParaRPr lang="zh-CN" altLang="en-US" sz="1400" b="1" dirty="0">
              <a:solidFill>
                <a:schemeClr val="bg1"/>
              </a:solidFill>
              <a:latin typeface="微软雅黑" panose="020B0503020204020204" charset="-122"/>
              <a:ea typeface="微软雅黑" panose="020B0503020204020204" charset="-122"/>
            </a:endParaRPr>
          </a:p>
        </p:txBody>
      </p:sp>
      <p:sp>
        <p:nvSpPr>
          <p:cNvPr id="27" name="文本框 26"/>
          <p:cNvSpPr txBox="1"/>
          <p:nvPr userDrawn="1"/>
        </p:nvSpPr>
        <p:spPr>
          <a:xfrm>
            <a:off x="-16207" y="564253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项目清单</a:t>
            </a:r>
            <a:endParaRPr lang="zh-CN" altLang="en-US" sz="1400" b="1" dirty="0">
              <a:solidFill>
                <a:schemeClr val="bg1"/>
              </a:solidFill>
              <a:latin typeface="微软雅黑" panose="020B0503020204020204" charset="-122"/>
              <a:ea typeface="微软雅黑" panose="020B0503020204020204" charset="-122"/>
            </a:endParaRPr>
          </a:p>
        </p:txBody>
      </p:sp>
      <p:sp>
        <p:nvSpPr>
          <p:cNvPr id="28" name="文本框 27"/>
          <p:cNvSpPr txBox="1"/>
          <p:nvPr userDrawn="1"/>
        </p:nvSpPr>
        <p:spPr>
          <a:xfrm>
            <a:off x="-16207" y="6014491"/>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项目计划</a:t>
            </a:r>
            <a:endParaRPr lang="zh-CN" altLang="en-US" sz="1400" b="1" dirty="0">
              <a:solidFill>
                <a:schemeClr val="bg1"/>
              </a:solidFill>
              <a:latin typeface="微软雅黑" panose="020B0503020204020204" charset="-122"/>
              <a:ea typeface="微软雅黑" panose="020B0503020204020204" charset="-122"/>
            </a:endParaRPr>
          </a:p>
        </p:txBody>
      </p:sp>
      <p:sp>
        <p:nvSpPr>
          <p:cNvPr id="33" name="矩形 32"/>
          <p:cNvSpPr/>
          <p:nvPr userDrawn="1"/>
        </p:nvSpPr>
        <p:spPr>
          <a:xfrm>
            <a:off x="-16207" y="2061786"/>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userDrawn="1"/>
        </p:nvSpPr>
        <p:spPr>
          <a:xfrm>
            <a:off x="-16207" y="3536403"/>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16207" y="4997567"/>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2"/>
          <a:stretch>
            <a:fillRect/>
          </a:stretch>
        </p:blipFill>
        <p:spPr>
          <a:xfrm>
            <a:off x="10442863" y="69303"/>
            <a:ext cx="1667231" cy="538908"/>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空白">
    <p:spTree>
      <p:nvGrpSpPr>
        <p:cNvPr id="1" name=""/>
        <p:cNvGrpSpPr/>
        <p:nvPr/>
      </p:nvGrpSpPr>
      <p:grpSpPr>
        <a:xfrm>
          <a:off x="0" y="0"/>
          <a:ext cx="0" cy="0"/>
          <a:chOff x="0" y="0"/>
          <a:chExt cx="0" cy="0"/>
        </a:xfrm>
      </p:grpSpPr>
      <p:sp>
        <p:nvSpPr>
          <p:cNvPr id="20" name="矩形 19"/>
          <p:cNvSpPr/>
          <p:nvPr userDrawn="1"/>
        </p:nvSpPr>
        <p:spPr>
          <a:xfrm>
            <a:off x="-16207" y="0"/>
            <a:ext cx="1368000" cy="6858000"/>
          </a:xfrm>
          <a:prstGeom prst="rect">
            <a:avLst/>
          </a:prstGeom>
          <a:solidFill>
            <a:srgbClr val="002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26"/>
          <p:cNvSpPr/>
          <p:nvPr userDrawn="1"/>
        </p:nvSpPr>
        <p:spPr>
          <a:xfrm>
            <a:off x="1638704" y="729451"/>
            <a:ext cx="3509091"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509091" h="142316">
                <a:moveTo>
                  <a:pt x="0" y="1905"/>
                </a:moveTo>
                <a:lnTo>
                  <a:pt x="3362406" y="0"/>
                </a:lnTo>
                <a:lnTo>
                  <a:pt x="3509091" y="142316"/>
                </a:lnTo>
                <a:lnTo>
                  <a:pt x="0" y="142316"/>
                </a:lnTo>
                <a:lnTo>
                  <a:pt x="0" y="1905"/>
                </a:lnTo>
                <a:close/>
              </a:path>
            </a:pathLst>
          </a:cu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26"/>
          <p:cNvSpPr/>
          <p:nvPr userDrawn="1"/>
        </p:nvSpPr>
        <p:spPr>
          <a:xfrm rot="10800000">
            <a:off x="5079215" y="729451"/>
            <a:ext cx="1904580"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 name="connsiteX0-11" fmla="*/ 0 w 3640166"/>
              <a:gd name="connsiteY0-12" fmla="*/ 1905 h 142316"/>
              <a:gd name="connsiteX1-13" fmla="*/ 3362406 w 3640166"/>
              <a:gd name="connsiteY1-14" fmla="*/ 0 h 142316"/>
              <a:gd name="connsiteX2-15" fmla="*/ 3640166 w 3640166"/>
              <a:gd name="connsiteY2-16" fmla="*/ 138506 h 142316"/>
              <a:gd name="connsiteX3-17" fmla="*/ 0 w 3640166"/>
              <a:gd name="connsiteY3-18" fmla="*/ 142316 h 142316"/>
              <a:gd name="connsiteX4-19" fmla="*/ 0 w 3640166"/>
              <a:gd name="connsiteY4-2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40166" h="142316">
                <a:moveTo>
                  <a:pt x="0" y="1905"/>
                </a:moveTo>
                <a:lnTo>
                  <a:pt x="3362406" y="0"/>
                </a:lnTo>
                <a:lnTo>
                  <a:pt x="3640166" y="138506"/>
                </a:lnTo>
                <a:lnTo>
                  <a:pt x="0" y="142316"/>
                </a:lnTo>
                <a:lnTo>
                  <a:pt x="0" y="1905"/>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标题 1"/>
          <p:cNvSpPr>
            <a:spLocks noGrp="1"/>
          </p:cNvSpPr>
          <p:nvPr>
            <p:ph type="title"/>
          </p:nvPr>
        </p:nvSpPr>
        <p:spPr>
          <a:xfrm>
            <a:off x="1564057" y="-214444"/>
            <a:ext cx="9209824" cy="1325563"/>
          </a:xfrm>
        </p:spPr>
        <p:txBody>
          <a:bodyPr>
            <a:noAutofit/>
          </a:bodyPr>
          <a:lstStyle>
            <a:lvl1pPr>
              <a:defRPr sz="3200" b="1">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5" name="文本框 4"/>
          <p:cNvSpPr txBox="1"/>
          <p:nvPr userDrawn="1"/>
        </p:nvSpPr>
        <p:spPr>
          <a:xfrm>
            <a:off x="-16207" y="814057"/>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项目背景</a:t>
            </a:r>
            <a:endParaRPr lang="zh-CN" altLang="en-US" sz="1800" b="1" dirty="0">
              <a:solidFill>
                <a:schemeClr val="bg1"/>
              </a:solidFill>
              <a:latin typeface="微软雅黑" panose="020B0503020204020204" charset="-122"/>
              <a:ea typeface="微软雅黑" panose="020B0503020204020204" charset="-122"/>
            </a:endParaRPr>
          </a:p>
        </p:txBody>
      </p:sp>
      <p:sp>
        <p:nvSpPr>
          <p:cNvPr id="8" name="文本框 7"/>
          <p:cNvSpPr txBox="1"/>
          <p:nvPr userDrawn="1"/>
        </p:nvSpPr>
        <p:spPr>
          <a:xfrm>
            <a:off x="-16207" y="2270043"/>
            <a:ext cx="1368000" cy="376581"/>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解决方案</a:t>
            </a:r>
            <a:endParaRPr lang="zh-CN" altLang="en-US" sz="1800" b="1" dirty="0">
              <a:solidFill>
                <a:schemeClr val="bg1"/>
              </a:solidFill>
              <a:latin typeface="微软雅黑" panose="020B0503020204020204" charset="-122"/>
              <a:ea typeface="微软雅黑" panose="020B0503020204020204" charset="-122"/>
            </a:endParaRPr>
          </a:p>
        </p:txBody>
      </p:sp>
      <p:sp>
        <p:nvSpPr>
          <p:cNvPr id="12" name="文本框 11"/>
          <p:cNvSpPr txBox="1"/>
          <p:nvPr userDrawn="1"/>
        </p:nvSpPr>
        <p:spPr>
          <a:xfrm>
            <a:off x="-16207" y="3726031"/>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实施部署</a:t>
            </a:r>
            <a:endParaRPr lang="zh-CN" altLang="en-US" sz="1800" b="1" dirty="0">
              <a:solidFill>
                <a:schemeClr val="bg1"/>
              </a:solidFill>
              <a:latin typeface="微软雅黑" panose="020B0503020204020204" charset="-122"/>
              <a:ea typeface="微软雅黑" panose="020B0503020204020204" charset="-122"/>
            </a:endParaRPr>
          </a:p>
        </p:txBody>
      </p:sp>
      <p:sp>
        <p:nvSpPr>
          <p:cNvPr id="15" name="文本框 14"/>
          <p:cNvSpPr txBox="1"/>
          <p:nvPr userDrawn="1"/>
        </p:nvSpPr>
        <p:spPr>
          <a:xfrm>
            <a:off x="-16207" y="5205166"/>
            <a:ext cx="1368000" cy="373193"/>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配置计划</a:t>
            </a:r>
            <a:endParaRPr lang="zh-CN" altLang="en-US" sz="1800" b="1" dirty="0">
              <a:solidFill>
                <a:schemeClr val="bg1"/>
              </a:solidFill>
              <a:latin typeface="微软雅黑" panose="020B0503020204020204" charset="-122"/>
              <a:ea typeface="微软雅黑" panose="020B0503020204020204" charset="-122"/>
            </a:endParaRPr>
          </a:p>
        </p:txBody>
      </p:sp>
      <p:sp>
        <p:nvSpPr>
          <p:cNvPr id="21" name="文本框 20"/>
          <p:cNvSpPr txBox="1"/>
          <p:nvPr userDrawn="1"/>
        </p:nvSpPr>
        <p:spPr>
          <a:xfrm>
            <a:off x="-16207" y="1243155"/>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基本信息</a:t>
            </a:r>
            <a:endParaRPr lang="zh-CN" altLang="en-US" sz="1400" b="1" dirty="0">
              <a:solidFill>
                <a:schemeClr val="bg1"/>
              </a:solidFill>
              <a:latin typeface="微软雅黑" panose="020B0503020204020204" charset="-122"/>
              <a:ea typeface="微软雅黑" panose="020B0503020204020204" charset="-122"/>
            </a:endParaRPr>
          </a:p>
        </p:txBody>
      </p:sp>
      <p:sp>
        <p:nvSpPr>
          <p:cNvPr id="22" name="文本框 21"/>
          <p:cNvSpPr txBox="1"/>
          <p:nvPr userDrawn="1"/>
        </p:nvSpPr>
        <p:spPr>
          <a:xfrm>
            <a:off x="-16207" y="1615109"/>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数据分析</a:t>
            </a:r>
            <a:endParaRPr lang="zh-CN" altLang="en-US" sz="1400" b="1" dirty="0">
              <a:solidFill>
                <a:schemeClr val="bg1"/>
              </a:solidFill>
              <a:latin typeface="微软雅黑" panose="020B0503020204020204" charset="-122"/>
              <a:ea typeface="微软雅黑" panose="020B0503020204020204" charset="-122"/>
            </a:endParaRPr>
          </a:p>
        </p:txBody>
      </p:sp>
      <p:sp>
        <p:nvSpPr>
          <p:cNvPr id="23" name="文本框 22"/>
          <p:cNvSpPr txBox="1"/>
          <p:nvPr userDrawn="1"/>
        </p:nvSpPr>
        <p:spPr>
          <a:xfrm>
            <a:off x="-16207" y="2714663"/>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方案介绍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4" name="文本框 23"/>
          <p:cNvSpPr txBox="1"/>
          <p:nvPr userDrawn="1"/>
        </p:nvSpPr>
        <p:spPr>
          <a:xfrm>
            <a:off x="-16207" y="308661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产品介绍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5" name="文本框 24"/>
          <p:cNvSpPr txBox="1"/>
          <p:nvPr userDrawn="1"/>
        </p:nvSpPr>
        <p:spPr>
          <a:xfrm>
            <a:off x="-16207" y="4158988"/>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场地环境</a:t>
            </a:r>
            <a:endParaRPr lang="zh-CN" altLang="en-US" sz="1400" b="1" dirty="0">
              <a:solidFill>
                <a:schemeClr val="bg1"/>
              </a:solidFill>
              <a:latin typeface="微软雅黑" panose="020B0503020204020204" charset="-122"/>
              <a:ea typeface="微软雅黑" panose="020B0503020204020204" charset="-122"/>
            </a:endParaRPr>
          </a:p>
        </p:txBody>
      </p:sp>
      <p:sp>
        <p:nvSpPr>
          <p:cNvPr id="26" name="文本框 25"/>
          <p:cNvSpPr txBox="1"/>
          <p:nvPr userDrawn="1"/>
        </p:nvSpPr>
        <p:spPr>
          <a:xfrm>
            <a:off x="-16207" y="4530942"/>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网络要求</a:t>
            </a:r>
            <a:endParaRPr lang="zh-CN" altLang="en-US" sz="1400" b="1" dirty="0">
              <a:solidFill>
                <a:schemeClr val="bg1"/>
              </a:solidFill>
              <a:latin typeface="微软雅黑" panose="020B0503020204020204" charset="-122"/>
              <a:ea typeface="微软雅黑" panose="020B0503020204020204" charset="-122"/>
            </a:endParaRPr>
          </a:p>
        </p:txBody>
      </p:sp>
      <p:sp>
        <p:nvSpPr>
          <p:cNvPr id="27" name="文本框 26"/>
          <p:cNvSpPr txBox="1"/>
          <p:nvPr userDrawn="1"/>
        </p:nvSpPr>
        <p:spPr>
          <a:xfrm>
            <a:off x="-16207" y="5642537"/>
            <a:ext cx="1368000" cy="307777"/>
          </a:xfrm>
          <a:prstGeom prst="rect">
            <a:avLst/>
          </a:prstGeom>
          <a:solidFill>
            <a:srgbClr val="FF8815"/>
          </a:solid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项目清单</a:t>
            </a:r>
            <a:endParaRPr lang="zh-CN" altLang="en-US" sz="1400" b="1" dirty="0">
              <a:solidFill>
                <a:schemeClr val="bg1"/>
              </a:solidFill>
              <a:latin typeface="微软雅黑" panose="020B0503020204020204" charset="-122"/>
              <a:ea typeface="微软雅黑" panose="020B0503020204020204" charset="-122"/>
            </a:endParaRPr>
          </a:p>
        </p:txBody>
      </p:sp>
      <p:sp>
        <p:nvSpPr>
          <p:cNvPr id="28" name="文本框 27"/>
          <p:cNvSpPr txBox="1"/>
          <p:nvPr userDrawn="1"/>
        </p:nvSpPr>
        <p:spPr>
          <a:xfrm>
            <a:off x="-16207" y="6014491"/>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项目计划</a:t>
            </a:r>
            <a:endParaRPr lang="zh-CN" altLang="en-US" sz="1400" b="1" dirty="0">
              <a:solidFill>
                <a:schemeClr val="bg1"/>
              </a:solidFill>
              <a:latin typeface="微软雅黑" panose="020B0503020204020204" charset="-122"/>
              <a:ea typeface="微软雅黑" panose="020B0503020204020204" charset="-122"/>
            </a:endParaRPr>
          </a:p>
        </p:txBody>
      </p:sp>
      <p:sp>
        <p:nvSpPr>
          <p:cNvPr id="33" name="矩形 32"/>
          <p:cNvSpPr/>
          <p:nvPr userDrawn="1"/>
        </p:nvSpPr>
        <p:spPr>
          <a:xfrm>
            <a:off x="-16207" y="2061786"/>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userDrawn="1"/>
        </p:nvSpPr>
        <p:spPr>
          <a:xfrm>
            <a:off x="-16207" y="3536403"/>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16207" y="4997567"/>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2"/>
          <a:stretch>
            <a:fillRect/>
          </a:stretch>
        </p:blipFill>
        <p:spPr>
          <a:xfrm>
            <a:off x="10442863" y="69303"/>
            <a:ext cx="1667231" cy="538908"/>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空白">
    <p:spTree>
      <p:nvGrpSpPr>
        <p:cNvPr id="1" name=""/>
        <p:cNvGrpSpPr/>
        <p:nvPr/>
      </p:nvGrpSpPr>
      <p:grpSpPr>
        <a:xfrm>
          <a:off x="0" y="0"/>
          <a:ext cx="0" cy="0"/>
          <a:chOff x="0" y="0"/>
          <a:chExt cx="0" cy="0"/>
        </a:xfrm>
      </p:grpSpPr>
      <p:sp>
        <p:nvSpPr>
          <p:cNvPr id="20" name="矩形 19"/>
          <p:cNvSpPr/>
          <p:nvPr userDrawn="1"/>
        </p:nvSpPr>
        <p:spPr>
          <a:xfrm>
            <a:off x="-16207" y="0"/>
            <a:ext cx="1368000" cy="6858000"/>
          </a:xfrm>
          <a:prstGeom prst="rect">
            <a:avLst/>
          </a:prstGeom>
          <a:solidFill>
            <a:srgbClr val="002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26"/>
          <p:cNvSpPr/>
          <p:nvPr userDrawn="1"/>
        </p:nvSpPr>
        <p:spPr>
          <a:xfrm>
            <a:off x="1638704" y="729451"/>
            <a:ext cx="3509091"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509091" h="142316">
                <a:moveTo>
                  <a:pt x="0" y="1905"/>
                </a:moveTo>
                <a:lnTo>
                  <a:pt x="3362406" y="0"/>
                </a:lnTo>
                <a:lnTo>
                  <a:pt x="3509091" y="142316"/>
                </a:lnTo>
                <a:lnTo>
                  <a:pt x="0" y="142316"/>
                </a:lnTo>
                <a:lnTo>
                  <a:pt x="0" y="1905"/>
                </a:lnTo>
                <a:close/>
              </a:path>
            </a:pathLst>
          </a:cu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26"/>
          <p:cNvSpPr/>
          <p:nvPr userDrawn="1"/>
        </p:nvSpPr>
        <p:spPr>
          <a:xfrm rot="10800000">
            <a:off x="5079215" y="729451"/>
            <a:ext cx="1904580"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 name="connsiteX0-11" fmla="*/ 0 w 3640166"/>
              <a:gd name="connsiteY0-12" fmla="*/ 1905 h 142316"/>
              <a:gd name="connsiteX1-13" fmla="*/ 3362406 w 3640166"/>
              <a:gd name="connsiteY1-14" fmla="*/ 0 h 142316"/>
              <a:gd name="connsiteX2-15" fmla="*/ 3640166 w 3640166"/>
              <a:gd name="connsiteY2-16" fmla="*/ 138506 h 142316"/>
              <a:gd name="connsiteX3-17" fmla="*/ 0 w 3640166"/>
              <a:gd name="connsiteY3-18" fmla="*/ 142316 h 142316"/>
              <a:gd name="connsiteX4-19" fmla="*/ 0 w 3640166"/>
              <a:gd name="connsiteY4-2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40166" h="142316">
                <a:moveTo>
                  <a:pt x="0" y="1905"/>
                </a:moveTo>
                <a:lnTo>
                  <a:pt x="3362406" y="0"/>
                </a:lnTo>
                <a:lnTo>
                  <a:pt x="3640166" y="138506"/>
                </a:lnTo>
                <a:lnTo>
                  <a:pt x="0" y="142316"/>
                </a:lnTo>
                <a:lnTo>
                  <a:pt x="0" y="1905"/>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标题 1"/>
          <p:cNvSpPr>
            <a:spLocks noGrp="1"/>
          </p:cNvSpPr>
          <p:nvPr>
            <p:ph type="title"/>
          </p:nvPr>
        </p:nvSpPr>
        <p:spPr>
          <a:xfrm>
            <a:off x="1564057" y="-214444"/>
            <a:ext cx="9209824" cy="1325563"/>
          </a:xfrm>
        </p:spPr>
        <p:txBody>
          <a:bodyPr>
            <a:noAutofit/>
          </a:bodyPr>
          <a:lstStyle>
            <a:lvl1pPr>
              <a:defRPr sz="3200" b="1">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5" name="文本框 4"/>
          <p:cNvSpPr txBox="1"/>
          <p:nvPr userDrawn="1"/>
        </p:nvSpPr>
        <p:spPr>
          <a:xfrm>
            <a:off x="-16207" y="814057"/>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项目背景</a:t>
            </a:r>
            <a:endParaRPr lang="zh-CN" altLang="en-US" sz="1800" b="1" dirty="0">
              <a:solidFill>
                <a:schemeClr val="bg1"/>
              </a:solidFill>
              <a:latin typeface="微软雅黑" panose="020B0503020204020204" charset="-122"/>
              <a:ea typeface="微软雅黑" panose="020B0503020204020204" charset="-122"/>
            </a:endParaRPr>
          </a:p>
        </p:txBody>
      </p:sp>
      <p:sp>
        <p:nvSpPr>
          <p:cNvPr id="8" name="文本框 7"/>
          <p:cNvSpPr txBox="1"/>
          <p:nvPr userDrawn="1"/>
        </p:nvSpPr>
        <p:spPr>
          <a:xfrm>
            <a:off x="-16207" y="2270043"/>
            <a:ext cx="1368000" cy="376581"/>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解决方案</a:t>
            </a:r>
            <a:endParaRPr lang="zh-CN" altLang="en-US" sz="1800" b="1" dirty="0">
              <a:solidFill>
                <a:schemeClr val="bg1"/>
              </a:solidFill>
              <a:latin typeface="微软雅黑" panose="020B0503020204020204" charset="-122"/>
              <a:ea typeface="微软雅黑" panose="020B0503020204020204" charset="-122"/>
            </a:endParaRPr>
          </a:p>
        </p:txBody>
      </p:sp>
      <p:sp>
        <p:nvSpPr>
          <p:cNvPr id="12" name="文本框 11"/>
          <p:cNvSpPr txBox="1"/>
          <p:nvPr userDrawn="1"/>
        </p:nvSpPr>
        <p:spPr>
          <a:xfrm>
            <a:off x="-16207" y="3726031"/>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实施部署</a:t>
            </a:r>
            <a:endParaRPr lang="zh-CN" altLang="en-US" sz="1800" b="1" dirty="0">
              <a:solidFill>
                <a:schemeClr val="bg1"/>
              </a:solidFill>
              <a:latin typeface="微软雅黑" panose="020B0503020204020204" charset="-122"/>
              <a:ea typeface="微软雅黑" panose="020B0503020204020204" charset="-122"/>
            </a:endParaRPr>
          </a:p>
        </p:txBody>
      </p:sp>
      <p:sp>
        <p:nvSpPr>
          <p:cNvPr id="15" name="文本框 14"/>
          <p:cNvSpPr txBox="1"/>
          <p:nvPr userDrawn="1"/>
        </p:nvSpPr>
        <p:spPr>
          <a:xfrm>
            <a:off x="-16207" y="5205166"/>
            <a:ext cx="1368000" cy="373193"/>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配置计划</a:t>
            </a:r>
            <a:endParaRPr lang="zh-CN" altLang="en-US" sz="1800" b="1" dirty="0">
              <a:solidFill>
                <a:schemeClr val="bg1"/>
              </a:solidFill>
              <a:latin typeface="微软雅黑" panose="020B0503020204020204" charset="-122"/>
              <a:ea typeface="微软雅黑" panose="020B0503020204020204" charset="-122"/>
            </a:endParaRPr>
          </a:p>
        </p:txBody>
      </p:sp>
      <p:sp>
        <p:nvSpPr>
          <p:cNvPr id="21" name="文本框 20"/>
          <p:cNvSpPr txBox="1"/>
          <p:nvPr userDrawn="1"/>
        </p:nvSpPr>
        <p:spPr>
          <a:xfrm>
            <a:off x="-16207" y="1243155"/>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基本信息</a:t>
            </a:r>
            <a:endParaRPr lang="zh-CN" altLang="en-US" sz="1400" b="1" dirty="0">
              <a:solidFill>
                <a:schemeClr val="bg1"/>
              </a:solidFill>
              <a:latin typeface="微软雅黑" panose="020B0503020204020204" charset="-122"/>
              <a:ea typeface="微软雅黑" panose="020B0503020204020204" charset="-122"/>
            </a:endParaRPr>
          </a:p>
        </p:txBody>
      </p:sp>
      <p:sp>
        <p:nvSpPr>
          <p:cNvPr id="22" name="文本框 21"/>
          <p:cNvSpPr txBox="1"/>
          <p:nvPr userDrawn="1"/>
        </p:nvSpPr>
        <p:spPr>
          <a:xfrm>
            <a:off x="-16207" y="1615109"/>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数据分析</a:t>
            </a:r>
            <a:endParaRPr lang="zh-CN" altLang="en-US" sz="1400" b="1" dirty="0">
              <a:solidFill>
                <a:schemeClr val="bg1"/>
              </a:solidFill>
              <a:latin typeface="微软雅黑" panose="020B0503020204020204" charset="-122"/>
              <a:ea typeface="微软雅黑" panose="020B0503020204020204" charset="-122"/>
            </a:endParaRPr>
          </a:p>
        </p:txBody>
      </p:sp>
      <p:sp>
        <p:nvSpPr>
          <p:cNvPr id="23" name="文本框 22"/>
          <p:cNvSpPr txBox="1"/>
          <p:nvPr userDrawn="1"/>
        </p:nvSpPr>
        <p:spPr>
          <a:xfrm>
            <a:off x="-16207" y="2714663"/>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方案介绍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4" name="文本框 23"/>
          <p:cNvSpPr txBox="1"/>
          <p:nvPr userDrawn="1"/>
        </p:nvSpPr>
        <p:spPr>
          <a:xfrm>
            <a:off x="-16207" y="308661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产品介绍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5" name="文本框 24"/>
          <p:cNvSpPr txBox="1"/>
          <p:nvPr userDrawn="1"/>
        </p:nvSpPr>
        <p:spPr>
          <a:xfrm>
            <a:off x="-16207" y="4158988"/>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场地环境</a:t>
            </a:r>
            <a:endParaRPr lang="zh-CN" altLang="en-US" sz="1400" b="1" dirty="0">
              <a:solidFill>
                <a:schemeClr val="bg1"/>
              </a:solidFill>
              <a:latin typeface="微软雅黑" panose="020B0503020204020204" charset="-122"/>
              <a:ea typeface="微软雅黑" panose="020B0503020204020204" charset="-122"/>
            </a:endParaRPr>
          </a:p>
        </p:txBody>
      </p:sp>
      <p:sp>
        <p:nvSpPr>
          <p:cNvPr id="26" name="文本框 25"/>
          <p:cNvSpPr txBox="1"/>
          <p:nvPr userDrawn="1"/>
        </p:nvSpPr>
        <p:spPr>
          <a:xfrm>
            <a:off x="-16207" y="4530942"/>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网络要求</a:t>
            </a:r>
            <a:endParaRPr lang="zh-CN" altLang="en-US" sz="1400" b="1" dirty="0">
              <a:solidFill>
                <a:schemeClr val="bg1"/>
              </a:solidFill>
              <a:latin typeface="微软雅黑" panose="020B0503020204020204" charset="-122"/>
              <a:ea typeface="微软雅黑" panose="020B0503020204020204" charset="-122"/>
            </a:endParaRPr>
          </a:p>
        </p:txBody>
      </p:sp>
      <p:sp>
        <p:nvSpPr>
          <p:cNvPr id="27" name="文本框 26"/>
          <p:cNvSpPr txBox="1"/>
          <p:nvPr userDrawn="1"/>
        </p:nvSpPr>
        <p:spPr>
          <a:xfrm>
            <a:off x="-16207" y="564253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项目清单</a:t>
            </a:r>
            <a:endParaRPr lang="zh-CN" altLang="en-US" sz="1400" b="1" dirty="0">
              <a:solidFill>
                <a:schemeClr val="bg1"/>
              </a:solidFill>
              <a:latin typeface="微软雅黑" panose="020B0503020204020204" charset="-122"/>
              <a:ea typeface="微软雅黑" panose="020B0503020204020204" charset="-122"/>
            </a:endParaRPr>
          </a:p>
        </p:txBody>
      </p:sp>
      <p:sp>
        <p:nvSpPr>
          <p:cNvPr id="28" name="文本框 27"/>
          <p:cNvSpPr txBox="1"/>
          <p:nvPr userDrawn="1"/>
        </p:nvSpPr>
        <p:spPr>
          <a:xfrm>
            <a:off x="-16207" y="6014491"/>
            <a:ext cx="1368000" cy="307777"/>
          </a:xfrm>
          <a:prstGeom prst="rect">
            <a:avLst/>
          </a:prstGeom>
          <a:solidFill>
            <a:srgbClr val="FF8815"/>
          </a:solid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项目计划</a:t>
            </a:r>
            <a:endParaRPr lang="zh-CN" altLang="en-US" sz="1400" b="1" dirty="0">
              <a:solidFill>
                <a:schemeClr val="bg1"/>
              </a:solidFill>
              <a:latin typeface="微软雅黑" panose="020B0503020204020204" charset="-122"/>
              <a:ea typeface="微软雅黑" panose="020B0503020204020204" charset="-122"/>
            </a:endParaRPr>
          </a:p>
        </p:txBody>
      </p:sp>
      <p:sp>
        <p:nvSpPr>
          <p:cNvPr id="33" name="矩形 32"/>
          <p:cNvSpPr/>
          <p:nvPr userDrawn="1"/>
        </p:nvSpPr>
        <p:spPr>
          <a:xfrm>
            <a:off x="-16207" y="2061786"/>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userDrawn="1"/>
        </p:nvSpPr>
        <p:spPr>
          <a:xfrm>
            <a:off x="-16207" y="3536403"/>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16207" y="4997567"/>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2"/>
          <a:stretch>
            <a:fillRect/>
          </a:stretch>
        </p:blipFill>
        <p:spPr>
          <a:xfrm>
            <a:off x="10442863" y="69303"/>
            <a:ext cx="1667231" cy="53890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7.png"/><Relationship Id="rId2" Type="http://www.wps.cn/officeDocument/2018/webExtension" Target="../webExtensions/webExtension1.xml" TargetMode="External"/><Relationship Id="rId1" Type="http://www.wps.cn/officeDocument/2018/webExtension" Target="../webExtensions/webExtension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0.png"/><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5.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descr="F:\水调歌头\客户资料\订单\欧亚自动化\ppt\1-背景.jpg"/>
          <p:cNvPicPr>
            <a:picLocks noChangeAspect="1" noChangeArrowheads="1"/>
          </p:cNvPicPr>
          <p:nvPr/>
        </p:nvPicPr>
        <p:blipFill rotWithShape="1">
          <a:blip r:embed="rId1" cstate="print"/>
          <a:srcRect l="683" t="1342" r="1250" b="30369"/>
          <a:stretch>
            <a:fillRect/>
          </a:stretch>
        </p:blipFill>
        <p:spPr bwMode="auto">
          <a:xfrm>
            <a:off x="0" y="1"/>
            <a:ext cx="7262402" cy="6858000"/>
          </a:xfrm>
          <a:prstGeom prst="rect">
            <a:avLst/>
          </a:prstGeom>
          <a:noFill/>
          <a:ln>
            <a:noFill/>
          </a:ln>
        </p:spPr>
      </p:pic>
      <p:sp>
        <p:nvSpPr>
          <p:cNvPr id="3" name="矩形 2"/>
          <p:cNvSpPr/>
          <p:nvPr/>
        </p:nvSpPr>
        <p:spPr>
          <a:xfrm>
            <a:off x="0" y="0"/>
            <a:ext cx="7894320" cy="6858000"/>
          </a:xfrm>
          <a:prstGeom prst="rect">
            <a:avLst/>
          </a:prstGeom>
          <a:gradFill>
            <a:gsLst>
              <a:gs pos="0">
                <a:schemeClr val="accent1">
                  <a:lumMod val="5000"/>
                  <a:lumOff val="95000"/>
                  <a:alpha val="40000"/>
                </a:schemeClr>
              </a:gs>
              <a:gs pos="100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endParaRPr>
          </a:p>
        </p:txBody>
      </p:sp>
      <p:sp>
        <p:nvSpPr>
          <p:cNvPr id="5" name="矩形 4"/>
          <p:cNvSpPr/>
          <p:nvPr/>
        </p:nvSpPr>
        <p:spPr>
          <a:xfrm>
            <a:off x="0" y="5534560"/>
            <a:ext cx="12192000" cy="132343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endParaRPr>
          </a:p>
        </p:txBody>
      </p:sp>
      <p:sp>
        <p:nvSpPr>
          <p:cNvPr id="4" name="TextBox 8"/>
          <p:cNvSpPr txBox="1"/>
          <p:nvPr/>
        </p:nvSpPr>
        <p:spPr>
          <a:xfrm>
            <a:off x="746760" y="2140357"/>
            <a:ext cx="10698480" cy="922020"/>
          </a:xfrm>
          <a:prstGeom prst="rect">
            <a:avLst/>
          </a:prstGeom>
          <a:noFill/>
        </p:spPr>
        <p:txBody>
          <a:bodyPr wrap="square" rtlCol="0">
            <a:spAutoFit/>
          </a:bodyPr>
          <a:lstStyle/>
          <a:p>
            <a:pPr algn="ctr"/>
            <a:r>
              <a:rPr lang="zh-CN" altLang="en-US" sz="5400" b="1" dirty="0">
                <a:solidFill>
                  <a:srgbClr val="002060"/>
                </a:solidFill>
                <a:latin typeface="汉仪君黑-45简" panose="020B0604020202020204" charset="-122"/>
                <a:ea typeface="汉仪君黑-45简" panose="020B0604020202020204" charset="-122"/>
              </a:rPr>
              <a:t>德图仪表采集方案</a:t>
            </a:r>
            <a:endParaRPr lang="zh-CN" altLang="en-US" sz="5400" b="1" dirty="0">
              <a:solidFill>
                <a:srgbClr val="002060"/>
              </a:solidFill>
              <a:latin typeface="汉仪君黑-45简" panose="020B0604020202020204" charset="-122"/>
              <a:ea typeface="汉仪君黑-45简" panose="020B0604020202020204" charset="-122"/>
            </a:endParaRPr>
          </a:p>
        </p:txBody>
      </p:sp>
      <p:sp>
        <p:nvSpPr>
          <p:cNvPr id="6" name="矩形: 圆角 5"/>
          <p:cNvSpPr/>
          <p:nvPr/>
        </p:nvSpPr>
        <p:spPr>
          <a:xfrm>
            <a:off x="9828464" y="5242560"/>
            <a:ext cx="1342455" cy="51816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汉仪君黑-45简" panose="020B0604020202020204" charset="-122"/>
                <a:ea typeface="汉仪君黑-45简" panose="020B0604020202020204" charset="-122"/>
              </a:rPr>
              <a:t>2024-12</a:t>
            </a:r>
            <a:endParaRPr lang="en-US" altLang="zh-CN" b="1" dirty="0">
              <a:latin typeface="汉仪君黑-45简" panose="020B0604020202020204" charset="-122"/>
              <a:ea typeface="汉仪君黑-45简" panose="020B0604020202020204" charset="-122"/>
            </a:endParaRPr>
          </a:p>
        </p:txBody>
      </p:sp>
      <p:grpSp>
        <p:nvGrpSpPr>
          <p:cNvPr id="79" name="组合 78"/>
          <p:cNvGrpSpPr/>
          <p:nvPr/>
        </p:nvGrpSpPr>
        <p:grpSpPr>
          <a:xfrm>
            <a:off x="1406513" y="3810368"/>
            <a:ext cx="9378974" cy="145406"/>
            <a:chOff x="1689904" y="3740795"/>
            <a:chExt cx="8812192" cy="264046"/>
          </a:xfrm>
        </p:grpSpPr>
        <p:cxnSp>
          <p:nvCxnSpPr>
            <p:cNvPr id="11" name="直接连接符 10"/>
            <p:cNvCxnSpPr/>
            <p:nvPr/>
          </p:nvCxnSpPr>
          <p:spPr>
            <a:xfrm>
              <a:off x="1689904" y="3740795"/>
              <a:ext cx="0" cy="264046"/>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869745" y="3740795"/>
              <a:ext cx="0" cy="264046"/>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2049586"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2229427" y="3740795"/>
              <a:ext cx="0" cy="264046"/>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2409268"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589109" y="3740795"/>
              <a:ext cx="0" cy="264046"/>
            </a:xfrm>
            <a:prstGeom prst="line">
              <a:avLst/>
            </a:prstGeom>
            <a:ln w="825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2768950" y="3740795"/>
              <a:ext cx="0" cy="264046"/>
            </a:xfrm>
            <a:prstGeom prst="line">
              <a:avLst/>
            </a:prstGeom>
            <a:ln w="889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2948791"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3128632"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308473"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3668155"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3847996" y="3740795"/>
              <a:ext cx="0" cy="264046"/>
            </a:xfrm>
            <a:prstGeom prst="line">
              <a:avLst/>
            </a:prstGeom>
            <a:ln w="889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4207678"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488314" y="3740795"/>
              <a:ext cx="0" cy="264046"/>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4027837"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4387519"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927042"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4747201"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5106883" y="3740795"/>
              <a:ext cx="0" cy="264046"/>
            </a:xfrm>
            <a:prstGeom prst="line">
              <a:avLst/>
            </a:prstGeom>
            <a:ln w="825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5286724"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5466565"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6006088"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5646406"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567360"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5826247"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10502096" y="3740795"/>
              <a:ext cx="0" cy="264046"/>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10322272" y="3740795"/>
              <a:ext cx="0" cy="264046"/>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10142431"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9962590" y="3740795"/>
              <a:ext cx="0" cy="264046"/>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9782749"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9602908" y="3740795"/>
              <a:ext cx="0" cy="264046"/>
            </a:xfrm>
            <a:prstGeom prst="line">
              <a:avLst/>
            </a:prstGeom>
            <a:ln w="825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9423067" y="3740795"/>
              <a:ext cx="0" cy="264046"/>
            </a:xfrm>
            <a:prstGeom prst="line">
              <a:avLst/>
            </a:prstGeom>
            <a:ln w="889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9243226"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9063385"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8883544"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8523862"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8344021" y="3740795"/>
              <a:ext cx="0" cy="264046"/>
            </a:xfrm>
            <a:prstGeom prst="line">
              <a:avLst/>
            </a:prstGeom>
            <a:ln w="889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7984339"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8703703" y="3740795"/>
              <a:ext cx="0" cy="264046"/>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8164180"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7804498"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7264975"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7444816"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7085134" y="3740795"/>
              <a:ext cx="0" cy="264046"/>
            </a:xfrm>
            <a:prstGeom prst="line">
              <a:avLst/>
            </a:prstGeom>
            <a:ln w="825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6905293"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6725452"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6185929"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6545611"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7624657"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6365770"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349929" y="3472404"/>
            <a:ext cx="1840374" cy="461665"/>
          </a:xfrm>
          <a:prstGeom prst="rect">
            <a:avLst/>
          </a:prstGeom>
          <a:noFill/>
        </p:spPr>
        <p:txBody>
          <a:bodyPr wrap="square" rtlCol="0">
            <a:spAutoFit/>
          </a:bodyPr>
          <a:lstStyle/>
          <a:p>
            <a:r>
              <a:rPr lang="zh-CN" altLang="en-US" sz="2400" b="1" dirty="0">
                <a:solidFill>
                  <a:srgbClr val="FF8815"/>
                </a:solidFill>
                <a:latin typeface="汉仪君黑-45简" panose="020B0604020202020204" charset="-122"/>
                <a:ea typeface="汉仪君黑-45简" panose="020B0604020202020204" charset="-122"/>
              </a:rPr>
              <a:t>项目背景</a:t>
            </a:r>
            <a:endParaRPr lang="zh-CN" altLang="en-US" sz="2400" b="1" dirty="0">
              <a:solidFill>
                <a:srgbClr val="FF8815"/>
              </a:solidFill>
              <a:latin typeface="汉仪君黑-45简" panose="020B0604020202020204" charset="-122"/>
              <a:ea typeface="汉仪君黑-45简" panose="020B0604020202020204" charset="-122"/>
            </a:endParaRPr>
          </a:p>
        </p:txBody>
      </p:sp>
      <p:sp>
        <p:nvSpPr>
          <p:cNvPr id="3" name="文本框 2"/>
          <p:cNvSpPr txBox="1"/>
          <p:nvPr/>
        </p:nvSpPr>
        <p:spPr>
          <a:xfrm>
            <a:off x="10083483" y="3472404"/>
            <a:ext cx="1840374" cy="461665"/>
          </a:xfrm>
          <a:prstGeom prst="rect">
            <a:avLst/>
          </a:prstGeom>
          <a:noFill/>
        </p:spPr>
        <p:txBody>
          <a:bodyPr wrap="square" rtlCol="0">
            <a:spAutoFit/>
          </a:bodyPr>
          <a:lstStyle/>
          <a:p>
            <a:r>
              <a:rPr lang="zh-CN" altLang="en-US" sz="2400" b="1" dirty="0">
                <a:latin typeface="汉仪君黑-45简" panose="020B0604020202020204" charset="-122"/>
                <a:ea typeface="汉仪君黑-45简" panose="020B0604020202020204" charset="-122"/>
              </a:rPr>
              <a:t>解决方案</a:t>
            </a:r>
            <a:endParaRPr lang="zh-CN" altLang="en-US" sz="2400" b="1" dirty="0">
              <a:latin typeface="汉仪君黑-45简" panose="020B0604020202020204" charset="-122"/>
              <a:ea typeface="汉仪君黑-45简" panose="020B0604020202020204" charset="-122"/>
            </a:endParaRPr>
          </a:p>
        </p:txBody>
      </p:sp>
      <p:sp>
        <p:nvSpPr>
          <p:cNvPr id="4" name="文本框 3"/>
          <p:cNvSpPr txBox="1"/>
          <p:nvPr/>
        </p:nvSpPr>
        <p:spPr>
          <a:xfrm>
            <a:off x="7349929" y="4285526"/>
            <a:ext cx="1840374" cy="461665"/>
          </a:xfrm>
          <a:prstGeom prst="rect">
            <a:avLst/>
          </a:prstGeom>
          <a:noFill/>
        </p:spPr>
        <p:txBody>
          <a:bodyPr wrap="square" rtlCol="0">
            <a:spAutoFit/>
          </a:bodyPr>
          <a:lstStyle/>
          <a:p>
            <a:r>
              <a:rPr lang="zh-CN" altLang="en-US" sz="2400" b="1" dirty="0">
                <a:latin typeface="汉仪君黑-45简" panose="020B0604020202020204" charset="-122"/>
                <a:ea typeface="汉仪君黑-45简" panose="020B0604020202020204" charset="-122"/>
              </a:rPr>
              <a:t>实施部署</a:t>
            </a:r>
            <a:endParaRPr lang="zh-CN" altLang="en-US" sz="2400" b="1" dirty="0">
              <a:latin typeface="汉仪君黑-45简" panose="020B0604020202020204" charset="-122"/>
              <a:ea typeface="汉仪君黑-45简" panose="020B0604020202020204" charset="-122"/>
            </a:endParaRPr>
          </a:p>
        </p:txBody>
      </p:sp>
      <p:sp>
        <p:nvSpPr>
          <p:cNvPr id="5" name="文本框 4"/>
          <p:cNvSpPr txBox="1"/>
          <p:nvPr/>
        </p:nvSpPr>
        <p:spPr>
          <a:xfrm>
            <a:off x="10083483" y="4285526"/>
            <a:ext cx="1840374" cy="461665"/>
          </a:xfrm>
          <a:prstGeom prst="rect">
            <a:avLst/>
          </a:prstGeom>
          <a:noFill/>
        </p:spPr>
        <p:txBody>
          <a:bodyPr wrap="square" rtlCol="0">
            <a:spAutoFit/>
          </a:bodyPr>
          <a:lstStyle/>
          <a:p>
            <a:r>
              <a:rPr lang="zh-CN" altLang="en-US" sz="2400" b="1" dirty="0">
                <a:latin typeface="汉仪君黑-45简" panose="020B0604020202020204" charset="-122"/>
                <a:ea typeface="汉仪君黑-45简" panose="020B0604020202020204" charset="-122"/>
              </a:rPr>
              <a:t>配置计划</a:t>
            </a:r>
            <a:endParaRPr lang="zh-CN" altLang="en-US" sz="2400" b="1" dirty="0">
              <a:latin typeface="汉仪君黑-45简" panose="020B0604020202020204" charset="-122"/>
              <a:ea typeface="汉仪君黑-45简" panose="020B0604020202020204" charset="-122"/>
            </a:endParaRPr>
          </a:p>
        </p:txBody>
      </p:sp>
      <p:sp>
        <p:nvSpPr>
          <p:cNvPr id="6" name="文本框 5"/>
          <p:cNvSpPr txBox="1"/>
          <p:nvPr/>
        </p:nvSpPr>
        <p:spPr>
          <a:xfrm>
            <a:off x="6974794" y="3380339"/>
            <a:ext cx="532432" cy="584775"/>
          </a:xfrm>
          <a:prstGeom prst="rect">
            <a:avLst/>
          </a:prstGeom>
          <a:noFill/>
        </p:spPr>
        <p:txBody>
          <a:bodyPr wrap="square" rtlCol="0">
            <a:spAutoFit/>
          </a:bodyPr>
          <a:lstStyle/>
          <a:p>
            <a:r>
              <a:rPr lang="en-US" altLang="zh-CN" sz="3200" b="1" dirty="0">
                <a:solidFill>
                  <a:srgbClr val="FF8815"/>
                </a:solidFill>
                <a:latin typeface="汉仪君黑-45简" panose="020B0604020202020204" charset="-122"/>
                <a:ea typeface="汉仪君黑-45简" panose="020B0604020202020204" charset="-122"/>
              </a:rPr>
              <a:t>1</a:t>
            </a:r>
            <a:r>
              <a:rPr lang="zh-CN" altLang="en-US" sz="3200" b="1" dirty="0">
                <a:solidFill>
                  <a:srgbClr val="FF8815"/>
                </a:solidFill>
                <a:latin typeface="汉仪君黑-45简" panose="020B0604020202020204" charset="-122"/>
                <a:ea typeface="汉仪君黑-45简" panose="020B0604020202020204" charset="-122"/>
              </a:rPr>
              <a:t>、</a:t>
            </a:r>
            <a:endParaRPr lang="zh-CN" altLang="en-US" sz="3200" b="1" dirty="0">
              <a:solidFill>
                <a:srgbClr val="FF8815"/>
              </a:solidFill>
              <a:latin typeface="汉仪君黑-45简" panose="020B0604020202020204" charset="-122"/>
              <a:ea typeface="汉仪君黑-45简" panose="020B0604020202020204" charset="-122"/>
            </a:endParaRPr>
          </a:p>
        </p:txBody>
      </p:sp>
      <p:sp>
        <p:nvSpPr>
          <p:cNvPr id="7" name="文本框 6"/>
          <p:cNvSpPr txBox="1"/>
          <p:nvPr/>
        </p:nvSpPr>
        <p:spPr>
          <a:xfrm>
            <a:off x="9684157" y="3357189"/>
            <a:ext cx="532432" cy="584775"/>
          </a:xfrm>
          <a:prstGeom prst="rect">
            <a:avLst/>
          </a:prstGeom>
          <a:noFill/>
        </p:spPr>
        <p:txBody>
          <a:bodyPr wrap="square" rtlCol="0">
            <a:spAutoFit/>
          </a:bodyPr>
          <a:lstStyle/>
          <a:p>
            <a:r>
              <a:rPr lang="en-US" altLang="zh-CN" sz="3200" b="1" dirty="0">
                <a:latin typeface="汉仪君黑-45简" panose="020B0604020202020204" charset="-122"/>
                <a:ea typeface="汉仪君黑-45简" panose="020B0604020202020204" charset="-122"/>
              </a:rPr>
              <a:t>2</a:t>
            </a:r>
            <a:r>
              <a:rPr lang="zh-CN" altLang="en-US" sz="3200" b="1" dirty="0">
                <a:latin typeface="汉仪君黑-45简" panose="020B0604020202020204" charset="-122"/>
                <a:ea typeface="汉仪君黑-45简" panose="020B0604020202020204" charset="-122"/>
              </a:rPr>
              <a:t>、</a:t>
            </a:r>
            <a:endParaRPr lang="zh-CN" altLang="en-US" sz="3200" b="1" dirty="0">
              <a:latin typeface="汉仪君黑-45简" panose="020B0604020202020204" charset="-122"/>
              <a:ea typeface="汉仪君黑-45简" panose="020B0604020202020204" charset="-122"/>
            </a:endParaRPr>
          </a:p>
        </p:txBody>
      </p:sp>
      <p:sp>
        <p:nvSpPr>
          <p:cNvPr id="8" name="文本框 7"/>
          <p:cNvSpPr txBox="1"/>
          <p:nvPr/>
        </p:nvSpPr>
        <p:spPr>
          <a:xfrm>
            <a:off x="6974794" y="4193461"/>
            <a:ext cx="532432" cy="584775"/>
          </a:xfrm>
          <a:prstGeom prst="rect">
            <a:avLst/>
          </a:prstGeom>
          <a:noFill/>
        </p:spPr>
        <p:txBody>
          <a:bodyPr wrap="square" rtlCol="0">
            <a:spAutoFit/>
          </a:bodyPr>
          <a:lstStyle/>
          <a:p>
            <a:r>
              <a:rPr lang="en-US" altLang="zh-CN" sz="3200" b="1" dirty="0">
                <a:latin typeface="汉仪君黑-45简" panose="020B0604020202020204" charset="-122"/>
                <a:ea typeface="汉仪君黑-45简" panose="020B0604020202020204" charset="-122"/>
              </a:rPr>
              <a:t>3</a:t>
            </a:r>
            <a:r>
              <a:rPr lang="zh-CN" altLang="en-US" sz="3200" b="1" dirty="0">
                <a:latin typeface="汉仪君黑-45简" panose="020B0604020202020204" charset="-122"/>
                <a:ea typeface="汉仪君黑-45简" panose="020B0604020202020204" charset="-122"/>
              </a:rPr>
              <a:t>、</a:t>
            </a:r>
            <a:endParaRPr lang="zh-CN" altLang="en-US" sz="3200" b="1" dirty="0">
              <a:latin typeface="汉仪君黑-45简" panose="020B0604020202020204" charset="-122"/>
              <a:ea typeface="汉仪君黑-45简" panose="020B0604020202020204" charset="-122"/>
            </a:endParaRPr>
          </a:p>
        </p:txBody>
      </p:sp>
      <p:sp>
        <p:nvSpPr>
          <p:cNvPr id="9" name="文本框 8"/>
          <p:cNvSpPr txBox="1"/>
          <p:nvPr/>
        </p:nvSpPr>
        <p:spPr>
          <a:xfrm>
            <a:off x="9684157" y="4205036"/>
            <a:ext cx="532432" cy="584775"/>
          </a:xfrm>
          <a:prstGeom prst="rect">
            <a:avLst/>
          </a:prstGeom>
          <a:noFill/>
        </p:spPr>
        <p:txBody>
          <a:bodyPr wrap="square" rtlCol="0">
            <a:spAutoFit/>
          </a:bodyPr>
          <a:lstStyle/>
          <a:p>
            <a:r>
              <a:rPr lang="en-US" altLang="zh-CN" sz="3200" b="1" dirty="0">
                <a:latin typeface="汉仪君黑-45简" panose="020B0604020202020204" charset="-122"/>
                <a:ea typeface="汉仪君黑-45简" panose="020B0604020202020204" charset="-122"/>
              </a:rPr>
              <a:t>4</a:t>
            </a:r>
            <a:r>
              <a:rPr lang="zh-CN" altLang="en-US" sz="3200" b="1" dirty="0">
                <a:latin typeface="汉仪君黑-45简" panose="020B0604020202020204" charset="-122"/>
                <a:ea typeface="汉仪君黑-45简" panose="020B0604020202020204" charset="-122"/>
              </a:rPr>
              <a:t>、</a:t>
            </a:r>
            <a:endParaRPr lang="zh-CN" altLang="en-US" sz="3200" b="1" dirty="0">
              <a:latin typeface="汉仪君黑-45简" panose="020B0604020202020204" charset="-122"/>
              <a:ea typeface="汉仪君黑-45简" panose="020B0604020202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latin typeface="汉仪君黑-45简" panose="020B0604020202020204" charset="-122"/>
                <a:ea typeface="汉仪君黑-45简" panose="020B0604020202020204" charset="-122"/>
              </a:rPr>
              <a:t>项目背景</a:t>
            </a:r>
            <a:endParaRPr lang="zh-CN" altLang="en-US" dirty="0">
              <a:latin typeface="汉仪君黑-45简" panose="020B0604020202020204" charset="-122"/>
              <a:ea typeface="汉仪君黑-45简" panose="020B0604020202020204" charset="-122"/>
            </a:endParaRPr>
          </a:p>
        </p:txBody>
      </p:sp>
      <p:sp>
        <p:nvSpPr>
          <p:cNvPr id="3" name="TextBox 6"/>
          <p:cNvSpPr txBox="1"/>
          <p:nvPr/>
        </p:nvSpPr>
        <p:spPr>
          <a:xfrm>
            <a:off x="4077545" y="5960344"/>
            <a:ext cx="5412339" cy="306803"/>
          </a:xfrm>
          <a:prstGeom prst="rect">
            <a:avLst/>
          </a:prstGeom>
          <a:noFill/>
        </p:spPr>
        <p:txBody>
          <a:bodyPr wrap="square" rtlCol="0">
            <a:spAutoFit/>
          </a:bodyPr>
          <a:lstStyle/>
          <a:p>
            <a:pPr algn="ctr">
              <a:lnSpc>
                <a:spcPct val="150000"/>
              </a:lnSpc>
            </a:pPr>
            <a:r>
              <a:rPr lang="en-US" altLang="en-US" sz="1000" b="1" dirty="0">
                <a:solidFill>
                  <a:schemeClr val="bg2">
                    <a:lumMod val="50000"/>
                  </a:schemeClr>
                </a:solidFill>
                <a:latin typeface="汉仪君黑-45简" panose="020B0604020202020204" charset="-122"/>
                <a:ea typeface="汉仪君黑-45简" panose="020B0604020202020204" charset="-122"/>
                <a:cs typeface="Arial" panose="020B0604020202020204" pitchFamily="34" charset="0"/>
              </a:rPr>
              <a:t>上海仙工智能科技有限公司   |   </a:t>
            </a:r>
            <a:r>
              <a:rPr lang="en-US" altLang="en-US" sz="1000" dirty="0">
                <a:solidFill>
                  <a:schemeClr val="bg2">
                    <a:lumMod val="50000"/>
                  </a:schemeClr>
                </a:solidFill>
                <a:latin typeface="汉仪君黑-45简" panose="020B0604020202020204" charset="-122"/>
                <a:ea typeface="汉仪君黑-45简" panose="020B0604020202020204" charset="-122"/>
                <a:cs typeface="Arial" panose="020B0604020202020204" pitchFamily="34" charset="0"/>
              </a:rPr>
              <a:t>www.seer-group.com/zh</a:t>
            </a:r>
            <a:endParaRPr lang="en-US" altLang="en-US" sz="1000" dirty="0">
              <a:solidFill>
                <a:schemeClr val="bg2">
                  <a:lumMod val="50000"/>
                </a:schemeClr>
              </a:solidFill>
              <a:latin typeface="汉仪君黑-45简" panose="020B0604020202020204" charset="-122"/>
              <a:ea typeface="汉仪君黑-45简" panose="020B0604020202020204" charset="-122"/>
              <a:cs typeface="Arial" panose="020B0604020202020204" pitchFamily="34" charset="0"/>
            </a:endParaRPr>
          </a:p>
        </p:txBody>
      </p:sp>
      <p:sp>
        <p:nvSpPr>
          <p:cNvPr id="4" name="灯片编号占位符 2"/>
          <p:cNvSpPr txBox="1"/>
          <p:nvPr/>
        </p:nvSpPr>
        <p:spPr>
          <a:xfrm>
            <a:off x="9174397" y="6040032"/>
            <a:ext cx="2608018" cy="377252"/>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79A829A-856A-3040-99C4-6590B8BDC937}" type="slidenum">
              <a:rPr kumimoji="1" lang="zh-CN" altLang="en-US" smtClean="0">
                <a:latin typeface="汉仪君黑-45简" panose="020B0604020202020204" charset="-122"/>
                <a:ea typeface="汉仪君黑-45简" panose="020B0604020202020204" charset="-122"/>
              </a:rPr>
            </a:fld>
            <a:endParaRPr kumimoji="1" lang="zh-CN" altLang="en-US" smtClean="0">
              <a:latin typeface="汉仪君黑-45简" panose="020B0604020202020204" charset="-122"/>
              <a:ea typeface="汉仪君黑-45简" panose="020B0604020202020204" charset="-122"/>
            </a:endParaRPr>
          </a:p>
        </p:txBody>
      </p:sp>
      <p:sp>
        <p:nvSpPr>
          <p:cNvPr id="5" name="矩形 4"/>
          <p:cNvSpPr/>
          <p:nvPr/>
        </p:nvSpPr>
        <p:spPr>
          <a:xfrm>
            <a:off x="1581929" y="1178651"/>
            <a:ext cx="5742978" cy="2210023"/>
          </a:xfrm>
          <a:prstGeom prst="rect">
            <a:avLst/>
          </a:prstGeom>
        </p:spPr>
        <p:txBody>
          <a:bodyPr wrap="square">
            <a:spAutoFit/>
          </a:bodyPr>
          <a:lstStyle/>
          <a:p>
            <a:pPr defTabSz="866775" fontAlgn="base">
              <a:lnSpc>
                <a:spcPct val="150000"/>
              </a:lnSpc>
              <a:spcBef>
                <a:spcPct val="0"/>
              </a:spcBef>
              <a:spcAft>
                <a:spcPct val="0"/>
              </a:spcAft>
            </a:pPr>
            <a:r>
              <a:rPr lang="zh-CN" altLang="zh-CN" sz="1515" b="1" noProof="1">
                <a:solidFill>
                  <a:prstClr val="white"/>
                </a:solidFill>
                <a:latin typeface="汉仪君黑-45简" panose="020B0604020202020204" charset="-122"/>
                <a:ea typeface="汉仪君黑-45简" panose="020B0604020202020204" charset="-122"/>
                <a:sym typeface="+mn-ea"/>
              </a:rPr>
              <a:t>1</a:t>
            </a:r>
            <a:r>
              <a:rPr lang="en-US" altLang="zh-CN" sz="1515" b="1" noProof="1">
                <a:solidFill>
                  <a:prstClr val="white"/>
                </a:solidFill>
                <a:latin typeface="汉仪君黑-45简" panose="020B0604020202020204" charset="-122"/>
                <a:ea typeface="汉仪君黑-45简" panose="020B0604020202020204" charset="-122"/>
                <a:sym typeface="+mn-ea"/>
              </a:rPr>
              <a:t>  </a:t>
            </a:r>
            <a:r>
              <a:rPr lang="zh-CN" altLang="en-US" sz="1515" b="1" noProof="1">
                <a:solidFill>
                  <a:prstClr val="white"/>
                </a:solidFill>
                <a:latin typeface="汉仪君黑-45简" panose="020B0604020202020204" charset="-122"/>
                <a:ea typeface="汉仪君黑-45简" panose="020B0604020202020204" charset="-122"/>
                <a:sym typeface="+mn-ea"/>
              </a:rPr>
              <a:t>物料信息</a:t>
            </a:r>
            <a:endParaRPr lang="en-US" altLang="zh-CN" sz="1515" b="1" noProof="1">
              <a:solidFill>
                <a:prstClr val="white"/>
              </a:solidFill>
              <a:latin typeface="汉仪君黑-45简" panose="020B0604020202020204" charset="-122"/>
              <a:ea typeface="汉仪君黑-45简" panose="020B0604020202020204" charset="-122"/>
              <a:sym typeface="+mn-ea"/>
            </a:endParaRPr>
          </a:p>
          <a:p>
            <a:pPr marL="271145" indent="-271145" defTabSz="866775" fontAlgn="base">
              <a:lnSpc>
                <a:spcPct val="150000"/>
              </a:lnSpc>
              <a:spcBef>
                <a:spcPct val="0"/>
              </a:spcBef>
              <a:spcAft>
                <a:spcPct val="0"/>
              </a:spcAft>
              <a:buFont typeface="Wingdings" panose="05000000000000000000" pitchFamily="2" charset="2"/>
              <a:buChar char="u"/>
            </a:pPr>
            <a:r>
              <a:rPr lang="zh-CN" altLang="en-US" sz="1515" kern="100" dirty="0">
                <a:solidFill>
                  <a:prstClr val="white"/>
                </a:solidFill>
                <a:latin typeface="汉仪君黑-45简" panose="020B0604020202020204" charset="-122"/>
                <a:ea typeface="汉仪君黑-45简" panose="020B0604020202020204" charset="-122"/>
              </a:rPr>
              <a:t>物料：弹夹。</a:t>
            </a:r>
            <a:endParaRPr lang="en-US" altLang="zh-CN" sz="1515" kern="100" dirty="0">
              <a:solidFill>
                <a:prstClr val="white"/>
              </a:solidFill>
              <a:latin typeface="汉仪君黑-45简" panose="020B0604020202020204" charset="-122"/>
              <a:ea typeface="汉仪君黑-45简" panose="020B0604020202020204" charset="-122"/>
            </a:endParaRPr>
          </a:p>
          <a:p>
            <a:pPr marL="271145" indent="-271145" defTabSz="866775" fontAlgn="base">
              <a:lnSpc>
                <a:spcPct val="150000"/>
              </a:lnSpc>
              <a:spcBef>
                <a:spcPct val="0"/>
              </a:spcBef>
              <a:spcAft>
                <a:spcPct val="0"/>
              </a:spcAft>
              <a:buFont typeface="Wingdings" panose="05000000000000000000" pitchFamily="2" charset="2"/>
              <a:buChar char="u"/>
            </a:pPr>
            <a:r>
              <a:rPr lang="zh-CN" altLang="en-US" sz="1515" kern="100" dirty="0">
                <a:solidFill>
                  <a:prstClr val="white"/>
                </a:solidFill>
                <a:latin typeface="汉仪君黑-45简" panose="020B0604020202020204" charset="-122"/>
                <a:ea typeface="汉仪君黑-45简" panose="020B0604020202020204" charset="-122"/>
              </a:rPr>
              <a:t>货物重量：单个最大</a:t>
            </a:r>
            <a:r>
              <a:rPr lang="en-US" altLang="zh-CN" sz="1515" kern="100" dirty="0">
                <a:solidFill>
                  <a:prstClr val="white"/>
                </a:solidFill>
                <a:latin typeface="汉仪君黑-45简" panose="020B0604020202020204" charset="-122"/>
                <a:ea typeface="汉仪君黑-45简" panose="020B0604020202020204" charset="-122"/>
              </a:rPr>
              <a:t>5.81KG,</a:t>
            </a:r>
            <a:endParaRPr lang="en-US" altLang="zh-CN" sz="1515" kern="100" dirty="0">
              <a:solidFill>
                <a:prstClr val="white"/>
              </a:solidFill>
              <a:latin typeface="汉仪君黑-45简" panose="020B0604020202020204" charset="-122"/>
              <a:ea typeface="汉仪君黑-45简" panose="020B0604020202020204" charset="-122"/>
            </a:endParaRPr>
          </a:p>
          <a:p>
            <a:pPr marL="271145" indent="-271145" defTabSz="866775" fontAlgn="base">
              <a:lnSpc>
                <a:spcPct val="150000"/>
              </a:lnSpc>
              <a:spcBef>
                <a:spcPct val="0"/>
              </a:spcBef>
              <a:spcAft>
                <a:spcPct val="0"/>
              </a:spcAft>
              <a:buFont typeface="Wingdings" panose="05000000000000000000" pitchFamily="2" charset="2"/>
              <a:buChar char="u"/>
            </a:pPr>
            <a:r>
              <a:rPr lang="zh-CN" altLang="en-US" sz="1515" kern="100" dirty="0">
                <a:solidFill>
                  <a:prstClr val="white"/>
                </a:solidFill>
                <a:latin typeface="汉仪君黑-45简" panose="020B0604020202020204" charset="-122"/>
                <a:ea typeface="汉仪君黑-45简" panose="020B0604020202020204" charset="-122"/>
              </a:rPr>
              <a:t>尺寸：</a:t>
            </a:r>
            <a:r>
              <a:rPr lang="en-US" altLang="zh-CN" sz="1515" kern="100" dirty="0">
                <a:solidFill>
                  <a:prstClr val="white"/>
                </a:solidFill>
                <a:latin typeface="汉仪君黑-45简" panose="020B0604020202020204" charset="-122"/>
                <a:ea typeface="汉仪君黑-45简" panose="020B0604020202020204" charset="-122"/>
              </a:rPr>
              <a:t> 230*219*311mm</a:t>
            </a:r>
            <a:endParaRPr lang="en-US" altLang="zh-CN" sz="1515" kern="100" dirty="0">
              <a:solidFill>
                <a:prstClr val="white"/>
              </a:solidFill>
              <a:latin typeface="汉仪君黑-45简" panose="020B0604020202020204" charset="-122"/>
              <a:ea typeface="汉仪君黑-45简" panose="020B0604020202020204" charset="-122"/>
            </a:endParaRPr>
          </a:p>
          <a:p>
            <a:pPr marL="271145" indent="-271145" defTabSz="866775" fontAlgn="base">
              <a:lnSpc>
                <a:spcPct val="150000"/>
              </a:lnSpc>
              <a:spcBef>
                <a:spcPct val="0"/>
              </a:spcBef>
              <a:spcAft>
                <a:spcPct val="0"/>
              </a:spcAft>
              <a:buFont typeface="Wingdings" panose="05000000000000000000" pitchFamily="2" charset="2"/>
              <a:buChar char="u"/>
            </a:pPr>
            <a:r>
              <a:rPr lang="zh-CN" altLang="en-US" sz="1515" kern="100" dirty="0">
                <a:solidFill>
                  <a:prstClr val="white"/>
                </a:solidFill>
                <a:latin typeface="汉仪君黑-45简" panose="020B0604020202020204" charset="-122"/>
                <a:ea typeface="汉仪君黑-45简" panose="020B0604020202020204" charset="-122"/>
              </a:rPr>
              <a:t>客户端系统：上位系统通过</a:t>
            </a:r>
            <a:r>
              <a:rPr lang="en-US" altLang="zh-CN" sz="1515" kern="100" dirty="0">
                <a:solidFill>
                  <a:prstClr val="white"/>
                </a:solidFill>
                <a:latin typeface="汉仪君黑-45简" panose="020B0604020202020204" charset="-122"/>
                <a:ea typeface="汉仪君黑-45简" panose="020B0604020202020204" charset="-122"/>
              </a:rPr>
              <a:t>SRD</a:t>
            </a:r>
            <a:r>
              <a:rPr lang="zh-CN" altLang="en-US" sz="1515" kern="100" dirty="0">
                <a:solidFill>
                  <a:prstClr val="white"/>
                </a:solidFill>
                <a:latin typeface="汉仪君黑-45简" panose="020B0604020202020204" charset="-122"/>
                <a:ea typeface="汉仪君黑-45简" panose="020B0604020202020204" charset="-122"/>
              </a:rPr>
              <a:t>标准</a:t>
            </a:r>
            <a:r>
              <a:rPr lang="en-US" altLang="zh-CN" sz="1515" kern="100" dirty="0">
                <a:solidFill>
                  <a:prstClr val="white"/>
                </a:solidFill>
                <a:latin typeface="汉仪君黑-45简" panose="020B0604020202020204" charset="-122"/>
                <a:ea typeface="汉仪君黑-45简" panose="020B0604020202020204" charset="-122"/>
              </a:rPr>
              <a:t>API</a:t>
            </a:r>
            <a:r>
              <a:rPr lang="zh-CN" altLang="en-US" sz="1515" kern="100" dirty="0">
                <a:solidFill>
                  <a:prstClr val="white"/>
                </a:solidFill>
                <a:latin typeface="汉仪君黑-45简" panose="020B0604020202020204" charset="-122"/>
                <a:ea typeface="汉仪君黑-45简" panose="020B0604020202020204" charset="-122"/>
              </a:rPr>
              <a:t>进行对接</a:t>
            </a:r>
            <a:endParaRPr lang="en-US" altLang="zh-CN" sz="1515" kern="100" dirty="0">
              <a:solidFill>
                <a:prstClr val="white"/>
              </a:solidFill>
              <a:latin typeface="汉仪君黑-45简" panose="020B0604020202020204" charset="-122"/>
              <a:ea typeface="汉仪君黑-45简" panose="020B0604020202020204" charset="-122"/>
            </a:endParaRPr>
          </a:p>
          <a:p>
            <a:pPr marL="271145" indent="-271145" defTabSz="866775" fontAlgn="base">
              <a:lnSpc>
                <a:spcPct val="150000"/>
              </a:lnSpc>
              <a:spcBef>
                <a:spcPct val="0"/>
              </a:spcBef>
              <a:spcAft>
                <a:spcPct val="0"/>
              </a:spcAft>
              <a:buFont typeface="Wingdings" panose="05000000000000000000" pitchFamily="2" charset="2"/>
              <a:buChar char="u"/>
            </a:pPr>
            <a:r>
              <a:rPr lang="zh-CN" altLang="en-US" sz="1515" kern="100" dirty="0">
                <a:solidFill>
                  <a:prstClr val="white"/>
                </a:solidFill>
                <a:latin typeface="汉仪君黑-45简" panose="020B0604020202020204" charset="-122"/>
                <a:ea typeface="汉仪君黑-45简" panose="020B0604020202020204" charset="-122"/>
              </a:rPr>
              <a:t>上下料：线边滚筒对接，</a:t>
            </a:r>
            <a:r>
              <a:rPr lang="en-US" altLang="zh-CN" sz="1515" kern="100" dirty="0">
                <a:solidFill>
                  <a:prstClr val="white"/>
                </a:solidFill>
                <a:latin typeface="汉仪君黑-45简" panose="020B0604020202020204" charset="-122"/>
                <a:ea typeface="汉仪君黑-45简" panose="020B0604020202020204" charset="-122"/>
              </a:rPr>
              <a:t>AGV</a:t>
            </a:r>
            <a:r>
              <a:rPr lang="zh-CN" altLang="en-US" sz="1515" kern="100" dirty="0">
                <a:solidFill>
                  <a:prstClr val="white"/>
                </a:solidFill>
                <a:latin typeface="汉仪君黑-45简" panose="020B0604020202020204" charset="-122"/>
                <a:ea typeface="汉仪君黑-45简" panose="020B0604020202020204" charset="-122"/>
              </a:rPr>
              <a:t>车身增加</a:t>
            </a:r>
            <a:r>
              <a:rPr lang="en-US" altLang="zh-CN" sz="1515" kern="100" dirty="0">
                <a:solidFill>
                  <a:prstClr val="white"/>
                </a:solidFill>
                <a:latin typeface="汉仪君黑-45简" panose="020B0604020202020204" charset="-122"/>
                <a:ea typeface="汉仪君黑-45简" panose="020B0604020202020204" charset="-122"/>
              </a:rPr>
              <a:t>4</a:t>
            </a:r>
            <a:r>
              <a:rPr lang="zh-CN" altLang="en-US" sz="1515" kern="100" dirty="0">
                <a:solidFill>
                  <a:prstClr val="white"/>
                </a:solidFill>
                <a:latin typeface="汉仪君黑-45简" panose="020B0604020202020204" charset="-122"/>
                <a:ea typeface="汉仪君黑-45简" panose="020B0604020202020204" charset="-122"/>
              </a:rPr>
              <a:t>个缓存位</a:t>
            </a:r>
            <a:endParaRPr lang="zh-CN" altLang="en-US" sz="1515" kern="100" dirty="0">
              <a:solidFill>
                <a:prstClr val="white"/>
              </a:solidFill>
              <a:latin typeface="汉仪君黑-45简" panose="020B0604020202020204" charset="-122"/>
              <a:ea typeface="汉仪君黑-45简" panose="020B0604020202020204" charset="-122"/>
            </a:endParaRPr>
          </a:p>
        </p:txBody>
      </p:sp>
      <p:sp>
        <p:nvSpPr>
          <p:cNvPr id="6" name="矩形 5"/>
          <p:cNvSpPr/>
          <p:nvPr/>
        </p:nvSpPr>
        <p:spPr>
          <a:xfrm>
            <a:off x="1418119" y="4317082"/>
            <a:ext cx="6067526" cy="1848167"/>
          </a:xfrm>
          <a:prstGeom prst="rect">
            <a:avLst/>
          </a:prstGeom>
        </p:spPr>
        <p:txBody>
          <a:bodyPr wrap="square">
            <a:spAutoFit/>
          </a:bodyPr>
          <a:lstStyle/>
          <a:p>
            <a:pPr defTabSz="866775" fontAlgn="base">
              <a:lnSpc>
                <a:spcPct val="150000"/>
              </a:lnSpc>
              <a:spcBef>
                <a:spcPct val="0"/>
              </a:spcBef>
              <a:spcAft>
                <a:spcPct val="0"/>
              </a:spcAft>
            </a:pPr>
            <a:r>
              <a:rPr lang="en-US" altLang="zh-CN" sz="1515" b="1" kern="100" dirty="0">
                <a:solidFill>
                  <a:prstClr val="white"/>
                </a:solidFill>
                <a:latin typeface="汉仪君黑-45简" panose="020B0604020202020204" charset="-122"/>
                <a:ea typeface="汉仪君黑-45简" panose="020B0604020202020204" charset="-122"/>
              </a:rPr>
              <a:t>2 </a:t>
            </a:r>
            <a:r>
              <a:rPr lang="zh-CN" altLang="en-US" sz="1515" b="1" kern="100" dirty="0">
                <a:solidFill>
                  <a:prstClr val="white"/>
                </a:solidFill>
                <a:latin typeface="汉仪君黑-45简" panose="020B0604020202020204" charset="-122"/>
                <a:ea typeface="汉仪君黑-45简" panose="020B0604020202020204" charset="-122"/>
              </a:rPr>
              <a:t>项目指标</a:t>
            </a:r>
            <a:endParaRPr lang="en-US" altLang="zh-CN" sz="1515" b="1" kern="100" dirty="0">
              <a:solidFill>
                <a:prstClr val="white"/>
              </a:solidFill>
              <a:latin typeface="汉仪君黑-45简" panose="020B0604020202020204" charset="-122"/>
              <a:ea typeface="汉仪君黑-45简" panose="020B0604020202020204" charset="-122"/>
            </a:endParaRPr>
          </a:p>
          <a:p>
            <a:pPr marL="271145" indent="-271145" defTabSz="866775" fontAlgn="base">
              <a:lnSpc>
                <a:spcPct val="150000"/>
              </a:lnSpc>
              <a:spcBef>
                <a:spcPct val="0"/>
              </a:spcBef>
              <a:spcAft>
                <a:spcPct val="0"/>
              </a:spcAft>
              <a:buFont typeface="Wingdings" panose="05000000000000000000" pitchFamily="2" charset="2"/>
              <a:buChar char="u"/>
            </a:pPr>
            <a:r>
              <a:rPr lang="zh-CN" altLang="en-US" sz="1515" kern="100" dirty="0">
                <a:solidFill>
                  <a:prstClr val="white"/>
                </a:solidFill>
                <a:latin typeface="汉仪君黑-45简" panose="020B0604020202020204" charset="-122"/>
                <a:ea typeface="汉仪君黑-45简" panose="020B0604020202020204" charset="-122"/>
              </a:rPr>
              <a:t>上位系统协调整个流程，包括产线信息读取、物料信息读取和</a:t>
            </a:r>
            <a:r>
              <a:rPr lang="en-US" altLang="zh-CN" sz="1515" kern="100" dirty="0">
                <a:solidFill>
                  <a:prstClr val="white"/>
                </a:solidFill>
                <a:latin typeface="汉仪君黑-45简" panose="020B0604020202020204" charset="-122"/>
                <a:ea typeface="汉仪君黑-45简" panose="020B0604020202020204" charset="-122"/>
              </a:rPr>
              <a:t>AGV</a:t>
            </a:r>
            <a:r>
              <a:rPr lang="zh-CN" altLang="en-US" sz="1515" kern="100" dirty="0">
                <a:solidFill>
                  <a:prstClr val="white"/>
                </a:solidFill>
                <a:latin typeface="汉仪君黑-45简" panose="020B0604020202020204" charset="-122"/>
                <a:ea typeface="汉仪君黑-45简" panose="020B0604020202020204" charset="-122"/>
              </a:rPr>
              <a:t>任务下发；</a:t>
            </a:r>
            <a:endParaRPr lang="en-US" altLang="zh-CN" sz="1515" kern="100" dirty="0">
              <a:solidFill>
                <a:prstClr val="white"/>
              </a:solidFill>
              <a:latin typeface="汉仪君黑-45简" panose="020B0604020202020204" charset="-122"/>
              <a:ea typeface="汉仪君黑-45简" panose="020B0604020202020204" charset="-122"/>
            </a:endParaRPr>
          </a:p>
          <a:p>
            <a:pPr marL="271145" indent="-271145" defTabSz="866775" fontAlgn="base">
              <a:lnSpc>
                <a:spcPct val="150000"/>
              </a:lnSpc>
              <a:spcBef>
                <a:spcPct val="0"/>
              </a:spcBef>
              <a:spcAft>
                <a:spcPct val="0"/>
              </a:spcAft>
              <a:buFont typeface="Wingdings" panose="05000000000000000000" pitchFamily="2" charset="2"/>
              <a:buChar char="u"/>
            </a:pPr>
            <a:r>
              <a:rPr lang="zh-CN" altLang="en-US" sz="1515" kern="100" dirty="0">
                <a:solidFill>
                  <a:prstClr val="white"/>
                </a:solidFill>
                <a:latin typeface="汉仪君黑-45简" panose="020B0604020202020204" charset="-122"/>
                <a:ea typeface="汉仪君黑-45简" panose="020B0604020202020204" charset="-122"/>
              </a:rPr>
              <a:t>缓存位置进行库位系统的管理，对待静置、静置中和静置完成的状态进行管理；</a:t>
            </a:r>
            <a:endParaRPr lang="zh-CN" altLang="en-US" sz="1515" kern="100" dirty="0">
              <a:solidFill>
                <a:prstClr val="white"/>
              </a:solidFill>
              <a:latin typeface="汉仪君黑-45简" panose="020B0604020202020204" charset="-122"/>
              <a:ea typeface="汉仪君黑-45简" panose="020B0604020202020204" charset="-122"/>
            </a:endParaRPr>
          </a:p>
        </p:txBody>
      </p:sp>
      <p:sp>
        <p:nvSpPr>
          <p:cNvPr id="7" name="圆角矩形 61"/>
          <p:cNvSpPr/>
          <p:nvPr/>
        </p:nvSpPr>
        <p:spPr>
          <a:xfrm>
            <a:off x="4573040" y="1565952"/>
            <a:ext cx="7360459" cy="5008467"/>
          </a:xfrm>
          <a:prstGeom prst="roundRect">
            <a:avLst>
              <a:gd name="adj" fmla="val 1066"/>
            </a:avLst>
          </a:prstGeom>
          <a:solidFill>
            <a:sysClr val="window" lastClr="FFFFFF"/>
          </a:solidFill>
          <a:ln w="12700" cap="flat" cmpd="sng" algn="ctr">
            <a:solidFill>
              <a:sysClr val="window" lastClr="FFFFFF">
                <a:lumMod val="85000"/>
              </a:sysClr>
            </a:solidFill>
            <a:prstDash val="solid"/>
            <a:miter lim="800000"/>
          </a:ln>
          <a:effectLst/>
        </p:spPr>
        <p:txBody>
          <a:bodyPr rtlCol="0" anchor="ctr"/>
          <a:lstStyle/>
          <a:p>
            <a:pPr algn="ctr" defTabSz="866775" eaLnBrk="0" hangingPunct="0">
              <a:defRPr/>
            </a:pPr>
            <a:endParaRPr lang="zh-CN" altLang="en-US" sz="1705" kern="0">
              <a:solidFill>
                <a:prstClr val="white"/>
              </a:solidFill>
              <a:latin typeface="汉仪君黑-45简" panose="020B0604020202020204" charset="-122"/>
              <a:ea typeface="汉仪君黑-45简" panose="020B0604020202020204" charset="-122"/>
            </a:endParaRPr>
          </a:p>
        </p:txBody>
      </p:sp>
      <p:sp>
        <p:nvSpPr>
          <p:cNvPr id="8" name="圆角矩形 54"/>
          <p:cNvSpPr/>
          <p:nvPr/>
        </p:nvSpPr>
        <p:spPr>
          <a:xfrm>
            <a:off x="1564056" y="1565952"/>
            <a:ext cx="2774897" cy="5008467"/>
          </a:xfrm>
          <a:prstGeom prst="roundRect">
            <a:avLst>
              <a:gd name="adj" fmla="val 2142"/>
            </a:avLst>
          </a:prstGeom>
          <a:solidFill>
            <a:sysClr val="window" lastClr="FFFFFF"/>
          </a:solidFill>
          <a:ln w="12700" cap="flat" cmpd="sng" algn="ctr">
            <a:solidFill>
              <a:sysClr val="window" lastClr="FFFFFF">
                <a:lumMod val="85000"/>
              </a:sysClr>
            </a:solidFill>
            <a:prstDash val="solid"/>
            <a:miter lim="800000"/>
          </a:ln>
          <a:effectLst/>
        </p:spPr>
        <p:txBody>
          <a:bodyPr rtlCol="0" anchor="ctr"/>
          <a:lstStyle/>
          <a:p>
            <a:pPr algn="ctr" defTabSz="866775" eaLnBrk="0" hangingPunct="0">
              <a:defRPr/>
            </a:pPr>
            <a:endParaRPr lang="zh-CN" altLang="en-US" sz="1705" kern="0">
              <a:solidFill>
                <a:prstClr val="white"/>
              </a:solidFill>
              <a:latin typeface="汉仪君黑-45简" panose="020B0604020202020204" charset="-122"/>
              <a:ea typeface="汉仪君黑-45简" panose="020B0604020202020204" charset="-122"/>
            </a:endParaRPr>
          </a:p>
        </p:txBody>
      </p:sp>
      <p:sp>
        <p:nvSpPr>
          <p:cNvPr id="9" name="文本框 8"/>
          <p:cNvSpPr txBox="1"/>
          <p:nvPr/>
        </p:nvSpPr>
        <p:spPr>
          <a:xfrm>
            <a:off x="1567973" y="1111118"/>
            <a:ext cx="2774897" cy="405849"/>
          </a:xfrm>
          <a:prstGeom prst="roundRect">
            <a:avLst/>
          </a:prstGeom>
          <a:solidFill>
            <a:srgbClr val="00B0F0"/>
          </a:solidFill>
          <a:ln>
            <a:solidFill>
              <a:sysClr val="window" lastClr="FFFFFF">
                <a:lumMod val="75000"/>
              </a:sysClr>
            </a:solidFill>
          </a:ln>
          <a:effectLst/>
        </p:spPr>
        <p:txBody>
          <a:bodyPr wrap="square">
            <a:spAutoFit/>
          </a:bodyPr>
          <a:lstStyle/>
          <a:p>
            <a:pPr marL="271145" indent="-271145" defTabSz="866775" eaLnBrk="0" hangingPunct="0">
              <a:buFont typeface="Wingdings" panose="05000000000000000000" pitchFamily="2" charset="2"/>
              <a:buChar char="l"/>
              <a:defRPr/>
            </a:pPr>
            <a:r>
              <a:rPr lang="zh-CN" altLang="en-US" sz="1705" b="1" kern="0" dirty="0">
                <a:solidFill>
                  <a:prstClr val="white"/>
                </a:solidFill>
                <a:latin typeface="汉仪君黑-45简" panose="020B0604020202020204" charset="-122"/>
                <a:ea typeface="汉仪君黑-45简" panose="020B0604020202020204" charset="-122"/>
                <a:cs typeface="+mn-ea"/>
              </a:rPr>
              <a:t>项目背景</a:t>
            </a:r>
            <a:endParaRPr lang="zh-CN" altLang="en-US" sz="1705" b="1" kern="0" dirty="0">
              <a:solidFill>
                <a:prstClr val="white"/>
              </a:solidFill>
              <a:latin typeface="汉仪君黑-45简" panose="020B0604020202020204" charset="-122"/>
              <a:ea typeface="汉仪君黑-45简" panose="020B0604020202020204" charset="-122"/>
              <a:cs typeface="+mn-ea"/>
            </a:endParaRPr>
          </a:p>
        </p:txBody>
      </p:sp>
      <p:sp>
        <p:nvSpPr>
          <p:cNvPr id="10" name="文本框 9"/>
          <p:cNvSpPr txBox="1"/>
          <p:nvPr>
            <p:custDataLst>
              <p:tags r:id="rId2"/>
            </p:custDataLst>
          </p:nvPr>
        </p:nvSpPr>
        <p:spPr>
          <a:xfrm>
            <a:off x="4573040" y="1111118"/>
            <a:ext cx="7360459" cy="405849"/>
          </a:xfrm>
          <a:prstGeom prst="roundRect">
            <a:avLst/>
          </a:prstGeom>
          <a:solidFill>
            <a:srgbClr val="FF8815"/>
          </a:solidFill>
          <a:ln>
            <a:solidFill>
              <a:sysClr val="window" lastClr="FFFFFF">
                <a:lumMod val="75000"/>
              </a:sysClr>
            </a:solidFill>
          </a:ln>
          <a:effectLst/>
        </p:spPr>
        <p:txBody>
          <a:bodyPr wrap="square">
            <a:spAutoFit/>
          </a:bodyPr>
          <a:lstStyle/>
          <a:p>
            <a:pPr marL="271145" indent="-271145" defTabSz="866775" eaLnBrk="0" hangingPunct="0">
              <a:buFont typeface="Wingdings" panose="05000000000000000000" pitchFamily="2" charset="2"/>
              <a:buChar char="l"/>
              <a:defRPr/>
            </a:pPr>
            <a:r>
              <a:rPr lang="zh-CN" altLang="en-US" sz="1705" b="1" kern="0" dirty="0">
                <a:solidFill>
                  <a:prstClr val="white"/>
                </a:solidFill>
                <a:latin typeface="汉仪君黑-45简" panose="020B0604020202020204" charset="-122"/>
                <a:ea typeface="汉仪君黑-45简" panose="020B0604020202020204" charset="-122"/>
                <a:cs typeface="+mn-ea"/>
              </a:rPr>
              <a:t>项目概况</a:t>
            </a:r>
            <a:endParaRPr lang="zh-CN" altLang="en-US" sz="1705" b="1" kern="0" dirty="0">
              <a:solidFill>
                <a:prstClr val="white"/>
              </a:solidFill>
              <a:latin typeface="汉仪君黑-45简" panose="020B0604020202020204" charset="-122"/>
              <a:ea typeface="汉仪君黑-45简" panose="020B0604020202020204" charset="-122"/>
              <a:cs typeface="+mn-ea"/>
            </a:endParaRPr>
          </a:p>
        </p:txBody>
      </p:sp>
      <p:sp>
        <p:nvSpPr>
          <p:cNvPr id="19" name="矩形 18"/>
          <p:cNvSpPr/>
          <p:nvPr/>
        </p:nvSpPr>
        <p:spPr>
          <a:xfrm>
            <a:off x="1716324" y="2351425"/>
            <a:ext cx="380145" cy="1398227"/>
          </a:xfrm>
          <a:prstGeom prst="rect">
            <a:avLst/>
          </a:prstGeom>
          <a:solidFill>
            <a:srgbClr val="00B0F0"/>
          </a:solidFill>
          <a:ln w="12700" cap="flat" cmpd="sng" algn="ctr">
            <a:solidFill>
              <a:sysClr val="window" lastClr="FFFFFF">
                <a:lumMod val="85000"/>
              </a:sysClr>
            </a:solidFill>
            <a:prstDash val="solid"/>
            <a:miter lim="800000"/>
          </a:ln>
          <a:effectLst/>
        </p:spPr>
        <p:txBody>
          <a:bodyPr rtlCol="0" anchor="ctr"/>
          <a:lstStyle/>
          <a:p>
            <a:pPr algn="ctr" defTabSz="866775" eaLnBrk="0" hangingPunct="0">
              <a:defRPr/>
            </a:pPr>
            <a:r>
              <a:rPr lang="zh-CN" altLang="en-US" sz="1515" b="1" kern="0" dirty="0">
                <a:solidFill>
                  <a:schemeClr val="bg1"/>
                </a:solidFill>
                <a:latin typeface="汉仪君黑-45简" panose="020B0604020202020204" charset="-122"/>
                <a:ea typeface="汉仪君黑-45简" panose="020B0604020202020204" charset="-122"/>
              </a:rPr>
              <a:t>行业趋势</a:t>
            </a:r>
            <a:endParaRPr lang="zh-CN" altLang="en-US" sz="1515" b="1" kern="0" dirty="0">
              <a:solidFill>
                <a:schemeClr val="bg1"/>
              </a:solidFill>
              <a:latin typeface="汉仪君黑-45简" panose="020B0604020202020204" charset="-122"/>
              <a:ea typeface="汉仪君黑-45简" panose="020B0604020202020204" charset="-122"/>
            </a:endParaRPr>
          </a:p>
        </p:txBody>
      </p:sp>
      <p:sp>
        <p:nvSpPr>
          <p:cNvPr id="20" name="矩形 19"/>
          <p:cNvSpPr/>
          <p:nvPr>
            <p:custDataLst>
              <p:tags r:id="rId3"/>
            </p:custDataLst>
          </p:nvPr>
        </p:nvSpPr>
        <p:spPr>
          <a:xfrm>
            <a:off x="2096469" y="2351425"/>
            <a:ext cx="1972297" cy="1398227"/>
          </a:xfrm>
          <a:prstGeom prst="rect">
            <a:avLst/>
          </a:prstGeom>
          <a:solidFill>
            <a:sysClr val="window" lastClr="FFFFFF"/>
          </a:solidFill>
          <a:ln w="12700" cap="flat" cmpd="sng" algn="ctr">
            <a:solidFill>
              <a:sysClr val="window" lastClr="FFFFFF">
                <a:lumMod val="85000"/>
              </a:sysClr>
            </a:solidFill>
            <a:prstDash val="lgDash"/>
            <a:miter lim="800000"/>
          </a:ln>
          <a:effectLst/>
        </p:spPr>
        <p:txBody>
          <a:bodyPr rtlCol="0" anchor="ctr"/>
          <a:lstStyle/>
          <a:p>
            <a:pPr defTabSz="866775" eaLnBrk="0" hangingPunct="0">
              <a:lnSpc>
                <a:spcPct val="150000"/>
              </a:lnSpc>
              <a:defRPr/>
            </a:pPr>
            <a:r>
              <a:rPr lang="zh-CN" altLang="en-US" sz="1140" kern="0" dirty="0">
                <a:solidFill>
                  <a:prstClr val="black"/>
                </a:solidFill>
                <a:latin typeface="汉仪君黑-45简" panose="020B0604020202020204" charset="-122"/>
                <a:ea typeface="汉仪君黑-45简" panose="020B0604020202020204" charset="-122"/>
              </a:rPr>
              <a:t>智能制造与自动化测试渗透加速，终端客户越来越依赖多通道实时测试来提升测试吞吐效率与数据可追溯性。</a:t>
            </a:r>
            <a:endParaRPr lang="zh-CN" altLang="en-US" sz="1140" kern="0" dirty="0">
              <a:solidFill>
                <a:prstClr val="black"/>
              </a:solidFill>
              <a:latin typeface="汉仪君黑-45简" panose="020B0604020202020204" charset="-122"/>
              <a:ea typeface="汉仪君黑-45简" panose="020B0604020202020204" charset="-122"/>
            </a:endParaRPr>
          </a:p>
        </p:txBody>
      </p:sp>
      <p:sp>
        <p:nvSpPr>
          <p:cNvPr id="15" name="矩形 14"/>
          <p:cNvSpPr/>
          <p:nvPr/>
        </p:nvSpPr>
        <p:spPr>
          <a:xfrm>
            <a:off x="1716324" y="4317138"/>
            <a:ext cx="380143" cy="1398226"/>
          </a:xfrm>
          <a:prstGeom prst="rect">
            <a:avLst/>
          </a:prstGeom>
          <a:solidFill>
            <a:srgbClr val="00B0F0"/>
          </a:solidFill>
          <a:ln w="12700" cap="flat" cmpd="sng" algn="ctr">
            <a:solidFill>
              <a:sysClr val="window" lastClr="FFFFFF">
                <a:lumMod val="85000"/>
              </a:sysClr>
            </a:solidFill>
            <a:prstDash val="solid"/>
            <a:miter lim="800000"/>
          </a:ln>
          <a:effectLst/>
        </p:spPr>
        <p:txBody>
          <a:bodyPr rtlCol="0" anchor="ctr"/>
          <a:lstStyle/>
          <a:p>
            <a:pPr algn="ctr" defTabSz="866775" eaLnBrk="0" hangingPunct="0">
              <a:defRPr/>
            </a:pPr>
            <a:r>
              <a:rPr lang="zh-CN" altLang="en-US" sz="1515" b="1" kern="0" dirty="0">
                <a:solidFill>
                  <a:schemeClr val="bg1"/>
                </a:solidFill>
                <a:latin typeface="汉仪君黑-45简" panose="020B0604020202020204" charset="-122"/>
                <a:ea typeface="汉仪君黑-45简" panose="020B0604020202020204" charset="-122"/>
              </a:rPr>
              <a:t>业务需求</a:t>
            </a:r>
            <a:endParaRPr lang="zh-CN" altLang="en-US" sz="1515" b="1" kern="0" dirty="0">
              <a:solidFill>
                <a:schemeClr val="bg1"/>
              </a:solidFill>
              <a:latin typeface="汉仪君黑-45简" panose="020B0604020202020204" charset="-122"/>
              <a:ea typeface="汉仪君黑-45简" panose="020B0604020202020204" charset="-122"/>
            </a:endParaRPr>
          </a:p>
        </p:txBody>
      </p:sp>
      <p:sp>
        <p:nvSpPr>
          <p:cNvPr id="16" name="矩形 15"/>
          <p:cNvSpPr/>
          <p:nvPr/>
        </p:nvSpPr>
        <p:spPr>
          <a:xfrm>
            <a:off x="2096466" y="4317138"/>
            <a:ext cx="1972299" cy="1398227"/>
          </a:xfrm>
          <a:prstGeom prst="rect">
            <a:avLst/>
          </a:prstGeom>
          <a:solidFill>
            <a:sysClr val="window" lastClr="FFFFFF"/>
          </a:solidFill>
          <a:ln w="12700" cap="flat" cmpd="sng" algn="ctr">
            <a:solidFill>
              <a:sysClr val="window" lastClr="FFFFFF">
                <a:lumMod val="85000"/>
              </a:sysClr>
            </a:solidFill>
            <a:prstDash val="lgDash"/>
            <a:miter lim="800000"/>
          </a:ln>
          <a:effectLst/>
        </p:spPr>
        <p:txBody>
          <a:bodyPr rtlCol="0" anchor="ctr"/>
          <a:lstStyle/>
          <a:p>
            <a:pPr defTabSz="866775" eaLnBrk="0" hangingPunct="0">
              <a:lnSpc>
                <a:spcPct val="130000"/>
              </a:lnSpc>
              <a:defRPr/>
            </a:pPr>
            <a:r>
              <a:rPr lang="zh-CN" altLang="en-US" sz="1140" kern="0" dirty="0">
                <a:solidFill>
                  <a:prstClr val="black"/>
                </a:solidFill>
                <a:latin typeface="汉仪君黑-45简" panose="020B0604020202020204" charset="-122"/>
                <a:ea typeface="汉仪君黑-45简" panose="020B0604020202020204" charset="-122"/>
              </a:rPr>
              <a:t>①</a:t>
            </a:r>
            <a:r>
              <a:rPr lang="en-US" altLang="zh-CN" sz="1140" kern="0" dirty="0">
                <a:solidFill>
                  <a:prstClr val="black"/>
                </a:solidFill>
                <a:latin typeface="汉仪君黑-45简" panose="020B0604020202020204" charset="-122"/>
                <a:ea typeface="汉仪君黑-45简" panose="020B0604020202020204" charset="-122"/>
              </a:rPr>
              <a:t>.</a:t>
            </a:r>
            <a:r>
              <a:rPr lang="zh-CN" altLang="en-US" sz="1140" kern="0" dirty="0">
                <a:solidFill>
                  <a:prstClr val="black"/>
                </a:solidFill>
                <a:latin typeface="汉仪君黑-45简" panose="020B0604020202020204" charset="-122"/>
                <a:ea typeface="汉仪君黑-45简" panose="020B0604020202020204" charset="-122"/>
              </a:rPr>
              <a:t>采用多通道同时测试，提升效率。</a:t>
            </a:r>
            <a:endParaRPr lang="zh-CN" altLang="en-US" sz="1140" kern="0" dirty="0">
              <a:solidFill>
                <a:prstClr val="black"/>
              </a:solidFill>
              <a:latin typeface="汉仪君黑-45简" panose="020B0604020202020204" charset="-122"/>
              <a:ea typeface="汉仪君黑-45简" panose="020B0604020202020204" charset="-122"/>
            </a:endParaRPr>
          </a:p>
          <a:p>
            <a:pPr defTabSz="866775" eaLnBrk="0" hangingPunct="0">
              <a:lnSpc>
                <a:spcPct val="130000"/>
              </a:lnSpc>
              <a:defRPr/>
            </a:pPr>
            <a:r>
              <a:rPr lang="zh-CN" altLang="en-US" sz="1140" kern="0" dirty="0">
                <a:solidFill>
                  <a:prstClr val="black"/>
                </a:solidFill>
                <a:latin typeface="汉仪君黑-45简" panose="020B0604020202020204" charset="-122"/>
                <a:ea typeface="汉仪君黑-45简" panose="020B0604020202020204" charset="-122"/>
              </a:rPr>
              <a:t>②</a:t>
            </a:r>
            <a:r>
              <a:rPr lang="en-US" altLang="zh-CN" sz="1140" kern="0" dirty="0">
                <a:solidFill>
                  <a:prstClr val="black"/>
                </a:solidFill>
                <a:latin typeface="汉仪君黑-45简" panose="020B0604020202020204" charset="-122"/>
                <a:ea typeface="汉仪君黑-45简" panose="020B0604020202020204" charset="-122"/>
              </a:rPr>
              <a:t>.</a:t>
            </a:r>
            <a:r>
              <a:rPr lang="zh-CN" altLang="en-US" sz="1140" kern="0" dirty="0">
                <a:solidFill>
                  <a:prstClr val="black"/>
                </a:solidFill>
                <a:latin typeface="汉仪君黑-45简" panose="020B0604020202020204" charset="-122"/>
                <a:ea typeface="汉仪君黑-45简" panose="020B0604020202020204" charset="-122"/>
              </a:rPr>
              <a:t>在一次采集完成后同时判断时间响应常数和最终阻值区间两者都是否合格，提升采集效率。</a:t>
            </a:r>
            <a:endParaRPr lang="zh-CN" altLang="en-US" sz="1140" kern="0" dirty="0">
              <a:solidFill>
                <a:prstClr val="black"/>
              </a:solidFill>
              <a:latin typeface="汉仪君黑-45简" panose="020B0604020202020204" charset="-122"/>
              <a:ea typeface="汉仪君黑-45简" panose="020B0604020202020204" charset="-122"/>
            </a:endParaRPr>
          </a:p>
        </p:txBody>
      </p:sp>
      <p:sp>
        <p:nvSpPr>
          <p:cNvPr id="21" name="矩形 20"/>
          <p:cNvSpPr/>
          <p:nvPr/>
        </p:nvSpPr>
        <p:spPr>
          <a:xfrm>
            <a:off x="4724400" y="1727200"/>
            <a:ext cx="429895" cy="1631950"/>
          </a:xfrm>
          <a:prstGeom prst="rect">
            <a:avLst/>
          </a:prstGeom>
          <a:solidFill>
            <a:srgbClr val="FF8815"/>
          </a:solidFill>
          <a:ln w="12700" cap="flat" cmpd="sng" algn="ctr">
            <a:solidFill>
              <a:sysClr val="window" lastClr="FFFFFF">
                <a:lumMod val="85000"/>
              </a:sysClr>
            </a:solidFill>
            <a:prstDash val="solid"/>
            <a:miter lim="800000"/>
          </a:ln>
          <a:effectLst/>
        </p:spPr>
        <p:txBody>
          <a:bodyPr rtlCol="0" anchor="ctr"/>
          <a:lstStyle/>
          <a:p>
            <a:pPr algn="ctr" defTabSz="866775" eaLnBrk="0" hangingPunct="0">
              <a:defRPr/>
            </a:pPr>
            <a:r>
              <a:rPr lang="zh-CN" altLang="en-US" sz="1515" b="1" kern="0" dirty="0">
                <a:solidFill>
                  <a:schemeClr val="bg1"/>
                </a:solidFill>
                <a:latin typeface="汉仪君黑-45简" panose="020B0604020202020204" charset="-122"/>
                <a:ea typeface="汉仪君黑-45简" panose="020B0604020202020204" charset="-122"/>
              </a:rPr>
              <a:t>工厂配置</a:t>
            </a:r>
            <a:endParaRPr lang="zh-CN" altLang="en-US" sz="1515" b="1" kern="0" dirty="0">
              <a:solidFill>
                <a:schemeClr val="bg1"/>
              </a:solidFill>
              <a:latin typeface="汉仪君黑-45简" panose="020B0604020202020204" charset="-122"/>
              <a:ea typeface="汉仪君黑-45简" panose="020B0604020202020204" charset="-122"/>
            </a:endParaRPr>
          </a:p>
        </p:txBody>
      </p:sp>
      <p:sp>
        <p:nvSpPr>
          <p:cNvPr id="22" name="矩形 21"/>
          <p:cNvSpPr/>
          <p:nvPr>
            <p:custDataLst>
              <p:tags r:id="rId4"/>
            </p:custDataLst>
          </p:nvPr>
        </p:nvSpPr>
        <p:spPr>
          <a:xfrm>
            <a:off x="5092700" y="1728470"/>
            <a:ext cx="6679565" cy="1631315"/>
          </a:xfrm>
          <a:prstGeom prst="rect">
            <a:avLst/>
          </a:prstGeom>
          <a:solidFill>
            <a:sysClr val="window" lastClr="FFFFFF"/>
          </a:solidFill>
          <a:ln w="12700" cap="flat" cmpd="sng" algn="ctr">
            <a:solidFill>
              <a:sysClr val="window" lastClr="FFFFFF">
                <a:lumMod val="85000"/>
              </a:sysClr>
            </a:solidFill>
            <a:prstDash val="lgDash"/>
            <a:miter lim="800000"/>
          </a:ln>
          <a:effectLst/>
        </p:spPr>
        <p:txBody>
          <a:bodyPr rtlCol="0" anchor="ctr"/>
          <a:lstStyle/>
          <a:p>
            <a:pPr defTabSz="866775" eaLnBrk="0" hangingPunct="0">
              <a:lnSpc>
                <a:spcPct val="150000"/>
              </a:lnSpc>
              <a:defRPr/>
            </a:pPr>
            <a:r>
              <a:rPr lang="zh-CN" altLang="en-US" sz="1140" kern="0" dirty="0">
                <a:solidFill>
                  <a:prstClr val="black"/>
                </a:solidFill>
                <a:latin typeface="汉仪君黑-45简" panose="020B0604020202020204" charset="-122"/>
                <a:ea typeface="汉仪君黑-45简" panose="020B0604020202020204" charset="-122"/>
              </a:rPr>
              <a:t>目前工厂实际测试情况根据调研如下：</a:t>
            </a:r>
            <a:endParaRPr lang="zh-CN" altLang="en-US" sz="1140" kern="0" dirty="0">
              <a:solidFill>
                <a:prstClr val="black"/>
              </a:solidFill>
              <a:latin typeface="汉仪君黑-45简" panose="020B0604020202020204" charset="-122"/>
              <a:ea typeface="汉仪君黑-45简" panose="020B0604020202020204" charset="-122"/>
            </a:endParaRPr>
          </a:p>
          <a:p>
            <a:pPr defTabSz="866775" eaLnBrk="0" hangingPunct="0">
              <a:lnSpc>
                <a:spcPct val="150000"/>
              </a:lnSpc>
              <a:defRPr/>
            </a:pPr>
            <a:r>
              <a:rPr lang="zh-CN" altLang="en-US" sz="1140" kern="0" dirty="0">
                <a:solidFill>
                  <a:prstClr val="black"/>
                </a:solidFill>
                <a:latin typeface="汉仪君黑-45简" panose="020B0604020202020204" charset="-122"/>
                <a:ea typeface="汉仪君黑-45简" panose="020B0604020202020204" charset="-122"/>
              </a:rPr>
              <a:t>①：人工放置好单个</a:t>
            </a:r>
            <a:r>
              <a:rPr lang="en-US" altLang="zh-CN" sz="1140" kern="0" dirty="0">
                <a:solidFill>
                  <a:prstClr val="black"/>
                </a:solidFill>
                <a:latin typeface="汉仪君黑-45简" panose="020B0604020202020204" charset="-122"/>
                <a:ea typeface="汉仪君黑-45简" panose="020B0604020202020204" charset="-122"/>
              </a:rPr>
              <a:t>NTC</a:t>
            </a:r>
            <a:r>
              <a:rPr lang="zh-CN" altLang="en-US" sz="1140" kern="0" dirty="0">
                <a:solidFill>
                  <a:prstClr val="black"/>
                </a:solidFill>
                <a:latin typeface="汉仪君黑-45简" panose="020B0604020202020204" charset="-122"/>
                <a:ea typeface="汉仪君黑-45简" panose="020B0604020202020204" charset="-122"/>
              </a:rPr>
              <a:t>后，由设备自主入水采集，单个采集时间根据不同产品而定，时长都大于</a:t>
            </a:r>
            <a:r>
              <a:rPr lang="en-US" altLang="zh-CN" sz="1140" kern="0" dirty="0">
                <a:solidFill>
                  <a:prstClr val="black"/>
                </a:solidFill>
                <a:latin typeface="汉仪君黑-45简" panose="020B0604020202020204" charset="-122"/>
                <a:ea typeface="汉仪君黑-45简" panose="020B0604020202020204" charset="-122"/>
              </a:rPr>
              <a:t>10s,</a:t>
            </a:r>
            <a:r>
              <a:rPr lang="zh-CN" altLang="en-US" sz="1140" kern="0" dirty="0">
                <a:solidFill>
                  <a:prstClr val="black"/>
                </a:solidFill>
                <a:latin typeface="汉仪君黑-45简" panose="020B0604020202020204" charset="-122"/>
                <a:ea typeface="汉仪君黑-45简" panose="020B0604020202020204" charset="-122"/>
              </a:rPr>
              <a:t>采集结果曲线在显示屏中显示；</a:t>
            </a:r>
            <a:endParaRPr lang="zh-CN" altLang="en-US" sz="1140" kern="0" dirty="0">
              <a:solidFill>
                <a:prstClr val="black"/>
              </a:solidFill>
              <a:latin typeface="汉仪君黑-45简" panose="020B0604020202020204" charset="-122"/>
              <a:ea typeface="汉仪君黑-45简" panose="020B0604020202020204" charset="-122"/>
            </a:endParaRPr>
          </a:p>
          <a:p>
            <a:pPr defTabSz="866775" eaLnBrk="0" hangingPunct="0">
              <a:lnSpc>
                <a:spcPct val="150000"/>
              </a:lnSpc>
              <a:defRPr/>
            </a:pPr>
            <a:r>
              <a:rPr lang="zh-CN" altLang="en-US" sz="1140" kern="0" dirty="0">
                <a:solidFill>
                  <a:prstClr val="black"/>
                </a:solidFill>
                <a:latin typeface="汉仪君黑-45简" panose="020B0604020202020204" charset="-122"/>
                <a:ea typeface="汉仪君黑-45简" panose="020B0604020202020204" charset="-122"/>
              </a:rPr>
              <a:t>②：目前采用单机台单通道，人工同时操作多个机台进行测试，测试效率慢；</a:t>
            </a:r>
            <a:endParaRPr lang="zh-CN" altLang="en-US" sz="1140" kern="0" dirty="0">
              <a:solidFill>
                <a:prstClr val="black"/>
              </a:solidFill>
              <a:latin typeface="汉仪君黑-45简" panose="020B0604020202020204" charset="-122"/>
              <a:ea typeface="汉仪君黑-45简" panose="020B0604020202020204" charset="-122"/>
            </a:endParaRPr>
          </a:p>
          <a:p>
            <a:pPr defTabSz="866775" eaLnBrk="0" hangingPunct="0">
              <a:lnSpc>
                <a:spcPct val="150000"/>
              </a:lnSpc>
              <a:defRPr/>
            </a:pPr>
            <a:r>
              <a:rPr lang="zh-CN" altLang="en-US" sz="1140" kern="0" dirty="0">
                <a:solidFill>
                  <a:prstClr val="black"/>
                </a:solidFill>
                <a:latin typeface="汉仪君黑-45简" panose="020B0604020202020204" charset="-122"/>
                <a:ea typeface="汉仪君黑-45简" panose="020B0604020202020204" charset="-122"/>
              </a:rPr>
              <a:t>③：根据工厂测试标准，需要测试最终阻值与时间响应常数（</a:t>
            </a:r>
            <a:r>
              <a:rPr lang="en-US" altLang="zh-CN" sz="1140" kern="0" dirty="0">
                <a:solidFill>
                  <a:prstClr val="black"/>
                </a:solidFill>
                <a:latin typeface="汉仪君黑-45简" panose="020B0604020202020204" charset="-122"/>
                <a:ea typeface="汉仪君黑-45简" panose="020B0604020202020204" charset="-122"/>
              </a:rPr>
              <a:t>t</a:t>
            </a:r>
            <a:r>
              <a:rPr lang="zh-CN" altLang="en-US" sz="1140" kern="0" dirty="0">
                <a:solidFill>
                  <a:prstClr val="black"/>
                </a:solidFill>
                <a:latin typeface="汉仪君黑-45简" panose="020B0604020202020204" charset="-122"/>
                <a:ea typeface="汉仪君黑-45简" panose="020B0604020202020204" charset="-122"/>
              </a:rPr>
              <a:t>）</a:t>
            </a:r>
            <a:r>
              <a:rPr lang="en-US" altLang="zh-CN" sz="1140" kern="0" dirty="0">
                <a:solidFill>
                  <a:prstClr val="black"/>
                </a:solidFill>
                <a:latin typeface="汉仪君黑-45简" panose="020B0604020202020204" charset="-122"/>
                <a:ea typeface="汉仪君黑-45简" panose="020B0604020202020204" charset="-122"/>
              </a:rPr>
              <a:t>,</a:t>
            </a:r>
            <a:r>
              <a:rPr lang="zh-CN" altLang="en-US" sz="1140" kern="0" dirty="0">
                <a:solidFill>
                  <a:prstClr val="black"/>
                </a:solidFill>
                <a:latin typeface="汉仪君黑-45简" panose="020B0604020202020204" charset="-122"/>
                <a:ea typeface="汉仪君黑-45简" panose="020B0604020202020204" charset="-122"/>
              </a:rPr>
              <a:t>根据了解目前的测试软件需要分两次数据进行判断，也就是产品需要入水两次，这极大影响效率。</a:t>
            </a:r>
            <a:endParaRPr lang="zh-CN" altLang="en-US" sz="1140" kern="0" dirty="0">
              <a:solidFill>
                <a:prstClr val="black"/>
              </a:solidFill>
              <a:latin typeface="汉仪君黑-45简" panose="020B0604020202020204" charset="-122"/>
              <a:ea typeface="汉仪君黑-45简" panose="020B0604020202020204" charset="-122"/>
            </a:endParaRPr>
          </a:p>
        </p:txBody>
      </p:sp>
      <p:sp>
        <p:nvSpPr>
          <p:cNvPr id="23" name="矩形 22"/>
          <p:cNvSpPr/>
          <p:nvPr/>
        </p:nvSpPr>
        <p:spPr>
          <a:xfrm>
            <a:off x="4707126" y="3465437"/>
            <a:ext cx="429977" cy="1399424"/>
          </a:xfrm>
          <a:prstGeom prst="rect">
            <a:avLst/>
          </a:prstGeom>
          <a:solidFill>
            <a:srgbClr val="FF8815"/>
          </a:solidFill>
          <a:ln w="12700" cap="flat" cmpd="sng" algn="ctr">
            <a:solidFill>
              <a:sysClr val="window" lastClr="FFFFFF">
                <a:lumMod val="85000"/>
              </a:sysClr>
            </a:solidFill>
            <a:prstDash val="solid"/>
            <a:miter lim="800000"/>
          </a:ln>
          <a:effectLst/>
        </p:spPr>
        <p:txBody>
          <a:bodyPr rtlCol="0" anchor="ctr"/>
          <a:lstStyle/>
          <a:p>
            <a:pPr algn="ctr" defTabSz="866775" eaLnBrk="0" hangingPunct="0">
              <a:defRPr/>
            </a:pPr>
            <a:r>
              <a:rPr lang="zh-CN" altLang="en-US" sz="1515" b="1" kern="0" dirty="0">
                <a:solidFill>
                  <a:schemeClr val="bg1"/>
                </a:solidFill>
                <a:latin typeface="汉仪君黑-45简" panose="020B0604020202020204" charset="-122"/>
                <a:ea typeface="汉仪君黑-45简" panose="020B0604020202020204" charset="-122"/>
              </a:rPr>
              <a:t>项目目的</a:t>
            </a:r>
            <a:endParaRPr lang="zh-CN" altLang="en-US" sz="1515" b="1" kern="0" dirty="0">
              <a:solidFill>
                <a:schemeClr val="bg1"/>
              </a:solidFill>
              <a:latin typeface="汉仪君黑-45简" panose="020B0604020202020204" charset="-122"/>
              <a:ea typeface="汉仪君黑-45简" panose="020B0604020202020204" charset="-122"/>
            </a:endParaRPr>
          </a:p>
        </p:txBody>
      </p:sp>
      <p:sp>
        <p:nvSpPr>
          <p:cNvPr id="24" name="矩形 23"/>
          <p:cNvSpPr/>
          <p:nvPr/>
        </p:nvSpPr>
        <p:spPr>
          <a:xfrm>
            <a:off x="5102891" y="3466532"/>
            <a:ext cx="6679455" cy="1398227"/>
          </a:xfrm>
          <a:prstGeom prst="rect">
            <a:avLst/>
          </a:prstGeom>
          <a:solidFill>
            <a:sysClr val="window" lastClr="FFFFFF"/>
          </a:solidFill>
          <a:ln w="12700" cap="flat" cmpd="sng" algn="ctr">
            <a:solidFill>
              <a:sysClr val="window" lastClr="FFFFFF">
                <a:lumMod val="85000"/>
              </a:sysClr>
            </a:solidFill>
            <a:prstDash val="lgDash"/>
            <a:miter lim="800000"/>
          </a:ln>
          <a:effectLst/>
        </p:spPr>
        <p:txBody>
          <a:bodyPr rtlCol="0" anchor="ctr"/>
          <a:lstStyle/>
          <a:p>
            <a:pPr marL="171450" indent="-171450" defTabSz="866775" eaLnBrk="0" hangingPunct="0">
              <a:lnSpc>
                <a:spcPct val="150000"/>
              </a:lnSpc>
              <a:buFont typeface="Wingdings" panose="05000000000000000000" pitchFamily="2" charset="2"/>
              <a:buChar char="Ø"/>
              <a:defRPr/>
            </a:pPr>
            <a:r>
              <a:rPr lang="zh-CN" altLang="en-US" sz="1140" b="1" kern="0" dirty="0">
                <a:solidFill>
                  <a:prstClr val="black"/>
                </a:solidFill>
                <a:latin typeface="汉仪君黑-45简" panose="020B0604020202020204" charset="-122"/>
                <a:ea typeface="汉仪君黑-45简" panose="020B0604020202020204" charset="-122"/>
              </a:rPr>
              <a:t>采用多通道同时采集，一台设备同时采集多个</a:t>
            </a:r>
            <a:r>
              <a:rPr lang="en-US" altLang="zh-CN" sz="1140" b="1" kern="0" dirty="0">
                <a:solidFill>
                  <a:prstClr val="black"/>
                </a:solidFill>
                <a:latin typeface="汉仪君黑-45简" panose="020B0604020202020204" charset="-122"/>
                <a:ea typeface="汉仪君黑-45简" panose="020B0604020202020204" charset="-122"/>
              </a:rPr>
              <a:t>NTC</a:t>
            </a:r>
            <a:r>
              <a:rPr lang="zh-CN" altLang="en-US" sz="1140" b="1" kern="0" dirty="0">
                <a:solidFill>
                  <a:prstClr val="black"/>
                </a:solidFill>
                <a:latin typeface="汉仪君黑-45简" panose="020B0604020202020204" charset="-122"/>
                <a:ea typeface="汉仪君黑-45简" panose="020B0604020202020204" charset="-122"/>
              </a:rPr>
              <a:t>电阻，实现测试效率的提升。</a:t>
            </a:r>
            <a:endParaRPr lang="zh-CN" altLang="en-US" sz="1140" b="1" kern="0" dirty="0">
              <a:solidFill>
                <a:prstClr val="black"/>
              </a:solidFill>
              <a:latin typeface="汉仪君黑-45简" panose="020B0604020202020204" charset="-122"/>
              <a:ea typeface="汉仪君黑-45简" panose="020B0604020202020204" charset="-122"/>
            </a:endParaRPr>
          </a:p>
          <a:p>
            <a:pPr marL="171450" indent="-171450" defTabSz="866775" eaLnBrk="0" hangingPunct="0">
              <a:lnSpc>
                <a:spcPct val="150000"/>
              </a:lnSpc>
              <a:buFont typeface="Wingdings" panose="05000000000000000000" pitchFamily="2" charset="2"/>
              <a:buChar char="Ø"/>
              <a:defRPr/>
            </a:pPr>
            <a:r>
              <a:rPr lang="zh-CN" altLang="en-US" sz="1140" b="1" kern="0" dirty="0">
                <a:solidFill>
                  <a:prstClr val="black"/>
                </a:solidFill>
                <a:latin typeface="汉仪君黑-45简" panose="020B0604020202020204" charset="-122"/>
                <a:ea typeface="汉仪君黑-45简" panose="020B0604020202020204" charset="-122"/>
              </a:rPr>
              <a:t>采集结果判断由开发的</a:t>
            </a:r>
            <a:r>
              <a:rPr lang="en-US" altLang="zh-CN" sz="1140" b="1" kern="0" dirty="0">
                <a:solidFill>
                  <a:prstClr val="black"/>
                </a:solidFill>
                <a:latin typeface="汉仪君黑-45简" panose="020B0604020202020204" charset="-122"/>
                <a:ea typeface="汉仪君黑-45简" panose="020B0604020202020204" charset="-122"/>
              </a:rPr>
              <a:t>C#</a:t>
            </a:r>
            <a:r>
              <a:rPr lang="zh-CN" altLang="en-US" sz="1140" b="1" kern="0" dirty="0">
                <a:solidFill>
                  <a:prstClr val="black"/>
                </a:solidFill>
                <a:latin typeface="汉仪君黑-45简" panose="020B0604020202020204" charset="-122"/>
                <a:ea typeface="汉仪君黑-45简" panose="020B0604020202020204" charset="-122"/>
              </a:rPr>
              <a:t>上位机进行判断，同时输出最终阻值与时间响应常数（</a:t>
            </a:r>
            <a:r>
              <a:rPr lang="en-US" altLang="zh-CN" sz="1140" b="1" kern="0" dirty="0">
                <a:solidFill>
                  <a:prstClr val="black"/>
                </a:solidFill>
                <a:latin typeface="汉仪君黑-45简" panose="020B0604020202020204" charset="-122"/>
                <a:ea typeface="汉仪君黑-45简" panose="020B0604020202020204" charset="-122"/>
              </a:rPr>
              <a:t>t</a:t>
            </a:r>
            <a:r>
              <a:rPr lang="zh-CN" altLang="en-US" sz="1140" b="1" kern="0" dirty="0">
                <a:solidFill>
                  <a:prstClr val="black"/>
                </a:solidFill>
                <a:latin typeface="汉仪君黑-45简" panose="020B0604020202020204" charset="-122"/>
                <a:ea typeface="汉仪君黑-45简" panose="020B0604020202020204" charset="-122"/>
              </a:rPr>
              <a:t>）是否合格。</a:t>
            </a:r>
            <a:endParaRPr lang="zh-CN" altLang="en-US" sz="1140" b="1" kern="0" dirty="0">
              <a:solidFill>
                <a:prstClr val="black"/>
              </a:solidFill>
              <a:latin typeface="汉仪君黑-45简" panose="020B0604020202020204" charset="-122"/>
              <a:ea typeface="汉仪君黑-45简" panose="020B0604020202020204" charset="-122"/>
            </a:endParaRPr>
          </a:p>
        </p:txBody>
      </p:sp>
      <p:sp>
        <p:nvSpPr>
          <p:cNvPr id="25" name="矩形 24"/>
          <p:cNvSpPr/>
          <p:nvPr/>
        </p:nvSpPr>
        <p:spPr>
          <a:xfrm>
            <a:off x="4707126" y="4968822"/>
            <a:ext cx="429977" cy="1386466"/>
          </a:xfrm>
          <a:prstGeom prst="rect">
            <a:avLst/>
          </a:prstGeom>
          <a:solidFill>
            <a:srgbClr val="FF8815"/>
          </a:solidFill>
          <a:ln w="12700" cap="flat" cmpd="sng" algn="ctr">
            <a:solidFill>
              <a:sysClr val="window" lastClr="FFFFFF">
                <a:lumMod val="85000"/>
              </a:sysClr>
            </a:solidFill>
            <a:prstDash val="solid"/>
            <a:miter lim="800000"/>
          </a:ln>
          <a:effectLst/>
        </p:spPr>
        <p:txBody>
          <a:bodyPr rtlCol="0" anchor="ctr"/>
          <a:lstStyle/>
          <a:p>
            <a:pPr algn="ctr" defTabSz="866775" eaLnBrk="0" hangingPunct="0">
              <a:defRPr/>
            </a:pPr>
            <a:r>
              <a:rPr lang="zh-CN" altLang="en-US" sz="1515" b="1" kern="0" dirty="0">
                <a:solidFill>
                  <a:schemeClr val="bg1"/>
                </a:solidFill>
                <a:latin typeface="汉仪君黑-45简" panose="020B0604020202020204" charset="-122"/>
                <a:ea typeface="汉仪君黑-45简" panose="020B0604020202020204" charset="-122"/>
              </a:rPr>
              <a:t>技术需求</a:t>
            </a:r>
            <a:endParaRPr lang="zh-CN" altLang="en-US" sz="1515" b="1" kern="0" dirty="0">
              <a:solidFill>
                <a:schemeClr val="bg1"/>
              </a:solidFill>
              <a:latin typeface="汉仪君黑-45简" panose="020B0604020202020204" charset="-122"/>
              <a:ea typeface="汉仪君黑-45简" panose="020B0604020202020204" charset="-122"/>
            </a:endParaRPr>
          </a:p>
        </p:txBody>
      </p:sp>
      <p:sp>
        <p:nvSpPr>
          <p:cNvPr id="26" name="矩形 25"/>
          <p:cNvSpPr/>
          <p:nvPr/>
        </p:nvSpPr>
        <p:spPr>
          <a:xfrm>
            <a:off x="5096541" y="4969917"/>
            <a:ext cx="6679455" cy="1447367"/>
          </a:xfrm>
          <a:prstGeom prst="rect">
            <a:avLst/>
          </a:prstGeom>
          <a:solidFill>
            <a:sysClr val="window" lastClr="FFFFFF"/>
          </a:solidFill>
          <a:ln w="12700" cap="flat" cmpd="sng" algn="ctr">
            <a:solidFill>
              <a:sysClr val="window" lastClr="FFFFFF">
                <a:lumMod val="85000"/>
              </a:sysClr>
            </a:solidFill>
            <a:prstDash val="lgDash"/>
            <a:miter lim="800000"/>
          </a:ln>
          <a:effectLst/>
        </p:spPr>
        <p:txBody>
          <a:bodyPr rtlCol="0" anchor="ctr"/>
          <a:lstStyle/>
          <a:p>
            <a:pPr marL="271145" indent="-271145" defTabSz="866775" eaLnBrk="0" hangingPunct="0">
              <a:lnSpc>
                <a:spcPct val="150000"/>
              </a:lnSpc>
              <a:buFont typeface="Wingdings" panose="05000000000000000000" pitchFamily="2" charset="2"/>
              <a:buChar char="Ø"/>
              <a:defRPr/>
            </a:pPr>
            <a:endParaRPr lang="zh-CN" altLang="en-US" sz="1140" kern="0" dirty="0">
              <a:solidFill>
                <a:prstClr val="black"/>
              </a:solidFill>
              <a:latin typeface="汉仪君黑-45简" panose="020B0604020202020204" charset="-122"/>
              <a:ea typeface="汉仪君黑-45简" panose="020B0604020202020204" charset="-122"/>
            </a:endParaRPr>
          </a:p>
          <a:p>
            <a:pPr marL="271145" indent="-271145" defTabSz="866775" eaLnBrk="0" hangingPunct="0">
              <a:lnSpc>
                <a:spcPct val="150000"/>
              </a:lnSpc>
              <a:buFont typeface="Wingdings" panose="05000000000000000000" pitchFamily="2" charset="2"/>
              <a:buChar char="Ø"/>
              <a:defRPr/>
            </a:pPr>
            <a:endParaRPr lang="zh-CN" altLang="en-US" sz="1140" kern="0" dirty="0">
              <a:solidFill>
                <a:prstClr val="black"/>
              </a:solidFill>
              <a:latin typeface="汉仪君黑-45简" panose="020B0604020202020204" charset="-122"/>
              <a:ea typeface="汉仪君黑-45简" panose="020B0604020202020204" charset="-122"/>
            </a:endParaRPr>
          </a:p>
          <a:p>
            <a:pPr marL="271145" indent="-271145" defTabSz="866775" eaLnBrk="0" hangingPunct="0">
              <a:lnSpc>
                <a:spcPct val="150000"/>
              </a:lnSpc>
              <a:buFont typeface="Wingdings" panose="05000000000000000000" pitchFamily="2" charset="2"/>
              <a:buChar char="Ø"/>
              <a:defRPr/>
            </a:pPr>
            <a:r>
              <a:rPr lang="zh-CN" altLang="en-US" sz="1140" kern="0" dirty="0">
                <a:solidFill>
                  <a:prstClr val="black"/>
                </a:solidFill>
                <a:latin typeface="汉仪君黑-45简" panose="020B0604020202020204" charset="-122"/>
                <a:ea typeface="汉仪君黑-45简" panose="020B0604020202020204" charset="-122"/>
              </a:rPr>
              <a:t>需要达到高频同时采集，采集频率在</a:t>
            </a:r>
            <a:r>
              <a:rPr lang="en-US" altLang="zh-CN" sz="1140" kern="0" dirty="0">
                <a:solidFill>
                  <a:prstClr val="black"/>
                </a:solidFill>
                <a:latin typeface="汉仪君黑-45简" panose="020B0604020202020204" charset="-122"/>
                <a:ea typeface="汉仪君黑-45简" panose="020B0604020202020204" charset="-122"/>
              </a:rPr>
              <a:t>20Hz~50Hz</a:t>
            </a:r>
            <a:r>
              <a:rPr lang="zh-CN" altLang="en-US" sz="1140" kern="0" dirty="0">
                <a:solidFill>
                  <a:prstClr val="black"/>
                </a:solidFill>
                <a:latin typeface="汉仪君黑-45简" panose="020B0604020202020204" charset="-122"/>
                <a:ea typeface="汉仪君黑-45简" panose="020B0604020202020204" charset="-122"/>
              </a:rPr>
              <a:t>；</a:t>
            </a:r>
            <a:endParaRPr lang="zh-CN" altLang="en-US" sz="1140" kern="0" dirty="0">
              <a:solidFill>
                <a:prstClr val="black"/>
              </a:solidFill>
              <a:latin typeface="汉仪君黑-45简" panose="020B0604020202020204" charset="-122"/>
              <a:ea typeface="汉仪君黑-45简" panose="020B0604020202020204" charset="-122"/>
            </a:endParaRPr>
          </a:p>
          <a:p>
            <a:pPr marL="271145" indent="-271145" defTabSz="866775" eaLnBrk="0" hangingPunct="0">
              <a:lnSpc>
                <a:spcPct val="150000"/>
              </a:lnSpc>
              <a:buFont typeface="Wingdings" panose="05000000000000000000" pitchFamily="2" charset="2"/>
              <a:buChar char="Ø"/>
              <a:defRPr/>
            </a:pPr>
            <a:r>
              <a:rPr lang="zh-CN" altLang="en-US" sz="1140" kern="0" dirty="0">
                <a:solidFill>
                  <a:prstClr val="black"/>
                </a:solidFill>
                <a:latin typeface="汉仪君黑-45简" panose="020B0604020202020204" charset="-122"/>
                <a:ea typeface="汉仪君黑-45简" panose="020B0604020202020204" charset="-122"/>
              </a:rPr>
              <a:t>上位机需要判断入水时刻，判断最终稳定阻值，然后再根据入水时刻和稳定阻值判断时间响应常数等是否合格</a:t>
            </a:r>
            <a:endParaRPr lang="zh-CN" altLang="en-US" sz="1140" kern="0" dirty="0">
              <a:solidFill>
                <a:prstClr val="black"/>
              </a:solidFill>
              <a:latin typeface="汉仪君黑-45简" panose="020B0604020202020204" charset="-122"/>
              <a:ea typeface="汉仪君黑-45简" panose="020B0604020202020204" charset="-122"/>
            </a:endParaRPr>
          </a:p>
          <a:p>
            <a:pPr marL="271145" indent="-271145" defTabSz="866775" eaLnBrk="0" hangingPunct="0">
              <a:lnSpc>
                <a:spcPct val="150000"/>
              </a:lnSpc>
              <a:buFont typeface="Wingdings" panose="05000000000000000000" pitchFamily="2" charset="2"/>
              <a:buChar char="Ø"/>
              <a:defRPr/>
            </a:pPr>
            <a:endParaRPr lang="en-US" altLang="zh-CN" sz="1140" kern="0" dirty="0">
              <a:solidFill>
                <a:prstClr val="black"/>
              </a:solidFill>
              <a:latin typeface="汉仪君黑-45简" panose="020B0604020202020204" charset="-122"/>
              <a:ea typeface="汉仪君黑-45简" panose="020B0604020202020204" charset="-122"/>
            </a:endParaRPr>
          </a:p>
          <a:p>
            <a:pPr marL="271145" indent="-271145" defTabSz="866775" eaLnBrk="0" hangingPunct="0">
              <a:lnSpc>
                <a:spcPct val="150000"/>
              </a:lnSpc>
              <a:buFont typeface="Wingdings" panose="05000000000000000000" pitchFamily="2" charset="2"/>
              <a:buChar char="Ø"/>
              <a:defRPr/>
            </a:pPr>
            <a:endParaRPr lang="en-US" altLang="zh-CN" sz="1140" kern="0" dirty="0">
              <a:solidFill>
                <a:prstClr val="black"/>
              </a:solidFill>
              <a:latin typeface="汉仪君黑-45简" panose="020B0604020202020204" charset="-122"/>
              <a:ea typeface="汉仪君黑-45简" panose="020B0604020202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汉仪君黑-45简" panose="020B0604020202020204" charset="-122"/>
                <a:ea typeface="汉仪君黑-45简" panose="020B0604020202020204" charset="-122"/>
              </a:rPr>
              <a:t>数据分析</a:t>
            </a:r>
            <a:endParaRPr lang="zh-CN" altLang="en-US" dirty="0">
              <a:latin typeface="汉仪君黑-45简" panose="020B0604020202020204" charset="-122"/>
              <a:ea typeface="汉仪君黑-45简" panose="020B0604020202020204" charset="-122"/>
            </a:endParaRPr>
          </a:p>
        </p:txBody>
      </p:sp>
      <p:graphicFrame>
        <p:nvGraphicFramePr>
          <p:cNvPr id="4" name="表格 3"/>
          <p:cNvGraphicFramePr/>
          <p:nvPr/>
        </p:nvGraphicFramePr>
        <p:xfrm>
          <a:off x="2257425" y="2293620"/>
          <a:ext cx="7677150" cy="914400"/>
        </p:xfrm>
        <a:graphic>
          <a:graphicData uri="http://schemas.openxmlformats.org/drawingml/2006/table">
            <a:tbl>
              <a:tblPr/>
              <a:tblGrid>
                <a:gridCol w="1733550"/>
                <a:gridCol w="5943600"/>
              </a:tblGrid>
              <a:tr h="190500">
                <a:tc>
                  <a:txBody>
                    <a:bodyPr/>
                    <a:p>
                      <a:pPr algn="l" fontAlgn="b"/>
                      <a:r>
                        <a:rPr lang="en-US" altLang="zh-CN" sz="1100" b="0" i="0">
                          <a:solidFill>
                            <a:srgbClr val="000000"/>
                          </a:solidFill>
                          <a:latin typeface="汉仪君黑-45简" panose="020B0604020202020204" charset="-122"/>
                          <a:ea typeface="汉仪君黑-45简" panose="020B0604020202020204" charset="-122"/>
                        </a:rPr>
                        <a:t>[2022-9-22 16:14:54]</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c>
                  <a:txBody>
                    <a:bodyPr/>
                    <a:p>
                      <a:pPr algn="l" fontAlgn="b"/>
                      <a:r>
                        <a:rPr lang="en-US" altLang="zh-CN" sz="1100" b="0" i="0">
                          <a:solidFill>
                            <a:srgbClr val="000000"/>
                          </a:solidFill>
                          <a:latin typeface="汉仪君黑-45简" panose="020B0604020202020204" charset="-122"/>
                          <a:ea typeface="汉仪君黑-45简" panose="020B0604020202020204" charset="-122"/>
                        </a:rPr>
                        <a:t>12-&gt;</a:t>
                      </a:r>
                      <a:r>
                        <a:rPr lang="en-US" altLang="zh-CN" sz="1100" b="0" i="0">
                          <a:solidFill>
                            <a:srgbClr val="FF0000"/>
                          </a:solidFill>
                          <a:latin typeface="汉仪君黑-45简" panose="020B0604020202020204" charset="-122"/>
                          <a:ea typeface="汉仪君黑-45简" panose="020B0604020202020204" charset="-122"/>
                        </a:rPr>
                        <a:t>Msr Value:8728.4</a:t>
                      </a:r>
                      <a:r>
                        <a:rPr lang="en-US" altLang="zh-CN" sz="1100" b="0" i="0">
                          <a:solidFill>
                            <a:srgbClr val="000000"/>
                          </a:solidFill>
                          <a:latin typeface="汉仪君黑-45简" panose="020B0604020202020204" charset="-122"/>
                          <a:ea typeface="汉仪君黑-45简" panose="020B0604020202020204" charset="-122"/>
                        </a:rPr>
                        <a:t>---&gt;</a:t>
                      </a:r>
                      <a:r>
                        <a:rPr lang="en-US" altLang="zh-CN" sz="1100" b="0" i="0">
                          <a:solidFill>
                            <a:srgbClr val="FF0000"/>
                          </a:solidFill>
                          <a:latin typeface="汉仪君黑-45简" panose="020B0604020202020204" charset="-122"/>
                          <a:ea typeface="汉仪君黑-45简" panose="020B0604020202020204" charset="-122"/>
                        </a:rPr>
                        <a:t>Msr Moment:15272</a:t>
                      </a:r>
                      <a:r>
                        <a:rPr lang="en-US" altLang="zh-CN" sz="1100" b="0" i="0">
                          <a:solidFill>
                            <a:srgbClr val="000000"/>
                          </a:solidFill>
                          <a:latin typeface="汉仪君黑-45简" panose="020B0604020202020204" charset="-122"/>
                          <a:ea typeface="汉仪君黑-45简" panose="020B0604020202020204" charset="-122"/>
                        </a:rPr>
                        <a:t>---&gt;Msr Time used:78---&gt;TimeLeft:6377</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solidFill>
                      <a:srgbClr val="FFFF00"/>
                    </a:solidFill>
                  </a:tcPr>
                </a:tc>
              </a:tr>
              <a:tr h="180975">
                <a:tc>
                  <a:txBody>
                    <a:bodyPr/>
                    <a:p>
                      <a:pPr algn="l" fontAlgn="b"/>
                      <a:r>
                        <a:rPr lang="en-US" altLang="zh-CN" sz="1100" b="0" i="0">
                          <a:solidFill>
                            <a:srgbClr val="000000"/>
                          </a:solidFill>
                          <a:latin typeface="汉仪君黑-45简" panose="020B0604020202020204" charset="-122"/>
                          <a:ea typeface="汉仪君黑-45简" panose="020B0604020202020204" charset="-122"/>
                        </a:rPr>
                        <a:t>[2022-9-22 16:14:54]</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c>
                  <a:txBody>
                    <a:bodyPr/>
                    <a:p>
                      <a:pPr algn="l" fontAlgn="b"/>
                      <a:r>
                        <a:rPr lang="en-US" altLang="zh-CN" sz="1100" b="0" i="0">
                          <a:solidFill>
                            <a:srgbClr val="000000"/>
                          </a:solidFill>
                          <a:latin typeface="汉仪君黑-45简" panose="020B0604020202020204" charset="-122"/>
                          <a:ea typeface="汉仪君黑-45简" panose="020B0604020202020204" charset="-122"/>
                        </a:rPr>
                        <a:t>13-&gt;Msr Value:8666.65---&gt;Msr Moment:15365---&gt;Msr Time used:31---&gt;TimeLeft:6299</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r>
              <a:tr h="180975">
                <a:tc>
                  <a:txBody>
                    <a:bodyPr/>
                    <a:p>
                      <a:pPr algn="l" fontAlgn="b"/>
                      <a:r>
                        <a:rPr lang="en-US" altLang="zh-CN" sz="1100" b="0" i="0">
                          <a:solidFill>
                            <a:srgbClr val="000000"/>
                          </a:solidFill>
                          <a:latin typeface="汉仪君黑-45简" panose="020B0604020202020204" charset="-122"/>
                          <a:ea typeface="汉仪君黑-45简" panose="020B0604020202020204" charset="-122"/>
                        </a:rPr>
                        <a:t>[2022-9-22 16:14:54]</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c>
                  <a:txBody>
                    <a:bodyPr/>
                    <a:p>
                      <a:pPr algn="l" fontAlgn="b"/>
                      <a:r>
                        <a:rPr lang="en-US" altLang="zh-CN" sz="1100" b="0" i="0">
                          <a:solidFill>
                            <a:srgbClr val="000000"/>
                          </a:solidFill>
                          <a:latin typeface="汉仪君黑-45简" panose="020B0604020202020204" charset="-122"/>
                          <a:ea typeface="汉仪君黑-45简" panose="020B0604020202020204" charset="-122"/>
                        </a:rPr>
                        <a:t>14-&gt;Msr Value:8553.61---&gt;Msr Moment:15412---&gt;Msr Time used:16---&gt;TimeLeft:6268</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r>
              <a:tr h="180975">
                <a:tc>
                  <a:txBody>
                    <a:bodyPr/>
                    <a:p>
                      <a:pPr algn="l" fontAlgn="b"/>
                      <a:r>
                        <a:rPr lang="en-US" altLang="zh-CN" sz="1100" b="0" i="0">
                          <a:solidFill>
                            <a:srgbClr val="000000"/>
                          </a:solidFill>
                          <a:latin typeface="汉仪君黑-45简" panose="020B0604020202020204" charset="-122"/>
                          <a:ea typeface="汉仪君黑-45简" panose="020B0604020202020204" charset="-122"/>
                        </a:rPr>
                        <a:t>[2022-9-22 16:14:54]</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c>
                  <a:txBody>
                    <a:bodyPr/>
                    <a:p>
                      <a:pPr algn="l" fontAlgn="b"/>
                      <a:r>
                        <a:rPr lang="en-US" altLang="zh-CN" sz="1100" b="0" i="0">
                          <a:solidFill>
                            <a:srgbClr val="000000"/>
                          </a:solidFill>
                          <a:latin typeface="汉仪君黑-45简" panose="020B0604020202020204" charset="-122"/>
                          <a:ea typeface="汉仪君黑-45简" panose="020B0604020202020204" charset="-122"/>
                        </a:rPr>
                        <a:t>15-&gt;Msr Value:8354.69---&gt;Msr Moment:15490---&gt;Msr Time used:0---&gt;TimeLeft:6252</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r>
              <a:tr h="180975">
                <a:tc>
                  <a:txBody>
                    <a:bodyPr/>
                    <a:p>
                      <a:pPr algn="l" fontAlgn="b"/>
                      <a:r>
                        <a:rPr lang="en-US" altLang="zh-CN" sz="1100" b="0" i="0">
                          <a:solidFill>
                            <a:srgbClr val="000000"/>
                          </a:solidFill>
                          <a:latin typeface="汉仪君黑-45简" panose="020B0604020202020204" charset="-122"/>
                          <a:ea typeface="汉仪君黑-45简" panose="020B0604020202020204" charset="-122"/>
                        </a:rPr>
                        <a:t>[2022-9-22 16:14:54]</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c>
                  <a:txBody>
                    <a:bodyPr/>
                    <a:p>
                      <a:pPr algn="l" fontAlgn="b"/>
                      <a:r>
                        <a:rPr lang="en-US" altLang="zh-CN" sz="1100" b="0" i="0">
                          <a:solidFill>
                            <a:srgbClr val="000000"/>
                          </a:solidFill>
                          <a:latin typeface="汉仪君黑-45简" panose="020B0604020202020204" charset="-122"/>
                          <a:ea typeface="汉仪君黑-45简" panose="020B0604020202020204" charset="-122"/>
                        </a:rPr>
                        <a:t>16-&gt;Msr Value:8137.76---&gt;Msr Moment:15584---&gt;Msr Time used:47---&gt;TimeLeft:6252</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r>
            </a:tbl>
          </a:graphicData>
        </a:graphic>
      </p:graphicFrame>
      <p:sp>
        <p:nvSpPr>
          <p:cNvPr id="5" name="文本框 4"/>
          <p:cNvSpPr txBox="1"/>
          <p:nvPr/>
        </p:nvSpPr>
        <p:spPr>
          <a:xfrm>
            <a:off x="1856740" y="1111250"/>
            <a:ext cx="9220200" cy="1115060"/>
          </a:xfrm>
          <a:prstGeom prst="rect">
            <a:avLst/>
          </a:prstGeom>
          <a:noFill/>
        </p:spPr>
        <p:txBody>
          <a:bodyPr wrap="square" rtlCol="0">
            <a:spAutoFit/>
          </a:bodyPr>
          <a:p>
            <a:pPr>
              <a:lnSpc>
                <a:spcPct val="110000"/>
              </a:lnSpc>
            </a:pPr>
            <a:r>
              <a:rPr lang="zh-CN" altLang="en-US">
                <a:latin typeface="汉仪君黑-45简" panose="020B0604020202020204" charset="-122"/>
                <a:ea typeface="汉仪君黑-45简" panose="020B0604020202020204" charset="-122"/>
              </a:rPr>
              <a:t>根据资料显示</a:t>
            </a:r>
            <a:endParaRPr lang="zh-CN" altLang="en-US">
              <a:latin typeface="汉仪君黑-45简" panose="020B0604020202020204" charset="-122"/>
              <a:ea typeface="汉仪君黑-45简" panose="020B0604020202020204" charset="-122"/>
            </a:endParaRPr>
          </a:p>
          <a:p>
            <a:pPr>
              <a:lnSpc>
                <a:spcPct val="130000"/>
              </a:lnSpc>
            </a:pPr>
            <a:r>
              <a:rPr lang="zh-CN" altLang="en-US">
                <a:latin typeface="汉仪君黑-45简" panose="020B0604020202020204" charset="-122"/>
                <a:ea typeface="汉仪君黑-45简" panose="020B0604020202020204" charset="-122"/>
              </a:rPr>
              <a:t>阻值从</a:t>
            </a:r>
            <a:r>
              <a:rPr lang="en-US" altLang="zh-CN">
                <a:latin typeface="汉仪君黑-45简" panose="020B0604020202020204" charset="-122"/>
                <a:ea typeface="汉仪君黑-45简" panose="020B0604020202020204" charset="-122"/>
              </a:rPr>
              <a:t>Msr Moment:15272</a:t>
            </a:r>
            <a:r>
              <a:rPr lang="zh-CN" altLang="en-US">
                <a:latin typeface="汉仪君黑-45简" panose="020B0604020202020204" charset="-122"/>
                <a:ea typeface="汉仪君黑-45简" panose="020B0604020202020204" charset="-122"/>
              </a:rPr>
              <a:t>时刻</a:t>
            </a:r>
            <a:r>
              <a:rPr lang="zh-CN" altLang="en-US">
                <a:latin typeface="汉仪君黑-45简" panose="020B0604020202020204" charset="-122"/>
                <a:ea typeface="汉仪君黑-45简" panose="020B0604020202020204" charset="-122"/>
                <a:sym typeface="+mn-ea"/>
              </a:rPr>
              <a:t>阻值出现连续多个下降，且幅度较大，故判断此点为入水时刻点。</a:t>
            </a:r>
            <a:endParaRPr lang="zh-CN" altLang="en-US">
              <a:latin typeface="汉仪君黑-45简" panose="020B0604020202020204" charset="-122"/>
              <a:ea typeface="汉仪君黑-45简" panose="020B0604020202020204" charset="-122"/>
              <a:sym typeface="+mn-ea"/>
            </a:endParaRPr>
          </a:p>
        </p:txBody>
      </p:sp>
      <p:sp>
        <p:nvSpPr>
          <p:cNvPr id="6" name="文本框 5"/>
          <p:cNvSpPr txBox="1"/>
          <p:nvPr/>
        </p:nvSpPr>
        <p:spPr>
          <a:xfrm>
            <a:off x="1856740" y="3275330"/>
            <a:ext cx="9220200" cy="368300"/>
          </a:xfrm>
          <a:prstGeom prst="rect">
            <a:avLst/>
          </a:prstGeom>
          <a:noFill/>
        </p:spPr>
        <p:txBody>
          <a:bodyPr wrap="square" rtlCol="0">
            <a:spAutoFit/>
          </a:bodyPr>
          <a:p>
            <a:r>
              <a:rPr lang="zh-CN" altLang="en-US">
                <a:latin typeface="汉仪君黑-45简" panose="020B0604020202020204" charset="-122"/>
                <a:ea typeface="汉仪君黑-45简" panose="020B0604020202020204" charset="-122"/>
              </a:rPr>
              <a:t>阻值在</a:t>
            </a:r>
            <a:r>
              <a:rPr lang="en-US" altLang="zh-CN">
                <a:latin typeface="汉仪君黑-45简" panose="020B0604020202020204" charset="-122"/>
                <a:ea typeface="汉仪君黑-45简" panose="020B0604020202020204" charset="-122"/>
              </a:rPr>
              <a:t>Msr Moment:28219</a:t>
            </a:r>
            <a:r>
              <a:rPr lang="zh-CN" altLang="en-US">
                <a:latin typeface="汉仪君黑-45简" panose="020B0604020202020204" charset="-122"/>
                <a:ea typeface="汉仪君黑-45简" panose="020B0604020202020204" charset="-122"/>
              </a:rPr>
              <a:t>时刻阻值最小且当前时刻为最后一组数据，故判定为最终阻值。</a:t>
            </a:r>
            <a:endParaRPr lang="zh-CN" altLang="en-US">
              <a:latin typeface="汉仪君黑-45简" panose="020B0604020202020204" charset="-122"/>
              <a:ea typeface="汉仪君黑-45简" panose="020B0604020202020204" charset="-122"/>
            </a:endParaRPr>
          </a:p>
        </p:txBody>
      </p:sp>
      <p:graphicFrame>
        <p:nvGraphicFramePr>
          <p:cNvPr id="7" name="表格 6"/>
          <p:cNvGraphicFramePr/>
          <p:nvPr/>
        </p:nvGraphicFramePr>
        <p:xfrm>
          <a:off x="2257425" y="3675063"/>
          <a:ext cx="7677150" cy="542925"/>
        </p:xfrm>
        <a:graphic>
          <a:graphicData uri="http://schemas.openxmlformats.org/drawingml/2006/table">
            <a:tbl>
              <a:tblPr/>
              <a:tblGrid>
                <a:gridCol w="1733550"/>
                <a:gridCol w="5943600"/>
              </a:tblGrid>
              <a:tr h="180975">
                <a:tc>
                  <a:txBody>
                    <a:bodyPr/>
                    <a:p>
                      <a:pPr algn="l" fontAlgn="b"/>
                      <a:r>
                        <a:rPr lang="en-US" altLang="zh-CN" sz="1100" b="0" i="0">
                          <a:solidFill>
                            <a:srgbClr val="000000"/>
                          </a:solidFill>
                          <a:latin typeface="汉仪君黑-45简" panose="020B0604020202020204" charset="-122"/>
                          <a:ea typeface="汉仪君黑-45简" panose="020B0604020202020204" charset="-122"/>
                        </a:rPr>
                        <a:t>[2022-9-22 16:15:6]</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c>
                  <a:txBody>
                    <a:bodyPr/>
                    <a:p>
                      <a:pPr algn="l" fontAlgn="b"/>
                      <a:r>
                        <a:rPr lang="en-US" altLang="zh-CN" sz="1100" b="0" i="0">
                          <a:solidFill>
                            <a:srgbClr val="000000"/>
                          </a:solidFill>
                          <a:latin typeface="汉仪君黑-45简" panose="020B0604020202020204" charset="-122"/>
                          <a:ea typeface="汉仪君黑-45简" panose="020B0604020202020204" charset="-122"/>
                        </a:rPr>
                        <a:t>144-&gt;Msr Value:2599.37---&gt;Msr Moment:27767---&gt;Msr Time used:47---&gt;TimeLeft:189</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r>
              <a:tr h="180975">
                <a:tc>
                  <a:txBody>
                    <a:bodyPr/>
                    <a:p>
                      <a:pPr algn="l" fontAlgn="b"/>
                      <a:r>
                        <a:rPr lang="en-US" altLang="zh-CN" sz="1100" b="0" i="0">
                          <a:solidFill>
                            <a:srgbClr val="000000"/>
                          </a:solidFill>
                          <a:latin typeface="汉仪君黑-45简" panose="020B0604020202020204" charset="-122"/>
                          <a:ea typeface="汉仪君黑-45简" panose="020B0604020202020204" charset="-122"/>
                        </a:rPr>
                        <a:t>[2022-9-22 16:15:7]</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c>
                  <a:txBody>
                    <a:bodyPr/>
                    <a:p>
                      <a:pPr algn="l" fontAlgn="b"/>
                      <a:r>
                        <a:rPr lang="en-US" altLang="zh-CN" sz="1100" b="0" i="0">
                          <a:solidFill>
                            <a:srgbClr val="000000"/>
                          </a:solidFill>
                          <a:latin typeface="汉仪君黑-45简" panose="020B0604020202020204" charset="-122"/>
                          <a:ea typeface="汉仪君黑-45简" panose="020B0604020202020204" charset="-122"/>
                        </a:rPr>
                        <a:t>145-&gt;Msr Value:2599.05---&gt;Msr Moment:27829---&gt;Msr Time used:62---&gt;TimeLeft:142</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r>
              <a:tr h="180975">
                <a:tc>
                  <a:txBody>
                    <a:bodyPr/>
                    <a:p>
                      <a:pPr algn="l" fontAlgn="b"/>
                      <a:r>
                        <a:rPr lang="en-US" altLang="zh-CN" sz="1100" b="0" i="0">
                          <a:solidFill>
                            <a:srgbClr val="000000"/>
                          </a:solidFill>
                          <a:latin typeface="汉仪君黑-45简" panose="020B0604020202020204" charset="-122"/>
                          <a:ea typeface="汉仪君黑-45简" panose="020B0604020202020204" charset="-122"/>
                        </a:rPr>
                        <a:t>[2022-9-22 16:15:7]</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c>
                  <a:txBody>
                    <a:bodyPr/>
                    <a:p>
                      <a:pPr algn="l" fontAlgn="b"/>
                      <a:r>
                        <a:rPr lang="en-US" altLang="zh-CN" sz="1100" b="0" i="0">
                          <a:solidFill>
                            <a:srgbClr val="000000"/>
                          </a:solidFill>
                          <a:latin typeface="汉仪君黑-45简" panose="020B0604020202020204" charset="-122"/>
                          <a:ea typeface="汉仪君黑-45简" panose="020B0604020202020204" charset="-122"/>
                        </a:rPr>
                        <a:t>146-&gt;</a:t>
                      </a:r>
                      <a:r>
                        <a:rPr lang="en-US" altLang="zh-CN" sz="1100" b="0" i="0">
                          <a:solidFill>
                            <a:srgbClr val="FF0000"/>
                          </a:solidFill>
                          <a:latin typeface="汉仪君黑-45简" panose="020B0604020202020204" charset="-122"/>
                          <a:ea typeface="汉仪君黑-45简" panose="020B0604020202020204" charset="-122"/>
                        </a:rPr>
                        <a:t>Msr Value:2596.44</a:t>
                      </a:r>
                      <a:r>
                        <a:rPr lang="en-US" altLang="zh-CN" sz="1100" b="0" i="0">
                          <a:solidFill>
                            <a:schemeClr val="tx1"/>
                          </a:solidFill>
                          <a:latin typeface="汉仪君黑-45简" panose="020B0604020202020204" charset="-122"/>
                          <a:ea typeface="汉仪君黑-45简" panose="020B0604020202020204" charset="-122"/>
                        </a:rPr>
                        <a:t>---&gt;</a:t>
                      </a:r>
                      <a:r>
                        <a:rPr lang="en-US" altLang="zh-CN" sz="1100" b="0" i="0">
                          <a:solidFill>
                            <a:srgbClr val="FF0000"/>
                          </a:solidFill>
                          <a:latin typeface="汉仪君黑-45简" panose="020B0604020202020204" charset="-122"/>
                          <a:ea typeface="汉仪君黑-45简" panose="020B0604020202020204" charset="-122"/>
                        </a:rPr>
                        <a:t>Msr Moment:28219</a:t>
                      </a:r>
                      <a:r>
                        <a:rPr lang="en-US" altLang="zh-CN" sz="1100" b="0" i="0">
                          <a:solidFill>
                            <a:srgbClr val="000000"/>
                          </a:solidFill>
                          <a:latin typeface="汉仪君黑-45简" panose="020B0604020202020204" charset="-122"/>
                          <a:ea typeface="汉仪君黑-45简" panose="020B0604020202020204" charset="-122"/>
                        </a:rPr>
                        <a:t>---&gt;Msr Time used:390---&gt;TimeLeft:80</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r>
            </a:tbl>
          </a:graphicData>
        </a:graphic>
      </p:graphicFrame>
      <p:pic>
        <p:nvPicPr>
          <p:cNvPr id="14" name="图片 13"/>
          <p:cNvPicPr>
            <a:picLocks noChangeAspect="1"/>
          </p:cNvPicPr>
          <p:nvPr/>
        </p:nvPicPr>
        <p:blipFill>
          <a:blip r:embed="rId1"/>
          <a:stretch>
            <a:fillRect/>
          </a:stretch>
        </p:blipFill>
        <p:spPr>
          <a:xfrm>
            <a:off x="2257425" y="5279390"/>
            <a:ext cx="6029325" cy="1114425"/>
          </a:xfrm>
          <a:prstGeom prst="rect">
            <a:avLst/>
          </a:prstGeom>
        </p:spPr>
      </p:pic>
      <p:sp>
        <p:nvSpPr>
          <p:cNvPr id="15" name="文本框 14"/>
          <p:cNvSpPr txBox="1"/>
          <p:nvPr/>
        </p:nvSpPr>
        <p:spPr>
          <a:xfrm>
            <a:off x="1856740" y="4317365"/>
            <a:ext cx="9220200" cy="1170305"/>
          </a:xfrm>
          <a:prstGeom prst="rect">
            <a:avLst/>
          </a:prstGeom>
          <a:noFill/>
        </p:spPr>
        <p:txBody>
          <a:bodyPr wrap="square" rtlCol="0">
            <a:spAutoFit/>
          </a:bodyPr>
          <a:p>
            <a:pPr indent="0" fontAlgn="auto">
              <a:lnSpc>
                <a:spcPct val="130000"/>
              </a:lnSpc>
            </a:pPr>
            <a:r>
              <a:rPr lang="zh-CN" altLang="en-US">
                <a:latin typeface="汉仪君黑-45简" panose="020B0604020202020204" charset="-122"/>
                <a:ea typeface="汉仪君黑-45简" panose="020B0604020202020204" charset="-122"/>
              </a:rPr>
              <a:t>根据入水点和最终点计算得到</a:t>
            </a:r>
            <a:r>
              <a:rPr lang="en-US" altLang="zh-CN">
                <a:latin typeface="汉仪君黑-45简" panose="020B0604020202020204" charset="-122"/>
                <a:ea typeface="汉仪君黑-45简" panose="020B0604020202020204" charset="-122"/>
              </a:rPr>
              <a:t>T50</a:t>
            </a:r>
            <a:r>
              <a:rPr lang="zh-CN" altLang="en-US">
                <a:latin typeface="汉仪君黑-45简" panose="020B0604020202020204" charset="-122"/>
                <a:ea typeface="汉仪君黑-45简" panose="020B0604020202020204" charset="-122"/>
              </a:rPr>
              <a:t>时刻对应的阻值应该为</a:t>
            </a:r>
            <a:r>
              <a:rPr lang="en-US" altLang="zh-CN">
                <a:latin typeface="汉仪君黑-45简" panose="020B0604020202020204" charset="-122"/>
                <a:ea typeface="汉仪君黑-45简" panose="020B0604020202020204" charset="-122"/>
                <a:sym typeface="+mn-ea"/>
              </a:rPr>
              <a:t>4624Ω</a:t>
            </a:r>
            <a:r>
              <a:rPr lang="zh-CN" altLang="en-US">
                <a:latin typeface="汉仪君黑-45简" panose="020B0604020202020204" charset="-122"/>
                <a:ea typeface="汉仪君黑-45简" panose="020B0604020202020204" charset="-122"/>
                <a:sym typeface="+mn-ea"/>
              </a:rPr>
              <a:t>，此时</a:t>
            </a:r>
            <a:r>
              <a:rPr lang="en-US" altLang="zh-CN">
                <a:latin typeface="汉仪君黑-45简" panose="020B0604020202020204" charset="-122"/>
                <a:ea typeface="汉仪君黑-45简" panose="020B0604020202020204" charset="-122"/>
                <a:sym typeface="+mn-ea"/>
              </a:rPr>
              <a:t>Msr Moment17705</a:t>
            </a:r>
            <a:r>
              <a:rPr lang="zh-CN" altLang="en-US">
                <a:latin typeface="汉仪君黑-45简" panose="020B0604020202020204" charset="-122"/>
                <a:ea typeface="汉仪君黑-45简" panose="020B0604020202020204" charset="-122"/>
                <a:sym typeface="+mn-ea"/>
              </a:rPr>
              <a:t>时刻与该阻值相近，故以此点位</a:t>
            </a:r>
            <a:r>
              <a:rPr lang="en-US" altLang="zh-CN">
                <a:latin typeface="汉仪君黑-45简" panose="020B0604020202020204" charset="-122"/>
                <a:ea typeface="汉仪君黑-45简" panose="020B0604020202020204" charset="-122"/>
                <a:sym typeface="+mn-ea"/>
              </a:rPr>
              <a:t>T50</a:t>
            </a:r>
            <a:r>
              <a:rPr lang="zh-CN" altLang="en-US">
                <a:latin typeface="汉仪君黑-45简" panose="020B0604020202020204" charset="-122"/>
                <a:ea typeface="汉仪君黑-45简" panose="020B0604020202020204" charset="-122"/>
                <a:sym typeface="+mn-ea"/>
              </a:rPr>
              <a:t>时刻的时间点。由此可得</a:t>
            </a:r>
            <a:r>
              <a:rPr lang="en-US" altLang="zh-CN">
                <a:latin typeface="汉仪君黑-45简" panose="020B0604020202020204" charset="-122"/>
                <a:ea typeface="汉仪君黑-45简" panose="020B0604020202020204" charset="-122"/>
                <a:sym typeface="+mn-ea"/>
              </a:rPr>
              <a:t>T50</a:t>
            </a:r>
            <a:r>
              <a:rPr lang="zh-CN" altLang="en-US">
                <a:latin typeface="汉仪君黑-45简" panose="020B0604020202020204" charset="-122"/>
                <a:ea typeface="汉仪君黑-45简" panose="020B0604020202020204" charset="-122"/>
                <a:sym typeface="+mn-ea"/>
              </a:rPr>
              <a:t>：</a:t>
            </a:r>
            <a:r>
              <a:rPr lang="en-US" altLang="zh-CN">
                <a:latin typeface="汉仪君黑-45简" panose="020B0604020202020204" charset="-122"/>
                <a:ea typeface="汉仪君黑-45简" panose="020B0604020202020204" charset="-122"/>
                <a:sym typeface="+mn-ea"/>
              </a:rPr>
              <a:t>17705-15272=2433ms</a:t>
            </a:r>
            <a:r>
              <a:rPr lang="zh-CN" altLang="en-US">
                <a:latin typeface="汉仪君黑-45简" panose="020B0604020202020204" charset="-122"/>
                <a:ea typeface="汉仪君黑-45简" panose="020B0604020202020204" charset="-122"/>
                <a:sym typeface="+mn-ea"/>
              </a:rPr>
              <a:t>。</a:t>
            </a:r>
            <a:endParaRPr lang="zh-CN" altLang="en-US">
              <a:latin typeface="汉仪君黑-45简" panose="020B0604020202020204" charset="-122"/>
              <a:ea typeface="汉仪君黑-45简" panose="020B0604020202020204"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汉仪君黑-45简" panose="020B0604020202020204" charset="-122"/>
                <a:ea typeface="汉仪君黑-45简" panose="020B0604020202020204" charset="-122"/>
              </a:rPr>
              <a:t>数据分析</a:t>
            </a:r>
            <a:endParaRPr lang="zh-CN" altLang="en-US" dirty="0">
              <a:latin typeface="汉仪君黑-45简" panose="020B0604020202020204" charset="-122"/>
              <a:ea typeface="汉仪君黑-45简" panose="020B0604020202020204" charset="-122"/>
            </a:endParaRPr>
          </a:p>
        </p:txBody>
      </p:sp>
      <p:sp>
        <p:nvSpPr>
          <p:cNvPr id="9" name="文本框 8"/>
          <p:cNvSpPr txBox="1"/>
          <p:nvPr/>
        </p:nvSpPr>
        <p:spPr>
          <a:xfrm>
            <a:off x="1564005" y="890905"/>
            <a:ext cx="4064000" cy="368300"/>
          </a:xfrm>
          <a:prstGeom prst="rect">
            <a:avLst/>
          </a:prstGeom>
          <a:noFill/>
        </p:spPr>
        <p:txBody>
          <a:bodyPr wrap="square" rtlCol="0">
            <a:spAutoFit/>
          </a:bodyPr>
          <a:p>
            <a:r>
              <a:rPr lang="en-US" altLang="zh-CN">
                <a:latin typeface="汉仪君黑-45简" panose="020B0604020202020204" charset="-122"/>
                <a:ea typeface="汉仪君黑-45简" panose="020B0604020202020204" charset="-122"/>
              </a:rPr>
              <a:t>T50</a:t>
            </a:r>
            <a:r>
              <a:rPr lang="zh-CN" altLang="en-US">
                <a:latin typeface="汉仪君黑-45简" panose="020B0604020202020204" charset="-122"/>
                <a:ea typeface="汉仪君黑-45简" panose="020B0604020202020204" charset="-122"/>
              </a:rPr>
              <a:t>计算示例：</a:t>
            </a:r>
            <a:endParaRPr lang="zh-CN" altLang="en-US">
              <a:latin typeface="汉仪君黑-45简" panose="020B0604020202020204" charset="-122"/>
              <a:ea typeface="汉仪君黑-45简" panose="020B0604020202020204" charset="-122"/>
            </a:endParaRPr>
          </a:p>
        </p:txBody>
      </p:sp>
      <p:pic>
        <p:nvPicPr>
          <p:cNvPr id="11" name="图片 10"/>
          <p:cNvPicPr>
            <a:picLocks noChangeAspect="1"/>
          </p:cNvPicPr>
          <p:nvPr/>
        </p:nvPicPr>
        <p:blipFill>
          <a:blip r:embed="rId1"/>
          <a:stretch>
            <a:fillRect/>
          </a:stretch>
        </p:blipFill>
        <p:spPr>
          <a:xfrm>
            <a:off x="1990725" y="1259205"/>
            <a:ext cx="5191125" cy="1543050"/>
          </a:xfrm>
          <a:prstGeom prst="rect">
            <a:avLst/>
          </a:prstGeom>
        </p:spPr>
      </p:pic>
      <p:pic>
        <p:nvPicPr>
          <p:cNvPr id="12" name="图片 11"/>
          <p:cNvPicPr>
            <a:picLocks noChangeAspect="1"/>
          </p:cNvPicPr>
          <p:nvPr/>
        </p:nvPicPr>
        <p:blipFill>
          <a:blip r:embed="rId2"/>
          <a:stretch>
            <a:fillRect/>
          </a:stretch>
        </p:blipFill>
        <p:spPr>
          <a:xfrm>
            <a:off x="1990725" y="2726055"/>
            <a:ext cx="6076950" cy="3362325"/>
          </a:xfrm>
          <a:prstGeom prst="rect">
            <a:avLst/>
          </a:prstGeom>
        </p:spPr>
      </p:pic>
      <p:sp>
        <p:nvSpPr>
          <p:cNvPr id="13" name="文本框 12"/>
          <p:cNvSpPr txBox="1"/>
          <p:nvPr/>
        </p:nvSpPr>
        <p:spPr>
          <a:xfrm>
            <a:off x="1990725" y="6202680"/>
            <a:ext cx="8783955" cy="368300"/>
          </a:xfrm>
          <a:prstGeom prst="rect">
            <a:avLst/>
          </a:prstGeom>
          <a:noFill/>
        </p:spPr>
        <p:txBody>
          <a:bodyPr wrap="square" rtlCol="0">
            <a:spAutoFit/>
          </a:bodyPr>
          <a:p>
            <a:r>
              <a:rPr lang="en-US" altLang="zh-CN">
                <a:latin typeface="汉仪君黑-45简" panose="020B0604020202020204" charset="-122"/>
                <a:ea typeface="汉仪君黑-45简" panose="020B0604020202020204" charset="-122"/>
              </a:rPr>
              <a:t>4624Ω</a:t>
            </a:r>
            <a:r>
              <a:rPr lang="zh-CN" altLang="en-US">
                <a:latin typeface="汉仪君黑-45简" panose="020B0604020202020204" charset="-122"/>
                <a:ea typeface="汉仪君黑-45简" panose="020B0604020202020204" charset="-122"/>
              </a:rPr>
              <a:t>该结果与资料中的数据一致，计算时间差可得：</a:t>
            </a:r>
            <a:r>
              <a:rPr lang="en-US" altLang="zh-CN">
                <a:latin typeface="汉仪君黑-45简" panose="020B0604020202020204" charset="-122"/>
                <a:ea typeface="汉仪君黑-45简" panose="020B0604020202020204" charset="-122"/>
              </a:rPr>
              <a:t>2433ms</a:t>
            </a:r>
            <a:endParaRPr lang="en-US" altLang="zh-CN">
              <a:latin typeface="汉仪君黑-45简" panose="020B0604020202020204" charset="-122"/>
              <a:ea typeface="汉仪君黑-45简" panose="020B0604020202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汉仪君黑-45简" panose="020B0604020202020204" charset="-122"/>
                <a:ea typeface="汉仪君黑-45简" panose="020B0604020202020204" charset="-122"/>
              </a:rPr>
              <a:t>数据分析</a:t>
            </a:r>
            <a:endParaRPr lang="zh-CN" altLang="en-US" dirty="0">
              <a:latin typeface="汉仪君黑-45简" panose="020B0604020202020204" charset="-122"/>
              <a:ea typeface="汉仪君黑-45简" panose="020B0604020202020204" charset="-122"/>
            </a:endParaRPr>
          </a:p>
        </p:txBody>
      </p:sp>
      <p:pic>
        <p:nvPicPr>
          <p:cNvPr id="8" name="图片 1"/>
          <p:cNvPicPr/>
          <p:nvPr/>
        </p:nvPicPr>
        <p:blipFill>
          <a:blip r:embed="rId3"/>
          <a:stretch>
            <a:fillRect/>
          </a:stretch>
        </p:blipFill>
        <p:spPr>
          <a:xfrm>
            <a:off x="1708150" y="1359535"/>
            <a:ext cx="9413875" cy="5175250"/>
          </a:xfrm>
          <a:prstGeom prst="rect">
            <a:avLst/>
          </a:prstGeom>
          <a:extLst>
            <a:ext uri="{8CAD56D8-0F58-4FB8-B24C-77498146470C}">
              <wpswe:webExtensionRef xmlns:wpswe="http://www.wps.cn/officeDocument/2018/webExtension" r:id="rId2"/>
            </a:ext>
            <wpswe:webExtensionRef xmlns:wpswe="http://www.wps.cn/officeDocument/2018/webExtension" r:id="rId2"/>
          </a:extLst>
        </p:spPr>
      </p:pic>
      <p:sp>
        <p:nvSpPr>
          <p:cNvPr id="10" name="文本框 9"/>
          <p:cNvSpPr txBox="1"/>
          <p:nvPr/>
        </p:nvSpPr>
        <p:spPr>
          <a:xfrm>
            <a:off x="1564005" y="935355"/>
            <a:ext cx="4064000" cy="368300"/>
          </a:xfrm>
          <a:prstGeom prst="rect">
            <a:avLst/>
          </a:prstGeom>
          <a:noFill/>
        </p:spPr>
        <p:txBody>
          <a:bodyPr wrap="square" rtlCol="0">
            <a:spAutoFit/>
          </a:bodyPr>
          <a:p>
            <a:r>
              <a:rPr lang="zh-CN" altLang="en-US">
                <a:latin typeface="汉仪君黑-45简" panose="020B0604020202020204" charset="-122"/>
                <a:ea typeface="汉仪君黑-45简" panose="020B0604020202020204" charset="-122"/>
              </a:rPr>
              <a:t>根据所提供资料所绘画的动态曲线图：</a:t>
            </a:r>
            <a:endParaRPr lang="zh-CN" altLang="en-US">
              <a:latin typeface="汉仪君黑-45简" panose="020B0604020202020204" charset="-122"/>
              <a:ea typeface="汉仪君黑-45简" panose="020B0604020202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349929" y="3472404"/>
            <a:ext cx="1840374" cy="461665"/>
          </a:xfrm>
          <a:prstGeom prst="rect">
            <a:avLst/>
          </a:prstGeom>
          <a:noFill/>
        </p:spPr>
        <p:txBody>
          <a:bodyPr wrap="square" rtlCol="0">
            <a:spAutoFit/>
          </a:bodyPr>
          <a:lstStyle/>
          <a:p>
            <a:r>
              <a:rPr lang="zh-CN" altLang="en-US" sz="2400" b="1" dirty="0">
                <a:latin typeface="汉仪君黑-45简" panose="020B0604020202020204" charset="-122"/>
                <a:ea typeface="汉仪君黑-45简" panose="020B0604020202020204" charset="-122"/>
              </a:rPr>
              <a:t>项目背景</a:t>
            </a:r>
            <a:endParaRPr lang="zh-CN" altLang="en-US" sz="2400" b="1" dirty="0">
              <a:latin typeface="汉仪君黑-45简" panose="020B0604020202020204" charset="-122"/>
              <a:ea typeface="汉仪君黑-45简" panose="020B0604020202020204" charset="-122"/>
            </a:endParaRPr>
          </a:p>
        </p:txBody>
      </p:sp>
      <p:sp>
        <p:nvSpPr>
          <p:cNvPr id="3" name="文本框 2"/>
          <p:cNvSpPr txBox="1"/>
          <p:nvPr/>
        </p:nvSpPr>
        <p:spPr>
          <a:xfrm>
            <a:off x="10083483" y="3472404"/>
            <a:ext cx="1840374" cy="461665"/>
          </a:xfrm>
          <a:prstGeom prst="rect">
            <a:avLst/>
          </a:prstGeom>
          <a:noFill/>
        </p:spPr>
        <p:txBody>
          <a:bodyPr wrap="square" rtlCol="0">
            <a:spAutoFit/>
          </a:bodyPr>
          <a:lstStyle/>
          <a:p>
            <a:r>
              <a:rPr lang="zh-CN" altLang="en-US" sz="2400" b="1" dirty="0">
                <a:solidFill>
                  <a:srgbClr val="FF8815"/>
                </a:solidFill>
                <a:latin typeface="汉仪君黑-45简" panose="020B0604020202020204" charset="-122"/>
                <a:ea typeface="汉仪君黑-45简" panose="020B0604020202020204" charset="-122"/>
              </a:rPr>
              <a:t>解决方案</a:t>
            </a:r>
            <a:endParaRPr lang="zh-CN" altLang="en-US" sz="2400" b="1" dirty="0">
              <a:solidFill>
                <a:srgbClr val="FF8815"/>
              </a:solidFill>
              <a:latin typeface="汉仪君黑-45简" panose="020B0604020202020204" charset="-122"/>
              <a:ea typeface="汉仪君黑-45简" panose="020B0604020202020204" charset="-122"/>
            </a:endParaRPr>
          </a:p>
        </p:txBody>
      </p:sp>
      <p:sp>
        <p:nvSpPr>
          <p:cNvPr id="4" name="文本框 3"/>
          <p:cNvSpPr txBox="1"/>
          <p:nvPr/>
        </p:nvSpPr>
        <p:spPr>
          <a:xfrm>
            <a:off x="7349929" y="4285526"/>
            <a:ext cx="1840374" cy="461665"/>
          </a:xfrm>
          <a:prstGeom prst="rect">
            <a:avLst/>
          </a:prstGeom>
          <a:noFill/>
        </p:spPr>
        <p:txBody>
          <a:bodyPr wrap="square" rtlCol="0">
            <a:spAutoFit/>
          </a:bodyPr>
          <a:lstStyle/>
          <a:p>
            <a:r>
              <a:rPr lang="zh-CN" altLang="en-US" sz="2400" b="1" dirty="0">
                <a:latin typeface="汉仪君黑-45简" panose="020B0604020202020204" charset="-122"/>
                <a:ea typeface="汉仪君黑-45简" panose="020B0604020202020204" charset="-122"/>
              </a:rPr>
              <a:t>实施部署</a:t>
            </a:r>
            <a:endParaRPr lang="zh-CN" altLang="en-US" sz="2400" b="1" dirty="0">
              <a:latin typeface="汉仪君黑-45简" panose="020B0604020202020204" charset="-122"/>
              <a:ea typeface="汉仪君黑-45简" panose="020B0604020202020204" charset="-122"/>
            </a:endParaRPr>
          </a:p>
        </p:txBody>
      </p:sp>
      <p:sp>
        <p:nvSpPr>
          <p:cNvPr id="5" name="文本框 4"/>
          <p:cNvSpPr txBox="1"/>
          <p:nvPr/>
        </p:nvSpPr>
        <p:spPr>
          <a:xfrm>
            <a:off x="10083483" y="4285526"/>
            <a:ext cx="1840374" cy="461665"/>
          </a:xfrm>
          <a:prstGeom prst="rect">
            <a:avLst/>
          </a:prstGeom>
          <a:noFill/>
        </p:spPr>
        <p:txBody>
          <a:bodyPr wrap="square" rtlCol="0">
            <a:spAutoFit/>
          </a:bodyPr>
          <a:lstStyle/>
          <a:p>
            <a:r>
              <a:rPr lang="zh-CN" altLang="en-US" sz="2400" b="1" dirty="0">
                <a:latin typeface="汉仪君黑-45简" panose="020B0604020202020204" charset="-122"/>
                <a:ea typeface="汉仪君黑-45简" panose="020B0604020202020204" charset="-122"/>
              </a:rPr>
              <a:t>配置计划</a:t>
            </a:r>
            <a:endParaRPr lang="zh-CN" altLang="en-US" sz="2400" b="1" dirty="0">
              <a:latin typeface="汉仪君黑-45简" panose="020B0604020202020204" charset="-122"/>
              <a:ea typeface="汉仪君黑-45简" panose="020B0604020202020204" charset="-122"/>
            </a:endParaRPr>
          </a:p>
        </p:txBody>
      </p:sp>
      <p:sp>
        <p:nvSpPr>
          <p:cNvPr id="6" name="文本框 5"/>
          <p:cNvSpPr txBox="1"/>
          <p:nvPr/>
        </p:nvSpPr>
        <p:spPr>
          <a:xfrm>
            <a:off x="6974794" y="3380339"/>
            <a:ext cx="532432" cy="584775"/>
          </a:xfrm>
          <a:prstGeom prst="rect">
            <a:avLst/>
          </a:prstGeom>
          <a:noFill/>
        </p:spPr>
        <p:txBody>
          <a:bodyPr wrap="square" rtlCol="0">
            <a:spAutoFit/>
          </a:bodyPr>
          <a:lstStyle/>
          <a:p>
            <a:r>
              <a:rPr lang="en-US" altLang="zh-CN" sz="3200" b="1" dirty="0">
                <a:latin typeface="汉仪君黑-45简" panose="020B0604020202020204" charset="-122"/>
                <a:ea typeface="汉仪君黑-45简" panose="020B0604020202020204" charset="-122"/>
              </a:rPr>
              <a:t>1</a:t>
            </a:r>
            <a:r>
              <a:rPr lang="zh-CN" altLang="en-US" sz="3200" b="1" dirty="0">
                <a:latin typeface="汉仪君黑-45简" panose="020B0604020202020204" charset="-122"/>
                <a:ea typeface="汉仪君黑-45简" panose="020B0604020202020204" charset="-122"/>
              </a:rPr>
              <a:t>、</a:t>
            </a:r>
            <a:endParaRPr lang="zh-CN" altLang="en-US" sz="3200" b="1" dirty="0">
              <a:latin typeface="汉仪君黑-45简" panose="020B0604020202020204" charset="-122"/>
              <a:ea typeface="汉仪君黑-45简" panose="020B0604020202020204" charset="-122"/>
            </a:endParaRPr>
          </a:p>
        </p:txBody>
      </p:sp>
      <p:sp>
        <p:nvSpPr>
          <p:cNvPr id="7" name="文本框 6"/>
          <p:cNvSpPr txBox="1"/>
          <p:nvPr/>
        </p:nvSpPr>
        <p:spPr>
          <a:xfrm>
            <a:off x="9684157" y="3357189"/>
            <a:ext cx="532432" cy="584775"/>
          </a:xfrm>
          <a:prstGeom prst="rect">
            <a:avLst/>
          </a:prstGeom>
          <a:noFill/>
        </p:spPr>
        <p:txBody>
          <a:bodyPr wrap="square" rtlCol="0">
            <a:spAutoFit/>
          </a:bodyPr>
          <a:lstStyle/>
          <a:p>
            <a:r>
              <a:rPr lang="en-US" altLang="zh-CN" sz="3200" b="1" dirty="0">
                <a:solidFill>
                  <a:srgbClr val="FF8815"/>
                </a:solidFill>
                <a:latin typeface="汉仪君黑-45简" panose="020B0604020202020204" charset="-122"/>
                <a:ea typeface="汉仪君黑-45简" panose="020B0604020202020204" charset="-122"/>
              </a:rPr>
              <a:t>2</a:t>
            </a:r>
            <a:r>
              <a:rPr lang="zh-CN" altLang="en-US" sz="3200" b="1" dirty="0">
                <a:solidFill>
                  <a:srgbClr val="FF8815"/>
                </a:solidFill>
                <a:latin typeface="汉仪君黑-45简" panose="020B0604020202020204" charset="-122"/>
                <a:ea typeface="汉仪君黑-45简" panose="020B0604020202020204" charset="-122"/>
              </a:rPr>
              <a:t>、</a:t>
            </a:r>
            <a:endParaRPr lang="zh-CN" altLang="en-US" sz="3200" b="1" dirty="0">
              <a:solidFill>
                <a:srgbClr val="FF8815"/>
              </a:solidFill>
              <a:latin typeface="汉仪君黑-45简" panose="020B0604020202020204" charset="-122"/>
              <a:ea typeface="汉仪君黑-45简" panose="020B0604020202020204" charset="-122"/>
            </a:endParaRPr>
          </a:p>
        </p:txBody>
      </p:sp>
      <p:sp>
        <p:nvSpPr>
          <p:cNvPr id="8" name="文本框 7"/>
          <p:cNvSpPr txBox="1"/>
          <p:nvPr/>
        </p:nvSpPr>
        <p:spPr>
          <a:xfrm>
            <a:off x="6974794" y="4193461"/>
            <a:ext cx="532432" cy="584775"/>
          </a:xfrm>
          <a:prstGeom prst="rect">
            <a:avLst/>
          </a:prstGeom>
          <a:noFill/>
        </p:spPr>
        <p:txBody>
          <a:bodyPr wrap="square" rtlCol="0">
            <a:spAutoFit/>
          </a:bodyPr>
          <a:lstStyle/>
          <a:p>
            <a:r>
              <a:rPr lang="en-US" altLang="zh-CN" sz="3200" b="1" dirty="0">
                <a:latin typeface="汉仪君黑-45简" panose="020B0604020202020204" charset="-122"/>
                <a:ea typeface="汉仪君黑-45简" panose="020B0604020202020204" charset="-122"/>
              </a:rPr>
              <a:t>3</a:t>
            </a:r>
            <a:r>
              <a:rPr lang="zh-CN" altLang="en-US" sz="3200" b="1" dirty="0">
                <a:latin typeface="汉仪君黑-45简" panose="020B0604020202020204" charset="-122"/>
                <a:ea typeface="汉仪君黑-45简" panose="020B0604020202020204" charset="-122"/>
              </a:rPr>
              <a:t>、</a:t>
            </a:r>
            <a:endParaRPr lang="zh-CN" altLang="en-US" sz="3200" b="1" dirty="0">
              <a:latin typeface="汉仪君黑-45简" panose="020B0604020202020204" charset="-122"/>
              <a:ea typeface="汉仪君黑-45简" panose="020B0604020202020204" charset="-122"/>
            </a:endParaRPr>
          </a:p>
        </p:txBody>
      </p:sp>
      <p:sp>
        <p:nvSpPr>
          <p:cNvPr id="9" name="文本框 8"/>
          <p:cNvSpPr txBox="1"/>
          <p:nvPr/>
        </p:nvSpPr>
        <p:spPr>
          <a:xfrm>
            <a:off x="9684157" y="4205036"/>
            <a:ext cx="532432" cy="584775"/>
          </a:xfrm>
          <a:prstGeom prst="rect">
            <a:avLst/>
          </a:prstGeom>
          <a:noFill/>
        </p:spPr>
        <p:txBody>
          <a:bodyPr wrap="square" rtlCol="0">
            <a:spAutoFit/>
          </a:bodyPr>
          <a:lstStyle/>
          <a:p>
            <a:r>
              <a:rPr lang="en-US" altLang="zh-CN" sz="3200" b="1" dirty="0">
                <a:latin typeface="汉仪君黑-45简" panose="020B0604020202020204" charset="-122"/>
                <a:ea typeface="汉仪君黑-45简" panose="020B0604020202020204" charset="-122"/>
              </a:rPr>
              <a:t>4</a:t>
            </a:r>
            <a:r>
              <a:rPr lang="zh-CN" altLang="en-US" sz="3200" b="1" dirty="0">
                <a:latin typeface="汉仪君黑-45简" panose="020B0604020202020204" charset="-122"/>
                <a:ea typeface="汉仪君黑-45简" panose="020B0604020202020204" charset="-122"/>
              </a:rPr>
              <a:t>、</a:t>
            </a:r>
            <a:endParaRPr lang="zh-CN" altLang="en-US" sz="3200" b="1" dirty="0">
              <a:latin typeface="汉仪君黑-45简" panose="020B0604020202020204" charset="-122"/>
              <a:ea typeface="汉仪君黑-45简" panose="020B0604020202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汉仪君黑-45简" panose="020B0604020202020204" charset="-122"/>
                <a:ea typeface="汉仪君黑-45简" panose="020B0604020202020204" charset="-122"/>
              </a:rPr>
              <a:t>方案介绍</a:t>
            </a:r>
            <a:endParaRPr lang="zh-CN" altLang="en-US" dirty="0">
              <a:latin typeface="汉仪君黑-45简" panose="020B0604020202020204" charset="-122"/>
              <a:ea typeface="汉仪君黑-45简" panose="020B0604020202020204" charset="-122"/>
            </a:endParaRPr>
          </a:p>
        </p:txBody>
      </p:sp>
      <p:sp>
        <p:nvSpPr>
          <p:cNvPr id="4" name="文本框 3"/>
          <p:cNvSpPr txBox="1"/>
          <p:nvPr>
            <p:custDataLst>
              <p:tags r:id="rId1"/>
            </p:custDataLst>
          </p:nvPr>
        </p:nvSpPr>
        <p:spPr>
          <a:xfrm>
            <a:off x="1732915" y="1268730"/>
            <a:ext cx="5095875" cy="4954270"/>
          </a:xfrm>
          <a:prstGeom prst="rect">
            <a:avLst/>
          </a:prstGeom>
          <a:noFill/>
        </p:spPr>
        <p:txBody>
          <a:bodyPr wrap="square" rtlCol="0">
            <a:noAutofit/>
          </a:bodyPr>
          <a:p>
            <a:pPr algn="just"/>
            <a:r>
              <a:rPr lang="zh-CN" altLang="en-US">
                <a:latin typeface="汉仪君黑-45简" panose="020B0604020202020204" charset="-122"/>
                <a:ea typeface="汉仪君黑-45简" panose="020B0604020202020204" charset="-122"/>
              </a:rPr>
              <a:t>一、解决方案</a:t>
            </a:r>
            <a:endParaRPr lang="zh-CN" altLang="en-US">
              <a:latin typeface="汉仪君黑-45简" panose="020B0604020202020204" charset="-122"/>
              <a:ea typeface="汉仪君黑-45简" panose="020B0604020202020204" charset="-122"/>
            </a:endParaRPr>
          </a:p>
          <a:p>
            <a:pPr indent="457200" algn="just">
              <a:lnSpc>
                <a:spcPct val="150000"/>
              </a:lnSpc>
            </a:pPr>
            <a:r>
              <a:rPr lang="zh-CN" altLang="en-US">
                <a:latin typeface="汉仪君黑-45简" panose="020B0604020202020204" charset="-122"/>
                <a:ea typeface="汉仪君黑-45简" panose="020B0604020202020204" charset="-122"/>
              </a:rPr>
              <a:t>①：采用</a:t>
            </a:r>
            <a:r>
              <a:rPr lang="en-US" altLang="zh-CN">
                <a:latin typeface="汉仪君黑-45简" panose="020B0604020202020204" charset="-122"/>
                <a:ea typeface="汉仪君黑-45简" panose="020B0604020202020204" charset="-122"/>
              </a:rPr>
              <a:t>SCADA</a:t>
            </a:r>
            <a:r>
              <a:rPr lang="zh-CN" altLang="en-US">
                <a:latin typeface="汉仪君黑-45简" panose="020B0604020202020204" charset="-122"/>
                <a:ea typeface="汉仪君黑-45简" panose="020B0604020202020204" charset="-122"/>
              </a:rPr>
              <a:t>系统，进行高频率高并发的数据采集，对数据进行高效的处理，对测试结果</a:t>
            </a:r>
            <a:r>
              <a:rPr lang="zh-CN" altLang="en-US" kern="0" dirty="0">
                <a:solidFill>
                  <a:prstClr val="black"/>
                </a:solidFill>
                <a:latin typeface="汉仪君黑-45简" panose="020B0604020202020204" charset="-122"/>
                <a:ea typeface="汉仪君黑-45简" panose="020B0604020202020204" charset="-122"/>
              </a:rPr>
              <a:t>进行合理的判断，并将数据保存至数据库中，方便数据的历史追溯。</a:t>
            </a:r>
            <a:endParaRPr lang="zh-CN" altLang="en-US" kern="0" dirty="0">
              <a:solidFill>
                <a:prstClr val="black"/>
              </a:solidFill>
              <a:latin typeface="汉仪君黑-45简" panose="020B0604020202020204" charset="-122"/>
              <a:ea typeface="汉仪君黑-45简" panose="020B0604020202020204" charset="-122"/>
            </a:endParaRPr>
          </a:p>
          <a:p>
            <a:pPr indent="457200" algn="just">
              <a:lnSpc>
                <a:spcPct val="150000"/>
              </a:lnSpc>
            </a:pPr>
            <a:r>
              <a:rPr lang="zh-CN" altLang="en-US" kern="0" dirty="0">
                <a:solidFill>
                  <a:prstClr val="black"/>
                </a:solidFill>
                <a:latin typeface="汉仪君黑-45简" panose="020B0604020202020204" charset="-122"/>
                <a:ea typeface="汉仪君黑-45简" panose="020B0604020202020204" charset="-122"/>
              </a:rPr>
              <a:t>②：采用是德</a:t>
            </a:r>
            <a:r>
              <a:rPr lang="en-US" altLang="zh-CN" kern="0" dirty="0">
                <a:solidFill>
                  <a:prstClr val="black"/>
                </a:solidFill>
                <a:latin typeface="汉仪君黑-45简" panose="020B0604020202020204" charset="-122"/>
                <a:ea typeface="汉仪君黑-45简" panose="020B0604020202020204" charset="-122"/>
              </a:rPr>
              <a:t>DAQ970A</a:t>
            </a:r>
            <a:r>
              <a:rPr lang="zh-CN" altLang="en-US" kern="0" dirty="0">
                <a:solidFill>
                  <a:prstClr val="black"/>
                </a:solidFill>
                <a:latin typeface="汉仪君黑-45简" panose="020B0604020202020204" charset="-122"/>
                <a:ea typeface="汉仪君黑-45简" panose="020B0604020202020204" charset="-122"/>
              </a:rPr>
              <a:t>多通道数据采集仪表</a:t>
            </a:r>
            <a:r>
              <a:rPr lang="en-US" altLang="zh-CN" kern="0" dirty="0">
                <a:solidFill>
                  <a:prstClr val="black"/>
                </a:solidFill>
                <a:latin typeface="汉仪君黑-45简" panose="020B0604020202020204" charset="-122"/>
                <a:ea typeface="汉仪君黑-45简" panose="020B0604020202020204" charset="-122"/>
              </a:rPr>
              <a:t>+</a:t>
            </a:r>
            <a:r>
              <a:rPr lang="en-US" altLang="zh-CN" kern="0" dirty="0">
                <a:solidFill>
                  <a:prstClr val="black"/>
                </a:solidFill>
                <a:latin typeface="汉仪君黑-45简" panose="020B0604020202020204" charset="-122"/>
                <a:ea typeface="汉仪君黑-45简" panose="020B0604020202020204" charset="-122"/>
                <a:sym typeface="+mn-ea"/>
              </a:rPr>
              <a:t>DAQM909A </a:t>
            </a:r>
            <a:r>
              <a:rPr lang="zh-CN" altLang="en-US" kern="0" dirty="0">
                <a:solidFill>
                  <a:prstClr val="black"/>
                </a:solidFill>
                <a:latin typeface="汉仪君黑-45简" panose="020B0604020202020204" charset="-122"/>
                <a:ea typeface="汉仪君黑-45简" panose="020B0604020202020204" charset="-122"/>
              </a:rPr>
              <a:t>（</a:t>
            </a:r>
            <a:r>
              <a:rPr lang="en-US" altLang="zh-CN" kern="0" dirty="0">
                <a:solidFill>
                  <a:prstClr val="black"/>
                </a:solidFill>
                <a:latin typeface="汉仪君黑-45简" panose="020B0604020202020204" charset="-122"/>
                <a:ea typeface="汉仪君黑-45简" panose="020B0604020202020204" charset="-122"/>
              </a:rPr>
              <a:t>4 </a:t>
            </a:r>
            <a:r>
              <a:rPr lang="zh-CN" altLang="en-US" kern="0" dirty="0">
                <a:solidFill>
                  <a:prstClr val="black"/>
                </a:solidFill>
                <a:latin typeface="汉仪君黑-45简" panose="020B0604020202020204" charset="-122"/>
                <a:ea typeface="汉仪君黑-45简" panose="020B0604020202020204" charset="-122"/>
              </a:rPr>
              <a:t>通道同步采样模块），将原有单通道水槽测试流程升级为并行测试架构。通过NTC探头的批量入槽，统一在设定时间窗口内采集温度曲线，自动计算T50/T63/T90时间常数并输出判定结果，同时判断最终测试阻值是否合格。</a:t>
            </a:r>
            <a:endParaRPr lang="zh-CN" altLang="en-US" kern="0" dirty="0">
              <a:solidFill>
                <a:prstClr val="black"/>
              </a:solidFill>
              <a:latin typeface="汉仪君黑-45简" panose="020B0604020202020204" charset="-122"/>
              <a:ea typeface="汉仪君黑-45简" panose="020B0604020202020204" charset="-122"/>
            </a:endParaRPr>
          </a:p>
          <a:p>
            <a:pPr indent="457200" algn="just">
              <a:lnSpc>
                <a:spcPct val="150000"/>
              </a:lnSpc>
            </a:pPr>
            <a:endParaRPr lang="zh-CN" altLang="en-US">
              <a:latin typeface="汉仪君黑-45简" panose="020B0604020202020204" charset="-122"/>
              <a:ea typeface="汉仪君黑-45简" panose="020B0604020202020204" charset="-122"/>
            </a:endParaRPr>
          </a:p>
          <a:p>
            <a:pPr indent="457200" algn="just">
              <a:lnSpc>
                <a:spcPct val="150000"/>
              </a:lnSpc>
            </a:pPr>
            <a:endParaRPr lang="zh-CN" altLang="en-US">
              <a:latin typeface="汉仪君黑-45简" panose="020B0604020202020204" charset="-122"/>
              <a:ea typeface="汉仪君黑-45简" panose="020B0604020202020204" charset="-122"/>
            </a:endParaRPr>
          </a:p>
          <a:p>
            <a:pPr indent="457200" algn="just">
              <a:lnSpc>
                <a:spcPct val="150000"/>
              </a:lnSpc>
            </a:pPr>
            <a:endParaRPr lang="zh-CN" altLang="en-US">
              <a:latin typeface="汉仪君黑-45简" panose="020B0604020202020204" charset="-122"/>
              <a:ea typeface="汉仪君黑-45简" panose="020B0604020202020204" charset="-122"/>
            </a:endParaRPr>
          </a:p>
          <a:p>
            <a:pPr indent="457200" algn="just">
              <a:lnSpc>
                <a:spcPct val="150000"/>
              </a:lnSpc>
            </a:pPr>
            <a:endParaRPr lang="zh-CN" altLang="en-US">
              <a:latin typeface="汉仪君黑-45简" panose="020B0604020202020204" charset="-122"/>
              <a:ea typeface="汉仪君黑-45简" panose="020B0604020202020204" charset="-122"/>
            </a:endParaRPr>
          </a:p>
          <a:p>
            <a:pPr indent="457200" algn="just">
              <a:lnSpc>
                <a:spcPct val="150000"/>
              </a:lnSpc>
            </a:pPr>
            <a:endParaRPr lang="zh-CN" altLang="en-US">
              <a:latin typeface="汉仪君黑-45简" panose="020B0604020202020204" charset="-122"/>
              <a:ea typeface="汉仪君黑-45简" panose="020B0604020202020204" charset="-122"/>
            </a:endParaRPr>
          </a:p>
        </p:txBody>
      </p:sp>
      <p:pic>
        <p:nvPicPr>
          <p:cNvPr id="6" name="图片 5"/>
          <p:cNvPicPr/>
          <p:nvPr/>
        </p:nvPicPr>
        <p:blipFill>
          <a:blip r:embed="rId2"/>
          <a:stretch>
            <a:fillRect/>
          </a:stretch>
        </p:blipFill>
        <p:spPr>
          <a:xfrm>
            <a:off x="6483985" y="882015"/>
            <a:ext cx="5327015" cy="3159125"/>
          </a:xfrm>
          <a:prstGeom prst="rect">
            <a:avLst/>
          </a:prstGeom>
        </p:spPr>
      </p:pic>
      <p:pic>
        <p:nvPicPr>
          <p:cNvPr id="8" name="图片 7"/>
          <p:cNvPicPr/>
          <p:nvPr/>
        </p:nvPicPr>
        <p:blipFill>
          <a:blip r:embed="rId3"/>
          <a:stretch>
            <a:fillRect/>
          </a:stretch>
        </p:blipFill>
        <p:spPr>
          <a:xfrm>
            <a:off x="6576060" y="3624580"/>
            <a:ext cx="5234305" cy="2655570"/>
          </a:xfrm>
          <a:prstGeom prst="rect">
            <a:avLst/>
          </a:prstGeom>
        </p:spPr>
      </p:pic>
      <p:sp>
        <p:nvSpPr>
          <p:cNvPr id="9" name="文本框 8"/>
          <p:cNvSpPr txBox="1"/>
          <p:nvPr/>
        </p:nvSpPr>
        <p:spPr>
          <a:xfrm>
            <a:off x="7568565" y="3429000"/>
            <a:ext cx="4064000" cy="368300"/>
          </a:xfrm>
          <a:prstGeom prst="rect">
            <a:avLst/>
          </a:prstGeom>
          <a:noFill/>
        </p:spPr>
        <p:txBody>
          <a:bodyPr wrap="square" rtlCol="0">
            <a:spAutoFit/>
          </a:bodyPr>
          <a:p>
            <a:r>
              <a:rPr lang="en-US" altLang="zh-CN" kern="0" dirty="0">
                <a:solidFill>
                  <a:prstClr val="black"/>
                </a:solidFill>
                <a:latin typeface="汉仪君黑-45简" panose="020B0604020202020204" charset="-122"/>
                <a:ea typeface="汉仪君黑-45简" panose="020B0604020202020204" charset="-122"/>
                <a:sym typeface="+mn-ea"/>
              </a:rPr>
              <a:t>DAQ970A</a:t>
            </a:r>
            <a:r>
              <a:rPr lang="zh-CN" altLang="en-US" kern="0" dirty="0">
                <a:solidFill>
                  <a:prstClr val="black"/>
                </a:solidFill>
                <a:latin typeface="汉仪君黑-45简" panose="020B0604020202020204" charset="-122"/>
                <a:ea typeface="汉仪君黑-45简" panose="020B0604020202020204" charset="-122"/>
                <a:sym typeface="+mn-ea"/>
              </a:rPr>
              <a:t>多通道数据采集仪表</a:t>
            </a:r>
            <a:endParaRPr lang="zh-CN" altLang="en-US" u="heavy" kern="0" dirty="0">
              <a:solidFill>
                <a:prstClr val="black"/>
              </a:solidFill>
              <a:latin typeface="汉仪君黑-45简" panose="020B0604020202020204" charset="-122"/>
              <a:ea typeface="汉仪君黑-45简" panose="020B0604020202020204" charset="-122"/>
              <a:sym typeface="+mn-ea"/>
            </a:endParaRPr>
          </a:p>
        </p:txBody>
      </p:sp>
      <p:sp>
        <p:nvSpPr>
          <p:cNvPr id="10" name="文本框 9"/>
          <p:cNvSpPr txBox="1"/>
          <p:nvPr/>
        </p:nvSpPr>
        <p:spPr>
          <a:xfrm>
            <a:off x="7412990" y="6115050"/>
            <a:ext cx="4064000" cy="368300"/>
          </a:xfrm>
          <a:prstGeom prst="rect">
            <a:avLst/>
          </a:prstGeom>
          <a:noFill/>
        </p:spPr>
        <p:txBody>
          <a:bodyPr wrap="square" rtlCol="0">
            <a:spAutoFit/>
          </a:bodyPr>
          <a:p>
            <a:r>
              <a:rPr lang="en-US" altLang="zh-CN" kern="0" dirty="0">
                <a:solidFill>
                  <a:prstClr val="black"/>
                </a:solidFill>
                <a:latin typeface="汉仪君黑-45简" panose="020B0604020202020204" charset="-122"/>
                <a:ea typeface="汉仪君黑-45简" panose="020B0604020202020204" charset="-122"/>
                <a:sym typeface="+mn-ea"/>
              </a:rPr>
              <a:t>DAQM909A </a:t>
            </a:r>
            <a:r>
              <a:rPr lang="zh-CN" altLang="en-US" kern="0" dirty="0">
                <a:solidFill>
                  <a:prstClr val="black"/>
                </a:solidFill>
                <a:latin typeface="汉仪君黑-45简" panose="020B0604020202020204" charset="-122"/>
                <a:ea typeface="汉仪君黑-45简" panose="020B0604020202020204" charset="-122"/>
                <a:sym typeface="+mn-ea"/>
              </a:rPr>
              <a:t>（</a:t>
            </a:r>
            <a:r>
              <a:rPr lang="en-US" altLang="zh-CN" kern="0" dirty="0">
                <a:solidFill>
                  <a:prstClr val="black"/>
                </a:solidFill>
                <a:latin typeface="汉仪君黑-45简" panose="020B0604020202020204" charset="-122"/>
                <a:ea typeface="汉仪君黑-45简" panose="020B0604020202020204" charset="-122"/>
                <a:sym typeface="+mn-ea"/>
              </a:rPr>
              <a:t>4 </a:t>
            </a:r>
            <a:r>
              <a:rPr lang="zh-CN" altLang="en-US" kern="0" dirty="0">
                <a:solidFill>
                  <a:prstClr val="black"/>
                </a:solidFill>
                <a:latin typeface="汉仪君黑-45简" panose="020B0604020202020204" charset="-122"/>
                <a:ea typeface="汉仪君黑-45简" panose="020B0604020202020204" charset="-122"/>
                <a:sym typeface="+mn-ea"/>
              </a:rPr>
              <a:t>通道同步采样模块）</a:t>
            </a:r>
            <a:endParaRPr lang="zh-CN" altLang="en-US" kern="0" dirty="0">
              <a:solidFill>
                <a:prstClr val="black"/>
              </a:solidFill>
              <a:latin typeface="汉仪君黑-45简" panose="020B0604020202020204" charset="-122"/>
              <a:ea typeface="汉仪君黑-45简" panose="020B0604020202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汉仪君黑-45简" panose="020B0604020202020204" charset="-122"/>
                <a:ea typeface="汉仪君黑-45简" panose="020B0604020202020204" charset="-122"/>
              </a:rPr>
              <a:t>方案介绍</a:t>
            </a:r>
            <a:endParaRPr lang="zh-CN" altLang="en-US" dirty="0">
              <a:latin typeface="汉仪君黑-45简" panose="020B0604020202020204" charset="-122"/>
              <a:ea typeface="汉仪君黑-45简" panose="020B0604020202020204" charset="-122"/>
            </a:endParaRPr>
          </a:p>
        </p:txBody>
      </p:sp>
      <p:sp>
        <p:nvSpPr>
          <p:cNvPr id="5" name="文本框 4"/>
          <p:cNvSpPr txBox="1"/>
          <p:nvPr>
            <p:custDataLst>
              <p:tags r:id="rId1"/>
            </p:custDataLst>
          </p:nvPr>
        </p:nvSpPr>
        <p:spPr>
          <a:xfrm>
            <a:off x="1693545" y="1194435"/>
            <a:ext cx="4874895" cy="4792980"/>
          </a:xfrm>
          <a:prstGeom prst="rect">
            <a:avLst/>
          </a:prstGeom>
          <a:noFill/>
        </p:spPr>
        <p:txBody>
          <a:bodyPr wrap="square" rtlCol="0">
            <a:noAutofit/>
          </a:bodyPr>
          <a:p>
            <a:pPr algn="just"/>
            <a:r>
              <a:rPr lang="zh-CN" altLang="en-US">
                <a:latin typeface="汉仪君黑-45简" panose="020B0604020202020204" charset="-122"/>
                <a:ea typeface="汉仪君黑-45简" panose="020B0604020202020204" charset="-122"/>
              </a:rPr>
              <a:t>二、方案预计效果</a:t>
            </a:r>
            <a:endParaRPr lang="zh-CN" altLang="en-US">
              <a:latin typeface="汉仪君黑-45简" panose="020B0604020202020204" charset="-122"/>
              <a:ea typeface="汉仪君黑-45简" panose="020B0604020202020204" charset="-122"/>
            </a:endParaRPr>
          </a:p>
          <a:p>
            <a:pPr indent="457200" algn="just">
              <a:lnSpc>
                <a:spcPct val="150000"/>
              </a:lnSpc>
              <a:buClrTx/>
              <a:buSzTx/>
              <a:buFontTx/>
            </a:pPr>
            <a:r>
              <a:rPr lang="zh-CN" altLang="en-US" kern="0" dirty="0">
                <a:solidFill>
                  <a:prstClr val="black"/>
                </a:solidFill>
                <a:latin typeface="汉仪君黑-45简" panose="020B0604020202020204" charset="-122"/>
                <a:ea typeface="汉仪君黑-45简" panose="020B0604020202020204" charset="-122"/>
              </a:rPr>
              <a:t>①：通过多通道的同时采集将提高NTC热敏电阻的采集效率。</a:t>
            </a:r>
            <a:endParaRPr lang="zh-CN" altLang="en-US" kern="0" dirty="0">
              <a:solidFill>
                <a:prstClr val="black"/>
              </a:solidFill>
              <a:latin typeface="汉仪君黑-45简" panose="020B0604020202020204" charset="-122"/>
              <a:ea typeface="汉仪君黑-45简" panose="020B0604020202020204" charset="-122"/>
            </a:endParaRPr>
          </a:p>
          <a:p>
            <a:pPr indent="457200" algn="just">
              <a:lnSpc>
                <a:spcPct val="140000"/>
              </a:lnSpc>
              <a:buClrTx/>
              <a:buSzTx/>
              <a:buFontTx/>
            </a:pPr>
            <a:r>
              <a:rPr lang="zh-CN" altLang="en-US" kern="0" dirty="0">
                <a:solidFill>
                  <a:prstClr val="black"/>
                </a:solidFill>
                <a:latin typeface="汉仪君黑-45简" panose="020B0604020202020204" charset="-122"/>
                <a:ea typeface="汉仪君黑-45简" panose="020B0604020202020204" charset="-122"/>
              </a:rPr>
              <a:t>②：通过SCADA系统的高频率与高并发采集处理，将实现一次采集同时对</a:t>
            </a:r>
            <a:r>
              <a:rPr lang="zh-CN" altLang="en-US" kern="0" dirty="0">
                <a:solidFill>
                  <a:prstClr val="black"/>
                </a:solidFill>
                <a:latin typeface="汉仪君黑-45简" panose="020B0604020202020204" charset="-122"/>
                <a:ea typeface="汉仪君黑-45简" panose="020B0604020202020204" charset="-122"/>
                <a:sym typeface="+mn-ea"/>
              </a:rPr>
              <a:t>最终阻值与时间响应常数（t）做出判断处理，无需二次采集，提高采集的效果与速率。</a:t>
            </a:r>
            <a:endParaRPr lang="zh-CN" altLang="en-US" kern="0" dirty="0">
              <a:solidFill>
                <a:prstClr val="black"/>
              </a:solidFill>
              <a:latin typeface="汉仪君黑-45简" panose="020B0604020202020204" charset="-122"/>
              <a:ea typeface="汉仪君黑-45简" panose="020B0604020202020204" charset="-122"/>
              <a:sym typeface="+mn-ea"/>
            </a:endParaRPr>
          </a:p>
          <a:p>
            <a:pPr indent="457200" algn="just">
              <a:lnSpc>
                <a:spcPct val="140000"/>
              </a:lnSpc>
            </a:pPr>
            <a:r>
              <a:rPr lang="zh-CN" altLang="en-US" kern="0" dirty="0">
                <a:solidFill>
                  <a:prstClr val="black"/>
                </a:solidFill>
                <a:latin typeface="汉仪君黑-45简" panose="020B0604020202020204" charset="-122"/>
                <a:ea typeface="汉仪君黑-45简" panose="020B0604020202020204" charset="-122"/>
                <a:sym typeface="+mn-ea"/>
              </a:rPr>
              <a:t>③：数据可追溯性，通过</a:t>
            </a:r>
            <a:r>
              <a:rPr lang="en-US" altLang="zh-CN" kern="0" dirty="0">
                <a:solidFill>
                  <a:prstClr val="black"/>
                </a:solidFill>
                <a:latin typeface="汉仪君黑-45简" panose="020B0604020202020204" charset="-122"/>
                <a:ea typeface="汉仪君黑-45简" panose="020B0604020202020204" charset="-122"/>
                <a:sym typeface="+mn-ea"/>
              </a:rPr>
              <a:t>SCADA</a:t>
            </a:r>
            <a:r>
              <a:rPr lang="zh-CN" altLang="en-US" kern="0" dirty="0">
                <a:solidFill>
                  <a:prstClr val="black"/>
                </a:solidFill>
                <a:latin typeface="汉仪君黑-45简" panose="020B0604020202020204" charset="-122"/>
                <a:ea typeface="汉仪君黑-45简" panose="020B0604020202020204" charset="-122"/>
                <a:sym typeface="+mn-ea"/>
              </a:rPr>
              <a:t>系统的数据库保存功能，可以将采集的数据保存至数据库中，通过历史记录溯源历史数据，同时可以提供对当天测试结果的统计与</a:t>
            </a:r>
            <a:r>
              <a:rPr lang="zh-CN" altLang="en-US" kern="0" dirty="0">
                <a:solidFill>
                  <a:prstClr val="black"/>
                </a:solidFill>
                <a:latin typeface="汉仪君黑-45简" panose="020B0604020202020204" charset="-122"/>
                <a:ea typeface="汉仪君黑-45简" panose="020B0604020202020204" charset="-122"/>
                <a:sym typeface="+mn-ea"/>
              </a:rPr>
              <a:t>分析，便于企业的生产管理。</a:t>
            </a:r>
            <a:endParaRPr lang="zh-CN" altLang="en-US" kern="0" dirty="0">
              <a:solidFill>
                <a:prstClr val="black"/>
              </a:solidFill>
              <a:latin typeface="汉仪君黑-45简" panose="020B0604020202020204" charset="-122"/>
              <a:ea typeface="汉仪君黑-45简" panose="020B0604020202020204" charset="-122"/>
              <a:sym typeface="+mn-ea"/>
            </a:endParaRPr>
          </a:p>
          <a:p>
            <a:pPr indent="457200" algn="just">
              <a:lnSpc>
                <a:spcPct val="160000"/>
              </a:lnSpc>
            </a:pPr>
            <a:endParaRPr lang="zh-CN" altLang="en-US" kern="0" dirty="0">
              <a:solidFill>
                <a:prstClr val="black"/>
              </a:solidFill>
              <a:latin typeface="汉仪君黑-45简" panose="020B0604020202020204" charset="-122"/>
              <a:ea typeface="汉仪君黑-45简" panose="020B0604020202020204" charset="-122"/>
              <a:sym typeface="+mn-ea"/>
            </a:endParaRPr>
          </a:p>
        </p:txBody>
      </p:sp>
      <p:pic>
        <p:nvPicPr>
          <p:cNvPr id="3" name="图片 2"/>
          <p:cNvPicPr>
            <a:picLocks noChangeAspect="1"/>
          </p:cNvPicPr>
          <p:nvPr/>
        </p:nvPicPr>
        <p:blipFill>
          <a:blip r:embed="rId2"/>
          <a:stretch>
            <a:fillRect/>
          </a:stretch>
        </p:blipFill>
        <p:spPr>
          <a:xfrm>
            <a:off x="6597015" y="1847215"/>
            <a:ext cx="5193030" cy="2748280"/>
          </a:xfrm>
          <a:prstGeom prst="rect">
            <a:avLst/>
          </a:prstGeom>
        </p:spPr>
      </p:pic>
      <p:sp>
        <p:nvSpPr>
          <p:cNvPr id="6" name="文本框 5"/>
          <p:cNvSpPr txBox="1"/>
          <p:nvPr/>
        </p:nvSpPr>
        <p:spPr>
          <a:xfrm>
            <a:off x="7360285" y="4754880"/>
            <a:ext cx="4064000" cy="368300"/>
          </a:xfrm>
          <a:prstGeom prst="rect">
            <a:avLst/>
          </a:prstGeom>
          <a:noFill/>
        </p:spPr>
        <p:txBody>
          <a:bodyPr wrap="square" rtlCol="0">
            <a:spAutoFit/>
          </a:bodyPr>
          <a:p>
            <a:pPr algn="ctr"/>
            <a:r>
              <a:rPr lang="zh-CN" altLang="en-US"/>
              <a:t>单通道采集效果</a:t>
            </a:r>
            <a:r>
              <a:rPr lang="zh-CN" altLang="en-US"/>
              <a:t>图</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汉仪君黑-45简" panose="020B0604020202020204" charset="-122"/>
                <a:ea typeface="汉仪君黑-45简" panose="020B0604020202020204" charset="-122"/>
                <a:sym typeface="+mn-ea"/>
              </a:rPr>
              <a:t>SCADA</a:t>
            </a:r>
            <a:r>
              <a:rPr lang="zh-CN" altLang="en-US">
                <a:latin typeface="汉仪君黑-45简" panose="020B0604020202020204" charset="-122"/>
                <a:ea typeface="汉仪君黑-45简" panose="020B0604020202020204" charset="-122"/>
                <a:sym typeface="+mn-ea"/>
              </a:rPr>
              <a:t>系统主界面</a:t>
            </a:r>
            <a:endParaRPr lang="zh-CN" altLang="en-US">
              <a:latin typeface="汉仪君黑-45简" panose="020B0604020202020204" charset="-122"/>
              <a:ea typeface="汉仪君黑-45简" panose="020B0604020202020204" charset="-122"/>
              <a:sym typeface="+mn-ea"/>
            </a:endParaRPr>
          </a:p>
        </p:txBody>
      </p:sp>
      <p:pic>
        <p:nvPicPr>
          <p:cNvPr id="3" name="图片 2"/>
          <p:cNvPicPr>
            <a:picLocks noChangeAspect="1"/>
          </p:cNvPicPr>
          <p:nvPr/>
        </p:nvPicPr>
        <p:blipFill>
          <a:blip r:embed="rId1"/>
          <a:stretch>
            <a:fillRect/>
          </a:stretch>
        </p:blipFill>
        <p:spPr>
          <a:xfrm>
            <a:off x="2534285" y="1078865"/>
            <a:ext cx="8097520" cy="5225415"/>
          </a:xfrm>
          <a:prstGeom prst="rect">
            <a:avLst/>
          </a:prstGeom>
        </p:spPr>
      </p:pic>
      <p:cxnSp>
        <p:nvCxnSpPr>
          <p:cNvPr id="6" name="直接箭头连接符 5"/>
          <p:cNvCxnSpPr/>
          <p:nvPr/>
        </p:nvCxnSpPr>
        <p:spPr>
          <a:xfrm flipH="1">
            <a:off x="2373630" y="2418715"/>
            <a:ext cx="1291590" cy="418465"/>
          </a:xfrm>
          <a:prstGeom prst="straightConnector1">
            <a:avLst/>
          </a:prstGeom>
          <a:ln w="31750">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1564005" y="2418715"/>
            <a:ext cx="970280" cy="1270000"/>
          </a:xfrm>
          <a:prstGeom prst="rect">
            <a:avLst/>
          </a:prstGeom>
          <a:noFill/>
        </p:spPr>
        <p:txBody>
          <a:bodyPr wrap="square" rtlCol="0">
            <a:noAutofit/>
          </a:bodyPr>
          <a:p>
            <a:pPr indent="0" algn="l" fontAlgn="auto">
              <a:lnSpc>
                <a:spcPct val="150000"/>
              </a:lnSpc>
            </a:pPr>
            <a:r>
              <a:rPr lang="zh-CN" altLang="en-US">
                <a:solidFill>
                  <a:srgbClr val="FF0000"/>
                </a:solidFill>
                <a:latin typeface="汉仪君黑-45简" panose="020B0604020202020204" charset="-122"/>
                <a:ea typeface="汉仪君黑-45简" panose="020B0604020202020204" charset="-122"/>
                <a:sym typeface="+mn-ea"/>
              </a:rPr>
              <a:t>时间判断依据</a:t>
            </a:r>
            <a:r>
              <a:rPr lang="en-US" altLang="zh-CN">
                <a:solidFill>
                  <a:srgbClr val="FF0000"/>
                </a:solidFill>
                <a:latin typeface="汉仪君黑-45简" panose="020B0604020202020204" charset="-122"/>
                <a:ea typeface="汉仪君黑-45简" panose="020B0604020202020204" charset="-122"/>
                <a:sym typeface="+mn-ea"/>
              </a:rPr>
              <a:t> </a:t>
            </a:r>
            <a:endParaRPr lang="en-US" altLang="zh-CN">
              <a:solidFill>
                <a:srgbClr val="FF0000"/>
              </a:solidFill>
              <a:latin typeface="汉仪君黑-45简" panose="020B0604020202020204" charset="-122"/>
              <a:ea typeface="汉仪君黑-45简" panose="020B0604020202020204" charset="-122"/>
              <a:sym typeface="+mn-ea"/>
            </a:endParaRPr>
          </a:p>
        </p:txBody>
      </p:sp>
      <p:cxnSp>
        <p:nvCxnSpPr>
          <p:cNvPr id="8" name="直接箭头连接符 7"/>
          <p:cNvCxnSpPr/>
          <p:nvPr/>
        </p:nvCxnSpPr>
        <p:spPr>
          <a:xfrm flipH="1">
            <a:off x="2474595" y="4164965"/>
            <a:ext cx="1776730" cy="293370"/>
          </a:xfrm>
          <a:prstGeom prst="straightConnector1">
            <a:avLst/>
          </a:prstGeom>
          <a:ln w="31750">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852930" y="4164965"/>
            <a:ext cx="681355" cy="808355"/>
          </a:xfrm>
          <a:prstGeom prst="rect">
            <a:avLst/>
          </a:prstGeom>
          <a:noFill/>
        </p:spPr>
        <p:txBody>
          <a:bodyPr wrap="square" rtlCol="0">
            <a:noAutofit/>
          </a:bodyPr>
          <a:p>
            <a:r>
              <a:rPr lang="zh-CN" altLang="en-US">
                <a:solidFill>
                  <a:srgbClr val="FF0000"/>
                </a:solidFill>
                <a:latin typeface="汉仪君黑-45简" panose="020B0604020202020204" charset="-122"/>
                <a:ea typeface="汉仪君黑-45简" panose="020B0604020202020204" charset="-122"/>
              </a:rPr>
              <a:t>测试结果</a:t>
            </a:r>
            <a:endParaRPr lang="zh-CN" altLang="en-US">
              <a:solidFill>
                <a:srgbClr val="FF0000"/>
              </a:solidFill>
              <a:latin typeface="汉仪君黑-45简" panose="020B0604020202020204" charset="-122"/>
              <a:ea typeface="汉仪君黑-45简" panose="020B0604020202020204" charset="-122"/>
            </a:endParaRPr>
          </a:p>
        </p:txBody>
      </p:sp>
      <p:cxnSp>
        <p:nvCxnSpPr>
          <p:cNvPr id="10" name="直接箭头连接符 9"/>
          <p:cNvCxnSpPr/>
          <p:nvPr/>
        </p:nvCxnSpPr>
        <p:spPr>
          <a:xfrm>
            <a:off x="8903970" y="3762375"/>
            <a:ext cx="2005330" cy="292735"/>
          </a:xfrm>
          <a:prstGeom prst="straightConnector1">
            <a:avLst/>
          </a:prstGeom>
          <a:ln w="31750">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9902190" y="4090035"/>
            <a:ext cx="1663065" cy="368300"/>
          </a:xfrm>
          <a:prstGeom prst="rect">
            <a:avLst/>
          </a:prstGeom>
          <a:noFill/>
          <a:ln>
            <a:noFill/>
          </a:ln>
        </p:spPr>
        <p:txBody>
          <a:bodyPr wrap="square" rtlCol="0">
            <a:spAutoFit/>
          </a:bodyPr>
          <a:p>
            <a:r>
              <a:rPr lang="zh-CN" altLang="en-US">
                <a:solidFill>
                  <a:srgbClr val="FF0000"/>
                </a:solidFill>
                <a:latin typeface="汉仪君黑-45简" panose="020B0604020202020204" charset="-122"/>
                <a:ea typeface="汉仪君黑-45简" panose="020B0604020202020204" charset="-122"/>
              </a:rPr>
              <a:t>测试数据曲线</a:t>
            </a:r>
            <a:endParaRPr lang="zh-CN" altLang="en-US">
              <a:solidFill>
                <a:srgbClr val="FF0000"/>
              </a:solidFill>
              <a:latin typeface="汉仪君黑-45简" panose="020B0604020202020204" charset="-122"/>
              <a:ea typeface="汉仪君黑-45简" panose="020B0604020202020204" charset="-122"/>
            </a:endParaRPr>
          </a:p>
        </p:txBody>
      </p:sp>
      <p:cxnSp>
        <p:nvCxnSpPr>
          <p:cNvPr id="12" name="直接箭头连接符 11"/>
          <p:cNvCxnSpPr/>
          <p:nvPr/>
        </p:nvCxnSpPr>
        <p:spPr>
          <a:xfrm flipV="1">
            <a:off x="4963795" y="2663190"/>
            <a:ext cx="1025525" cy="192405"/>
          </a:xfrm>
          <a:prstGeom prst="straightConnector1">
            <a:avLst/>
          </a:prstGeom>
          <a:ln w="31750">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6053455" y="2487295"/>
            <a:ext cx="1233805" cy="368300"/>
          </a:xfrm>
          <a:prstGeom prst="rect">
            <a:avLst/>
          </a:prstGeom>
          <a:noFill/>
        </p:spPr>
        <p:txBody>
          <a:bodyPr wrap="square" rtlCol="0">
            <a:spAutoFit/>
          </a:bodyPr>
          <a:p>
            <a:r>
              <a:rPr lang="zh-CN" altLang="en-US">
                <a:solidFill>
                  <a:srgbClr val="FF0000"/>
                </a:solidFill>
                <a:latin typeface="汉仪君黑-45简" panose="020B0604020202020204" charset="-122"/>
                <a:ea typeface="汉仪君黑-45简" panose="020B0604020202020204" charset="-122"/>
              </a:rPr>
              <a:t>配置参数</a:t>
            </a:r>
            <a:endParaRPr lang="zh-CN" altLang="en-US">
              <a:solidFill>
                <a:srgbClr val="FF0000"/>
              </a:solidFill>
              <a:latin typeface="汉仪君黑-45简" panose="020B0604020202020204" charset="-122"/>
              <a:ea typeface="汉仪君黑-45简" panose="020B0604020202020204" charset="-122"/>
            </a:endParaRPr>
          </a:p>
        </p:txBody>
      </p:sp>
      <p:cxnSp>
        <p:nvCxnSpPr>
          <p:cNvPr id="14" name="直接箭头连接符 13"/>
          <p:cNvCxnSpPr/>
          <p:nvPr/>
        </p:nvCxnSpPr>
        <p:spPr>
          <a:xfrm flipV="1">
            <a:off x="6786245" y="1857375"/>
            <a:ext cx="2712085" cy="71120"/>
          </a:xfrm>
          <a:prstGeom prst="straightConnector1">
            <a:avLst/>
          </a:prstGeom>
          <a:ln w="31750">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9498330" y="1653540"/>
            <a:ext cx="2232025" cy="368300"/>
          </a:xfrm>
          <a:prstGeom prst="rect">
            <a:avLst/>
          </a:prstGeom>
          <a:noFill/>
        </p:spPr>
        <p:txBody>
          <a:bodyPr wrap="square" rtlCol="0">
            <a:spAutoFit/>
          </a:bodyPr>
          <a:p>
            <a:r>
              <a:rPr lang="zh-CN" altLang="en-US">
                <a:solidFill>
                  <a:srgbClr val="FF0000"/>
                </a:solidFill>
                <a:latin typeface="汉仪君黑-45简" panose="020B0604020202020204" charset="-122"/>
                <a:ea typeface="汉仪君黑-45简" panose="020B0604020202020204" charset="-122"/>
              </a:rPr>
              <a:t>产品的信息配置</a:t>
            </a:r>
            <a:endParaRPr lang="zh-CN" altLang="en-US">
              <a:solidFill>
                <a:srgbClr val="FF0000"/>
              </a:solidFill>
              <a:latin typeface="汉仪君黑-45简" panose="020B0604020202020204" charset="-122"/>
              <a:ea typeface="汉仪君黑-45简" panose="020B0604020202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r>
              <a:rPr lang="zh-CN" altLang="en-US">
                <a:latin typeface="汉仪君黑-45简" panose="020B0604020202020204" charset="-122"/>
                <a:ea typeface="汉仪君黑-45简" panose="020B0604020202020204" charset="-122"/>
              </a:rPr>
              <a:t>选型介绍</a:t>
            </a:r>
            <a:endParaRPr lang="zh-CN" altLang="en-US">
              <a:latin typeface="汉仪君黑-45简" panose="020B0604020202020204" charset="-122"/>
              <a:ea typeface="汉仪君黑-45简" panose="020B0604020202020204" charset="-122"/>
            </a:endParaRPr>
          </a:p>
        </p:txBody>
      </p:sp>
      <p:sp>
        <p:nvSpPr>
          <p:cNvPr id="4" name="文本框 3"/>
          <p:cNvSpPr txBox="1"/>
          <p:nvPr/>
        </p:nvSpPr>
        <p:spPr>
          <a:xfrm>
            <a:off x="1664970" y="969010"/>
            <a:ext cx="9376410" cy="4761865"/>
          </a:xfrm>
          <a:prstGeom prst="rect">
            <a:avLst/>
          </a:prstGeom>
          <a:noFill/>
        </p:spPr>
        <p:txBody>
          <a:bodyPr wrap="square" rtlCol="0">
            <a:noAutofit/>
          </a:bodyPr>
          <a:p>
            <a:r>
              <a:rPr lang="zh-CN" altLang="en-US">
                <a:latin typeface="汉仪君黑-45简" panose="020B0604020202020204" charset="-122"/>
                <a:ea typeface="汉仪君黑-45简" panose="020B0604020202020204" charset="-122"/>
              </a:rPr>
              <a:t>一、</a:t>
            </a:r>
            <a:r>
              <a:rPr lang="en-US" altLang="zh-CN" sz="2400">
                <a:latin typeface="汉仪君黑-45简" panose="020B0604020202020204" charset="-122"/>
                <a:ea typeface="汉仪君黑-45简" panose="020B0604020202020204" charset="-122"/>
              </a:rPr>
              <a:t>KEYSIGHT DAQ970A</a:t>
            </a:r>
            <a:endParaRPr lang="en-US" altLang="zh-CN" sz="2400">
              <a:latin typeface="汉仪君黑-45简" panose="020B0604020202020204" charset="-122"/>
              <a:ea typeface="汉仪君黑-45简" panose="020B0604020202020204" charset="-122"/>
            </a:endParaRPr>
          </a:p>
          <a:p>
            <a:pPr indent="457200">
              <a:lnSpc>
                <a:spcPct val="120000"/>
              </a:lnSpc>
            </a:pPr>
            <a:r>
              <a:rPr lang="zh-CN" altLang="en-US">
                <a:latin typeface="汉仪君黑-45简" panose="020B0604020202020204" charset="-122"/>
                <a:ea typeface="汉仪君黑-45简" panose="020B0604020202020204" charset="-122"/>
              </a:rPr>
              <a:t>根据采集速率和多通道采集需求，选用</a:t>
            </a:r>
            <a:r>
              <a:rPr lang="en-US" altLang="zh-CN">
                <a:latin typeface="汉仪君黑-45简" panose="020B0604020202020204" charset="-122"/>
                <a:ea typeface="汉仪君黑-45简" panose="020B0604020202020204" charset="-122"/>
                <a:sym typeface="+mn-ea"/>
              </a:rPr>
              <a:t>DAQ970A</a:t>
            </a:r>
            <a:r>
              <a:rPr lang="zh-CN" altLang="en-US">
                <a:latin typeface="汉仪君黑-45简" panose="020B0604020202020204" charset="-122"/>
                <a:ea typeface="汉仪君黑-45简" panose="020B0604020202020204" charset="-122"/>
                <a:sym typeface="+mn-ea"/>
              </a:rPr>
              <a:t>该</a:t>
            </a:r>
            <a:r>
              <a:rPr lang="zh-CN" altLang="en-US">
                <a:latin typeface="汉仪君黑-45简" panose="020B0604020202020204" charset="-122"/>
                <a:ea typeface="汉仪君黑-45简" panose="020B0604020202020204" charset="-122"/>
              </a:rPr>
              <a:t>型号数据采集系统主机，该型号可拓展</a:t>
            </a:r>
            <a:r>
              <a:rPr lang="en-US" altLang="zh-CN">
                <a:latin typeface="汉仪君黑-45简" panose="020B0604020202020204" charset="-122"/>
                <a:ea typeface="汉仪君黑-45简" panose="020B0604020202020204" charset="-122"/>
              </a:rPr>
              <a:t> </a:t>
            </a:r>
            <a:r>
              <a:rPr lang="zh-CN" altLang="en-US">
                <a:latin typeface="汉仪君黑-45简" panose="020B0604020202020204" charset="-122"/>
                <a:ea typeface="汉仪君黑-45简" panose="020B0604020202020204" charset="-122"/>
              </a:rPr>
              <a:t>一块新型的</a:t>
            </a:r>
            <a:r>
              <a:rPr lang="en-US" altLang="zh-CN">
                <a:latin typeface="汉仪君黑-45简" panose="020B0604020202020204" charset="-122"/>
                <a:ea typeface="汉仪君黑-45简" panose="020B0604020202020204" charset="-122"/>
                <a:sym typeface="+mn-ea"/>
              </a:rPr>
              <a:t>DAQM909A </a:t>
            </a:r>
            <a:r>
              <a:rPr lang="zh-CN" altLang="en-US">
                <a:latin typeface="汉仪君黑-45简" panose="020B0604020202020204" charset="-122"/>
                <a:ea typeface="汉仪君黑-45简" panose="020B0604020202020204" charset="-122"/>
                <a:sym typeface="+mn-ea"/>
              </a:rPr>
              <a:t>模块，实现</a:t>
            </a:r>
            <a:r>
              <a:rPr lang="en-US" altLang="zh-CN">
                <a:latin typeface="汉仪君黑-45简" panose="020B0604020202020204" charset="-122"/>
                <a:ea typeface="汉仪君黑-45简" panose="020B0604020202020204" charset="-122"/>
                <a:sym typeface="+mn-ea"/>
              </a:rPr>
              <a:t>4</a:t>
            </a:r>
            <a:r>
              <a:rPr lang="zh-CN" altLang="en-US">
                <a:latin typeface="汉仪君黑-45简" panose="020B0604020202020204" charset="-122"/>
                <a:ea typeface="汉仪君黑-45简" panose="020B0604020202020204" charset="-122"/>
                <a:sym typeface="+mn-ea"/>
              </a:rPr>
              <a:t>通道的同步采集，能满足高频率多通道的同步采集需求。</a:t>
            </a:r>
            <a:endParaRPr lang="zh-CN" altLang="en-US">
              <a:latin typeface="汉仪君黑-45简" panose="020B0604020202020204" charset="-122"/>
              <a:ea typeface="汉仪君黑-45简" panose="020B0604020202020204" charset="-122"/>
              <a:sym typeface="+mn-ea"/>
            </a:endParaRPr>
          </a:p>
          <a:p>
            <a:pPr indent="457200"/>
            <a:r>
              <a:rPr lang="zh-CN" altLang="en-US">
                <a:latin typeface="汉仪君黑-45简" panose="020B0604020202020204" charset="-122"/>
                <a:ea typeface="汉仪君黑-45简" panose="020B0604020202020204" charset="-122"/>
              </a:rPr>
              <a:t>以下是该型号部分参数：</a:t>
            </a:r>
            <a:endParaRPr lang="zh-CN" altLang="en-US">
              <a:latin typeface="汉仪君黑-45简" panose="020B0604020202020204" charset="-122"/>
              <a:ea typeface="汉仪君黑-45简" panose="020B0604020202020204" charset="-122"/>
            </a:endParaRPr>
          </a:p>
          <a:p>
            <a:pPr indent="457200"/>
            <a:endParaRPr lang="en-US" altLang="zh-CN">
              <a:latin typeface="汉仪君黑-45简" panose="020B0604020202020204" charset="-122"/>
              <a:ea typeface="汉仪君黑-45简" panose="020B0604020202020204" charset="-122"/>
            </a:endParaRPr>
          </a:p>
          <a:p>
            <a:endParaRPr lang="en-US" altLang="zh-CN">
              <a:latin typeface="汉仪君黑-45简" panose="020B0604020202020204" charset="-122"/>
              <a:ea typeface="汉仪君黑-45简" panose="020B0604020202020204" charset="-122"/>
            </a:endParaRPr>
          </a:p>
          <a:p>
            <a:pPr marL="457200" lvl="1" indent="0">
              <a:buNone/>
            </a:pPr>
            <a:endParaRPr lang="en-US" altLang="zh-CN">
              <a:solidFill>
                <a:schemeClr val="tx1"/>
              </a:solidFill>
              <a:latin typeface="汉仪君黑-45简" panose="020B0604020202020204" charset="-122"/>
              <a:ea typeface="汉仪君黑-45简" panose="020B0604020202020204" charset="-122"/>
            </a:endParaRPr>
          </a:p>
          <a:p>
            <a:endParaRPr lang="en-US" altLang="zh-CN">
              <a:solidFill>
                <a:schemeClr val="tx1"/>
              </a:solidFill>
              <a:latin typeface="汉仪君黑-45简" panose="020B0604020202020204" charset="-122"/>
              <a:ea typeface="汉仪君黑-45简" panose="020B0604020202020204" charset="-122"/>
            </a:endParaRPr>
          </a:p>
        </p:txBody>
      </p:sp>
      <p:graphicFrame>
        <p:nvGraphicFramePr>
          <p:cNvPr id="2" name="表格 1"/>
          <p:cNvGraphicFramePr/>
          <p:nvPr>
            <p:custDataLst>
              <p:tags r:id="rId1"/>
            </p:custDataLst>
          </p:nvPr>
        </p:nvGraphicFramePr>
        <p:xfrm>
          <a:off x="1746885" y="2733675"/>
          <a:ext cx="9212580" cy="3149600"/>
        </p:xfrm>
        <a:graphic>
          <a:graphicData uri="http://schemas.openxmlformats.org/drawingml/2006/table">
            <a:tbl>
              <a:tblPr firstRow="1" bandRow="1">
                <a:tableStyleId>{5C22544A-7EE6-4342-B048-85BDC9FD1C3A}</a:tableStyleId>
              </a:tblPr>
              <a:tblGrid>
                <a:gridCol w="4606290"/>
                <a:gridCol w="4606290"/>
              </a:tblGrid>
              <a:tr h="609600">
                <a:tc>
                  <a:txBody>
                    <a:bodyPr/>
                    <a:p>
                      <a:pPr algn="ctr">
                        <a:lnSpc>
                          <a:spcPct val="100000"/>
                        </a:lnSpc>
                        <a:buNone/>
                      </a:pPr>
                      <a:r>
                        <a:rPr lang="zh-CN" altLang="en-US">
                          <a:latin typeface="汉仪君黑-45简" panose="020B0604020202020204" charset="-122"/>
                          <a:ea typeface="汉仪君黑-45简" panose="020B0604020202020204" charset="-122"/>
                        </a:rPr>
                        <a:t>类型</a:t>
                      </a:r>
                      <a:endParaRPr lang="zh-CN" altLang="en-US">
                        <a:latin typeface="汉仪君黑-45简" panose="020B0604020202020204" charset="-122"/>
                        <a:ea typeface="汉仪君黑-45简" panose="020B0604020202020204" charset="-122"/>
                      </a:endParaRPr>
                    </a:p>
                  </a:txBody>
                  <a:tcPr/>
                </a:tc>
                <a:tc>
                  <a:txBody>
                    <a:bodyPr/>
                    <a:p>
                      <a:pPr algn="ctr">
                        <a:buNone/>
                      </a:pPr>
                      <a:r>
                        <a:rPr lang="zh-CN" altLang="en-US">
                          <a:latin typeface="汉仪君黑-45简" panose="020B0604020202020204" charset="-122"/>
                          <a:ea typeface="汉仪君黑-45简" panose="020B0604020202020204" charset="-122"/>
                        </a:rPr>
                        <a:t>特性</a:t>
                      </a:r>
                      <a:endParaRPr lang="zh-CN" altLang="en-US">
                        <a:latin typeface="汉仪君黑-45简" panose="020B0604020202020204" charset="-122"/>
                        <a:ea typeface="汉仪君黑-45简" panose="020B0604020202020204" charset="-122"/>
                      </a:endParaRPr>
                    </a:p>
                  </a:txBody>
                  <a:tcPr/>
                </a:tc>
              </a:tr>
              <a:tr h="508000">
                <a:tc>
                  <a:txBody>
                    <a:bodyPr/>
                    <a:p>
                      <a:pPr algn="ctr">
                        <a:lnSpc>
                          <a:spcPct val="150000"/>
                        </a:lnSpc>
                        <a:buNone/>
                      </a:pPr>
                      <a:r>
                        <a:rPr lang="zh-CN" altLang="en-US">
                          <a:latin typeface="汉仪君黑-45简" panose="020B0604020202020204" charset="-122"/>
                          <a:ea typeface="汉仪君黑-45简" panose="020B0604020202020204" charset="-122"/>
                        </a:rPr>
                        <a:t>测量精度</a:t>
                      </a:r>
                      <a:endParaRPr lang="zh-CN" altLang="en-US">
                        <a:latin typeface="汉仪君黑-45简" panose="020B0604020202020204" charset="-122"/>
                        <a:ea typeface="汉仪君黑-45简" panose="020B0604020202020204" charset="-122"/>
                      </a:endParaRPr>
                    </a:p>
                  </a:txBody>
                  <a:tcPr/>
                </a:tc>
                <a:tc>
                  <a:txBody>
                    <a:bodyPr/>
                    <a:p>
                      <a:pPr algn="ctr">
                        <a:buNone/>
                      </a:pPr>
                      <a:r>
                        <a:rPr lang="zh-CN" altLang="en-US">
                          <a:latin typeface="汉仪君黑-45简" panose="020B0604020202020204" charset="-122"/>
                          <a:ea typeface="汉仪君黑-45简" panose="020B0604020202020204" charset="-122"/>
                        </a:rPr>
                        <a:t>基础</a:t>
                      </a:r>
                      <a:r>
                        <a:rPr lang="en-US" altLang="zh-CN">
                          <a:latin typeface="汉仪君黑-45简" panose="020B0604020202020204" charset="-122"/>
                          <a:ea typeface="汉仪君黑-45简" panose="020B0604020202020204" charset="-122"/>
                        </a:rPr>
                        <a:t> DCV </a:t>
                      </a:r>
                      <a:r>
                        <a:rPr lang="zh-CN" altLang="en-US">
                          <a:latin typeface="汉仪君黑-45简" panose="020B0604020202020204" charset="-122"/>
                          <a:ea typeface="汉仪君黑-45简" panose="020B0604020202020204" charset="-122"/>
                        </a:rPr>
                        <a:t>精度为</a:t>
                      </a:r>
                      <a:r>
                        <a:rPr lang="en-US" altLang="zh-CN">
                          <a:latin typeface="汉仪君黑-45简" panose="020B0604020202020204" charset="-122"/>
                          <a:ea typeface="汉仪君黑-45简" panose="020B0604020202020204" charset="-122"/>
                        </a:rPr>
                        <a:t> 0.003%</a:t>
                      </a:r>
                      <a:r>
                        <a:rPr lang="zh-CN" altLang="en-US">
                          <a:latin typeface="汉仪君黑-45简" panose="020B0604020202020204" charset="-122"/>
                          <a:ea typeface="汉仪君黑-45简" panose="020B0604020202020204" charset="-122"/>
                        </a:rPr>
                        <a:t>，内置</a:t>
                      </a:r>
                      <a:r>
                        <a:rPr lang="en-US" altLang="zh-CN">
                          <a:latin typeface="汉仪君黑-45简" panose="020B0604020202020204" charset="-122"/>
                          <a:ea typeface="汉仪君黑-45简" panose="020B0604020202020204" charset="-122"/>
                        </a:rPr>
                        <a:t> 6</a:t>
                      </a:r>
                      <a:r>
                        <a:rPr lang="en-US" altLang="en-US">
                          <a:latin typeface="汉仪君黑-45简" panose="020B0604020202020204" charset="-122"/>
                          <a:ea typeface="汉仪君黑-45简" panose="020B0604020202020204" charset="-122"/>
                        </a:rPr>
                        <a:t>½</a:t>
                      </a:r>
                      <a:r>
                        <a:rPr lang="en-US" altLang="zh-CN">
                          <a:latin typeface="汉仪君黑-45简" panose="020B0604020202020204" charset="-122"/>
                          <a:ea typeface="汉仪君黑-45简" panose="020B0604020202020204" charset="-122"/>
                        </a:rPr>
                        <a:t> </a:t>
                      </a:r>
                      <a:r>
                        <a:rPr lang="zh-CN" altLang="en-US">
                          <a:latin typeface="汉仪君黑-45简" panose="020B0604020202020204" charset="-122"/>
                          <a:ea typeface="汉仪君黑-45简" panose="020B0604020202020204" charset="-122"/>
                        </a:rPr>
                        <a:t>位数字万用表</a:t>
                      </a:r>
                      <a:r>
                        <a:rPr lang="en-US" altLang="zh-CN">
                          <a:latin typeface="汉仪君黑-45简" panose="020B0604020202020204" charset="-122"/>
                          <a:ea typeface="汉仪君黑-45简" panose="020B0604020202020204" charset="-122"/>
                        </a:rPr>
                        <a:t>  </a:t>
                      </a:r>
                      <a:endParaRPr lang="en-US" altLang="zh-CN">
                        <a:latin typeface="汉仪君黑-45简" panose="020B0604020202020204" charset="-122"/>
                        <a:ea typeface="汉仪君黑-45简" panose="020B0604020202020204" charset="-122"/>
                      </a:endParaRPr>
                    </a:p>
                  </a:txBody>
                  <a:tcPr/>
                </a:tc>
              </a:tr>
              <a:tr h="508000">
                <a:tc>
                  <a:txBody>
                    <a:bodyPr/>
                    <a:p>
                      <a:pPr algn="ctr">
                        <a:buNone/>
                      </a:pPr>
                      <a:r>
                        <a:rPr lang="zh-CN" altLang="en-US">
                          <a:latin typeface="汉仪君黑-45简" panose="020B0604020202020204" charset="-122"/>
                          <a:ea typeface="汉仪君黑-45简" panose="020B0604020202020204" charset="-122"/>
                        </a:rPr>
                        <a:t>测量速率</a:t>
                      </a:r>
                      <a:endParaRPr lang="zh-CN" altLang="en-US">
                        <a:latin typeface="汉仪君黑-45简" panose="020B0604020202020204" charset="-122"/>
                        <a:ea typeface="汉仪君黑-45简" panose="020B0604020202020204" charset="-122"/>
                      </a:endParaRPr>
                    </a:p>
                  </a:txBody>
                  <a:tcPr/>
                </a:tc>
                <a:tc>
                  <a:txBody>
                    <a:bodyPr/>
                    <a:p>
                      <a:pPr algn="ctr">
                        <a:buNone/>
                      </a:pPr>
                      <a:r>
                        <a:rPr lang="zh-CN" altLang="en-US">
                          <a:latin typeface="汉仪君黑-45简" panose="020B0604020202020204" charset="-122"/>
                          <a:ea typeface="汉仪君黑-45简" panose="020B0604020202020204" charset="-122"/>
                        </a:rPr>
                        <a:t>扫描速率高达</a:t>
                      </a:r>
                      <a:r>
                        <a:rPr lang="en-US" altLang="zh-CN">
                          <a:latin typeface="汉仪君黑-45简" panose="020B0604020202020204" charset="-122"/>
                          <a:ea typeface="汉仪君黑-45简" panose="020B0604020202020204" charset="-122"/>
                        </a:rPr>
                        <a:t> 450 </a:t>
                      </a:r>
                      <a:r>
                        <a:rPr lang="zh-CN" altLang="en-US">
                          <a:latin typeface="汉仪君黑-45简" panose="020B0604020202020204" charset="-122"/>
                          <a:ea typeface="汉仪君黑-45简" panose="020B0604020202020204" charset="-122"/>
                        </a:rPr>
                        <a:t>通道</a:t>
                      </a:r>
                      <a:r>
                        <a:rPr lang="en-US" altLang="zh-CN">
                          <a:latin typeface="汉仪君黑-45简" panose="020B0604020202020204" charset="-122"/>
                          <a:ea typeface="汉仪君黑-45简" panose="020B0604020202020204" charset="-122"/>
                        </a:rPr>
                        <a:t>/</a:t>
                      </a:r>
                      <a:r>
                        <a:rPr lang="zh-CN" altLang="en-US">
                          <a:latin typeface="汉仪君黑-45简" panose="020B0604020202020204" charset="-122"/>
                          <a:ea typeface="汉仪君黑-45简" panose="020B0604020202020204" charset="-122"/>
                        </a:rPr>
                        <a:t>秒</a:t>
                      </a:r>
                      <a:endParaRPr lang="zh-CN" altLang="en-US">
                        <a:latin typeface="汉仪君黑-45简" panose="020B0604020202020204" charset="-122"/>
                        <a:ea typeface="汉仪君黑-45简" panose="020B0604020202020204" charset="-122"/>
                      </a:endParaRPr>
                    </a:p>
                  </a:txBody>
                  <a:tcPr/>
                </a:tc>
              </a:tr>
              <a:tr h="508000">
                <a:tc>
                  <a:txBody>
                    <a:bodyPr/>
                    <a:p>
                      <a:pPr algn="ctr">
                        <a:buNone/>
                      </a:pPr>
                      <a:r>
                        <a:rPr lang="zh-CN" altLang="en-US">
                          <a:latin typeface="汉仪君黑-45简" panose="020B0604020202020204" charset="-122"/>
                          <a:ea typeface="汉仪君黑-45简" panose="020B0604020202020204" charset="-122"/>
                        </a:rPr>
                        <a:t>测量范围</a:t>
                      </a:r>
                      <a:endParaRPr lang="zh-CN" altLang="en-US">
                        <a:latin typeface="汉仪君黑-45简" panose="020B0604020202020204" charset="-122"/>
                        <a:ea typeface="汉仪君黑-45简" panose="020B0604020202020204" charset="-122"/>
                      </a:endParaRPr>
                    </a:p>
                  </a:txBody>
                  <a:tcPr/>
                </a:tc>
                <a:tc>
                  <a:txBody>
                    <a:bodyPr/>
                    <a:p>
                      <a:pPr algn="ctr">
                        <a:buNone/>
                      </a:pPr>
                      <a:r>
                        <a:rPr lang="en-US" altLang="zh-CN">
                          <a:latin typeface="汉仪君黑-45简" panose="020B0604020202020204" charset="-122"/>
                          <a:ea typeface="汉仪君黑-45简" panose="020B0604020202020204" charset="-122"/>
                        </a:rPr>
                        <a:t>100</a:t>
                      </a:r>
                      <a:r>
                        <a:rPr lang="en-US" altLang="zh-CN" sz="1800">
                          <a:latin typeface="汉仪君黑-45简" panose="020B0604020202020204" charset="-122"/>
                          <a:ea typeface="汉仪君黑-45简" panose="020B0604020202020204" charset="-122"/>
                          <a:sym typeface="+mn-ea"/>
                        </a:rPr>
                        <a:t>Ω~1000MΩ</a:t>
                      </a:r>
                      <a:endParaRPr lang="en-US" altLang="zh-CN" sz="1800">
                        <a:latin typeface="汉仪君黑-45简" panose="020B0604020202020204" charset="-122"/>
                        <a:ea typeface="汉仪君黑-45简" panose="020B0604020202020204" charset="-122"/>
                        <a:sym typeface="+mn-ea"/>
                      </a:endParaRPr>
                    </a:p>
                  </a:txBody>
                  <a:tcPr/>
                </a:tc>
              </a:tr>
              <a:tr h="508000">
                <a:tc>
                  <a:txBody>
                    <a:bodyPr/>
                    <a:p>
                      <a:pPr algn="ctr">
                        <a:lnSpc>
                          <a:spcPct val="210000"/>
                        </a:lnSpc>
                        <a:buNone/>
                      </a:pPr>
                      <a:r>
                        <a:rPr lang="zh-CN" altLang="en-US">
                          <a:latin typeface="汉仪君黑-45简" panose="020B0604020202020204" charset="-122"/>
                          <a:ea typeface="汉仪君黑-45简" panose="020B0604020202020204" charset="-122"/>
                        </a:rPr>
                        <a:t>可拓展性</a:t>
                      </a:r>
                      <a:endParaRPr lang="zh-CN" altLang="en-US">
                        <a:latin typeface="汉仪君黑-45简" panose="020B0604020202020204" charset="-122"/>
                        <a:ea typeface="汉仪君黑-45简" panose="020B0604020202020204" charset="-122"/>
                      </a:endParaRPr>
                    </a:p>
                  </a:txBody>
                  <a:tcPr/>
                </a:tc>
                <a:tc>
                  <a:txBody>
                    <a:bodyPr/>
                    <a:p>
                      <a:pPr>
                        <a:buNone/>
                      </a:pPr>
                      <a:r>
                        <a:rPr lang="en-US" altLang="zh-CN">
                          <a:latin typeface="汉仪君黑-45简" panose="020B0604020202020204" charset="-122"/>
                          <a:ea typeface="汉仪君黑-45简" panose="020B0604020202020204" charset="-122"/>
                        </a:rPr>
                        <a:t>9 </a:t>
                      </a:r>
                      <a:r>
                        <a:rPr lang="zh-CN" altLang="en-US">
                          <a:latin typeface="汉仪君黑-45简" panose="020B0604020202020204" charset="-122"/>
                          <a:ea typeface="汉仪君黑-45简" panose="020B0604020202020204" charset="-122"/>
                        </a:rPr>
                        <a:t>个开关、射频和控制插卡，包括一个新的</a:t>
                      </a:r>
                      <a:r>
                        <a:rPr lang="en-US" altLang="zh-CN">
                          <a:latin typeface="汉仪君黑-45简" panose="020B0604020202020204" charset="-122"/>
                          <a:ea typeface="汉仪君黑-45简" panose="020B0604020202020204" charset="-122"/>
                        </a:rPr>
                        <a:t> 4 </a:t>
                      </a:r>
                      <a:r>
                        <a:rPr lang="zh-CN" altLang="en-US">
                          <a:latin typeface="汉仪君黑-45简" panose="020B0604020202020204" charset="-122"/>
                          <a:ea typeface="汉仪君黑-45简" panose="020B0604020202020204" charset="-122"/>
                        </a:rPr>
                        <a:t>通道同步采样数字化仪，最高每个系统多达</a:t>
                      </a:r>
                      <a:r>
                        <a:rPr lang="en-US" altLang="zh-CN">
                          <a:latin typeface="汉仪君黑-45简" panose="020B0604020202020204" charset="-122"/>
                          <a:ea typeface="汉仪君黑-45简" panose="020B0604020202020204" charset="-122"/>
                        </a:rPr>
                        <a:t> 120 </a:t>
                      </a:r>
                      <a:r>
                        <a:rPr lang="zh-CN" altLang="en-US">
                          <a:latin typeface="汉仪君黑-45简" panose="020B0604020202020204" charset="-122"/>
                          <a:ea typeface="汉仪君黑-45简" panose="020B0604020202020204" charset="-122"/>
                        </a:rPr>
                        <a:t>个通道</a:t>
                      </a:r>
                      <a:r>
                        <a:rPr lang="en-US" altLang="zh-CN">
                          <a:latin typeface="汉仪君黑-45简" panose="020B0604020202020204" charset="-122"/>
                          <a:ea typeface="汉仪君黑-45简" panose="020B0604020202020204" charset="-122"/>
                        </a:rPr>
                        <a:t> </a:t>
                      </a:r>
                      <a:endParaRPr lang="en-US" altLang="zh-CN">
                        <a:latin typeface="汉仪君黑-45简" panose="020B0604020202020204" charset="-122"/>
                        <a:ea typeface="汉仪君黑-45简" panose="020B0604020202020204" charset="-122"/>
                      </a:endParaRPr>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r>
              <a:rPr lang="zh-CN" altLang="en-US">
                <a:latin typeface="汉仪君黑-45简" panose="020B0604020202020204" charset="-122"/>
                <a:ea typeface="汉仪君黑-45简" panose="020B0604020202020204" charset="-122"/>
              </a:rPr>
              <a:t>选型介绍</a:t>
            </a:r>
            <a:endParaRPr lang="zh-CN" altLang="en-US">
              <a:latin typeface="汉仪君黑-45简" panose="020B0604020202020204" charset="-122"/>
              <a:ea typeface="汉仪君黑-45简" panose="020B0604020202020204" charset="-122"/>
            </a:endParaRPr>
          </a:p>
        </p:txBody>
      </p:sp>
      <p:sp>
        <p:nvSpPr>
          <p:cNvPr id="4" name="文本框 3"/>
          <p:cNvSpPr txBox="1"/>
          <p:nvPr/>
        </p:nvSpPr>
        <p:spPr>
          <a:xfrm>
            <a:off x="1664970" y="883285"/>
            <a:ext cx="9376410" cy="5608320"/>
          </a:xfrm>
          <a:prstGeom prst="rect">
            <a:avLst/>
          </a:prstGeom>
          <a:noFill/>
        </p:spPr>
        <p:txBody>
          <a:bodyPr wrap="square" rtlCol="0">
            <a:noAutofit/>
          </a:bodyPr>
          <a:p>
            <a:pPr indent="0" fontAlgn="auto"/>
            <a:r>
              <a:rPr lang="zh-CN" altLang="en-US">
                <a:latin typeface="汉仪君黑-45简" panose="020B0604020202020204" charset="-122"/>
                <a:ea typeface="汉仪君黑-45简" panose="020B0604020202020204" charset="-122"/>
              </a:rPr>
              <a:t>二、</a:t>
            </a:r>
            <a:r>
              <a:rPr lang="en-US" altLang="zh-CN" sz="2400">
                <a:latin typeface="汉仪君黑-45简" panose="020B0604020202020204" charset="-122"/>
                <a:ea typeface="汉仪君黑-45简" panose="020B0604020202020204" charset="-122"/>
                <a:sym typeface="+mn-ea"/>
              </a:rPr>
              <a:t>KEYSIGHT </a:t>
            </a:r>
            <a:r>
              <a:rPr lang="en-US" altLang="zh-CN" sz="2400">
                <a:latin typeface="汉仪君黑-45简" panose="020B0604020202020204" charset="-122"/>
                <a:ea typeface="汉仪君黑-45简" panose="020B0604020202020204" charset="-122"/>
              </a:rPr>
              <a:t>DAQM909A 4 </a:t>
            </a:r>
            <a:r>
              <a:rPr lang="zh-CN" altLang="en-US" sz="2400">
                <a:latin typeface="汉仪君黑-45简" panose="020B0604020202020204" charset="-122"/>
                <a:ea typeface="汉仪君黑-45简" panose="020B0604020202020204" charset="-122"/>
              </a:rPr>
              <a:t>通道同步采样模块、</a:t>
            </a:r>
            <a:endParaRPr lang="zh-CN" altLang="en-US" sz="2400">
              <a:latin typeface="汉仪君黑-45简" panose="020B0604020202020204" charset="-122"/>
              <a:ea typeface="汉仪君黑-45简" panose="020B0604020202020204" charset="-122"/>
            </a:endParaRPr>
          </a:p>
          <a:p>
            <a:pPr indent="457200" fontAlgn="auto">
              <a:lnSpc>
                <a:spcPct val="160000"/>
              </a:lnSpc>
            </a:pPr>
            <a:r>
              <a:rPr lang="zh-CN" altLang="en-US">
                <a:latin typeface="汉仪君黑-45简" panose="020B0604020202020204" charset="-122"/>
                <a:ea typeface="汉仪君黑-45简" panose="020B0604020202020204" charset="-122"/>
              </a:rPr>
              <a:t>根据需求选用</a:t>
            </a:r>
            <a:r>
              <a:rPr lang="en-US" altLang="zh-CN">
                <a:latin typeface="汉仪君黑-45简" panose="020B0604020202020204" charset="-122"/>
                <a:ea typeface="汉仪君黑-45简" panose="020B0604020202020204" charset="-122"/>
                <a:sym typeface="+mn-ea"/>
              </a:rPr>
              <a:t>DAQM909A </a:t>
            </a:r>
            <a:r>
              <a:rPr lang="zh-CN" altLang="en-US">
                <a:latin typeface="汉仪君黑-45简" panose="020B0604020202020204" charset="-122"/>
                <a:ea typeface="汉仪君黑-45简" panose="020B0604020202020204" charset="-122"/>
                <a:sym typeface="+mn-ea"/>
              </a:rPr>
              <a:t>模块作为</a:t>
            </a:r>
            <a:r>
              <a:rPr lang="en-US" altLang="zh-CN">
                <a:latin typeface="汉仪君黑-45简" panose="020B0604020202020204" charset="-122"/>
                <a:ea typeface="汉仪君黑-45简" panose="020B0604020202020204" charset="-122"/>
                <a:sym typeface="+mn-ea"/>
              </a:rPr>
              <a:t>DAQ970A</a:t>
            </a:r>
            <a:r>
              <a:rPr lang="zh-CN" altLang="en-US">
                <a:latin typeface="汉仪君黑-45简" panose="020B0604020202020204" charset="-122"/>
                <a:ea typeface="汉仪君黑-45简" panose="020B0604020202020204" charset="-122"/>
                <a:sym typeface="+mn-ea"/>
              </a:rPr>
              <a:t>主机的拓展模块，该模块能够进行</a:t>
            </a:r>
            <a:r>
              <a:rPr lang="en-US" altLang="zh-CN">
                <a:latin typeface="汉仪君黑-45简" panose="020B0604020202020204" charset="-122"/>
                <a:ea typeface="汉仪君黑-45简" panose="020B0604020202020204" charset="-122"/>
                <a:sym typeface="+mn-ea"/>
              </a:rPr>
              <a:t>4</a:t>
            </a:r>
            <a:r>
              <a:rPr lang="zh-CN" altLang="en-US">
                <a:latin typeface="汉仪君黑-45简" panose="020B0604020202020204" charset="-122"/>
                <a:ea typeface="汉仪君黑-45简" panose="020B0604020202020204" charset="-122"/>
                <a:sym typeface="+mn-ea"/>
              </a:rPr>
              <a:t>通道的同步采集，适合当前需求场景。模块具备高频率采集同时具有高精准性，能够做到高速高精准的采集任务。</a:t>
            </a:r>
            <a:endParaRPr lang="zh-CN" altLang="en-US">
              <a:latin typeface="汉仪君黑-45简" panose="020B0604020202020204" charset="-122"/>
              <a:ea typeface="汉仪君黑-45简" panose="020B0604020202020204" charset="-122"/>
            </a:endParaRPr>
          </a:p>
          <a:p>
            <a:pPr indent="457200" fontAlgn="auto"/>
            <a:r>
              <a:rPr lang="zh-CN" altLang="en-US">
                <a:latin typeface="汉仪君黑-45简" panose="020B0604020202020204" charset="-122"/>
                <a:ea typeface="汉仪君黑-45简" panose="020B0604020202020204" charset="-122"/>
                <a:sym typeface="+mn-ea"/>
              </a:rPr>
              <a:t>以下是该模块部分参数：</a:t>
            </a:r>
            <a:endParaRPr lang="zh-CN" altLang="en-US">
              <a:latin typeface="汉仪君黑-45简" panose="020B0604020202020204" charset="-122"/>
              <a:ea typeface="汉仪君黑-45简" panose="020B0604020202020204" charset="-122"/>
            </a:endParaRPr>
          </a:p>
          <a:p>
            <a:pPr indent="457200" fontAlgn="auto"/>
            <a:endParaRPr lang="zh-CN" altLang="en-US">
              <a:latin typeface="汉仪君黑-45简" panose="020B0604020202020204" charset="-122"/>
              <a:ea typeface="汉仪君黑-45简" panose="020B0604020202020204" charset="-122"/>
            </a:endParaRPr>
          </a:p>
        </p:txBody>
      </p:sp>
      <p:graphicFrame>
        <p:nvGraphicFramePr>
          <p:cNvPr id="5" name="表格 4"/>
          <p:cNvGraphicFramePr/>
          <p:nvPr/>
        </p:nvGraphicFramePr>
        <p:xfrm>
          <a:off x="2086610" y="3001645"/>
          <a:ext cx="8533130" cy="2667000"/>
        </p:xfrm>
        <a:graphic>
          <a:graphicData uri="http://schemas.openxmlformats.org/drawingml/2006/table">
            <a:tbl>
              <a:tblPr firstRow="1" bandRow="1">
                <a:tableStyleId>{5C22544A-7EE6-4342-B048-85BDC9FD1C3A}</a:tableStyleId>
              </a:tblPr>
              <a:tblGrid>
                <a:gridCol w="4266565"/>
                <a:gridCol w="4266565"/>
              </a:tblGrid>
              <a:tr h="381000">
                <a:tc>
                  <a:txBody>
                    <a:bodyPr/>
                    <a:p>
                      <a:pPr algn="ctr">
                        <a:buNone/>
                      </a:pPr>
                      <a:r>
                        <a:rPr lang="zh-CN" altLang="en-US">
                          <a:latin typeface="汉仪君黑-45简" panose="020B0604020202020204" charset="-122"/>
                          <a:ea typeface="汉仪君黑-45简" panose="020B0604020202020204" charset="-122"/>
                        </a:rPr>
                        <a:t>类型</a:t>
                      </a:r>
                      <a:endParaRPr lang="zh-CN" altLang="en-US">
                        <a:latin typeface="汉仪君黑-45简" panose="020B0604020202020204" charset="-122"/>
                        <a:ea typeface="汉仪君黑-45简" panose="020B0604020202020204" charset="-122"/>
                      </a:endParaRPr>
                    </a:p>
                  </a:txBody>
                  <a:tcPr/>
                </a:tc>
                <a:tc>
                  <a:txBody>
                    <a:bodyPr/>
                    <a:p>
                      <a:pPr algn="ctr">
                        <a:buNone/>
                      </a:pPr>
                      <a:r>
                        <a:rPr lang="zh-CN" altLang="en-US">
                          <a:latin typeface="汉仪君黑-45简" panose="020B0604020202020204" charset="-122"/>
                          <a:ea typeface="汉仪君黑-45简" panose="020B0604020202020204" charset="-122"/>
                        </a:rPr>
                        <a:t>特性</a:t>
                      </a:r>
                      <a:endParaRPr lang="zh-CN" altLang="en-US">
                        <a:latin typeface="汉仪君黑-45简" panose="020B0604020202020204" charset="-122"/>
                        <a:ea typeface="汉仪君黑-45简" panose="020B0604020202020204" charset="-122"/>
                      </a:endParaRPr>
                    </a:p>
                  </a:txBody>
                  <a:tcPr/>
                </a:tc>
              </a:tr>
              <a:tr h="381000">
                <a:tc>
                  <a:txBody>
                    <a:bodyPr/>
                    <a:p>
                      <a:pPr algn="ctr">
                        <a:buNone/>
                      </a:pPr>
                      <a:r>
                        <a:rPr lang="zh-CN" altLang="en-US">
                          <a:latin typeface="汉仪君黑-45简" panose="020B0604020202020204" charset="-122"/>
                          <a:ea typeface="汉仪君黑-45简" panose="020B0604020202020204" charset="-122"/>
                        </a:rPr>
                        <a:t>采样数</a:t>
                      </a:r>
                      <a:r>
                        <a:rPr lang="en-US" altLang="zh-CN">
                          <a:latin typeface="汉仪君黑-45简" panose="020B0604020202020204" charset="-122"/>
                          <a:ea typeface="汉仪君黑-45简" panose="020B0604020202020204" charset="-122"/>
                        </a:rPr>
                        <a:t> </a:t>
                      </a:r>
                      <a:endParaRPr lang="en-US" altLang="zh-CN">
                        <a:latin typeface="汉仪君黑-45简" panose="020B0604020202020204" charset="-122"/>
                        <a:ea typeface="汉仪君黑-45简" panose="020B0604020202020204" charset="-122"/>
                      </a:endParaRPr>
                    </a:p>
                  </a:txBody>
                  <a:tcPr/>
                </a:tc>
                <a:tc>
                  <a:txBody>
                    <a:bodyPr/>
                    <a:p>
                      <a:pPr algn="ctr">
                        <a:buNone/>
                      </a:pPr>
                      <a:r>
                        <a:rPr lang="en-US" altLang="zh-CN">
                          <a:latin typeface="汉仪君黑-45简" panose="020B0604020202020204" charset="-122"/>
                          <a:ea typeface="汉仪君黑-45简" panose="020B0604020202020204" charset="-122"/>
                        </a:rPr>
                        <a:t> 1</a:t>
                      </a:r>
                      <a:r>
                        <a:rPr lang="zh-CN" altLang="en-US">
                          <a:latin typeface="汉仪君黑-45简" panose="020B0604020202020204" charset="-122"/>
                          <a:ea typeface="汉仪君黑-45简" panose="020B0604020202020204" charset="-122"/>
                        </a:rPr>
                        <a:t>至</a:t>
                      </a:r>
                      <a:r>
                        <a:rPr lang="en-US" altLang="zh-CN">
                          <a:latin typeface="汉仪君黑-45简" panose="020B0604020202020204" charset="-122"/>
                          <a:ea typeface="汉仪君黑-45简" panose="020B0604020202020204" charset="-122"/>
                        </a:rPr>
                        <a:t> 16M </a:t>
                      </a:r>
                      <a:endParaRPr lang="en-US" altLang="zh-CN">
                        <a:latin typeface="汉仪君黑-45简" panose="020B0604020202020204" charset="-122"/>
                        <a:ea typeface="汉仪君黑-45简" panose="020B0604020202020204" charset="-122"/>
                      </a:endParaRPr>
                    </a:p>
                  </a:txBody>
                  <a:tcPr/>
                </a:tc>
              </a:tr>
              <a:tr h="381000">
                <a:tc>
                  <a:txBody>
                    <a:bodyPr/>
                    <a:p>
                      <a:pPr algn="ctr">
                        <a:buNone/>
                      </a:pPr>
                      <a:r>
                        <a:rPr lang="zh-CN" altLang="en-US">
                          <a:latin typeface="汉仪君黑-45简" panose="020B0604020202020204" charset="-122"/>
                          <a:ea typeface="汉仪君黑-45简" panose="020B0604020202020204" charset="-122"/>
                        </a:rPr>
                        <a:t>触发次数</a:t>
                      </a:r>
                      <a:r>
                        <a:rPr lang="en-US" altLang="zh-CN">
                          <a:latin typeface="汉仪君黑-45简" panose="020B0604020202020204" charset="-122"/>
                          <a:ea typeface="汉仪君黑-45简" panose="020B0604020202020204" charset="-122"/>
                        </a:rPr>
                        <a:t> </a:t>
                      </a:r>
                      <a:endParaRPr lang="en-US" altLang="zh-CN">
                        <a:latin typeface="汉仪君黑-45简" panose="020B0604020202020204" charset="-122"/>
                        <a:ea typeface="汉仪君黑-45简" panose="020B0604020202020204" charset="-122"/>
                      </a:endParaRPr>
                    </a:p>
                  </a:txBody>
                  <a:tcPr/>
                </a:tc>
                <a:tc>
                  <a:txBody>
                    <a:bodyPr/>
                    <a:p>
                      <a:pPr algn="ctr">
                        <a:buNone/>
                      </a:pPr>
                      <a:r>
                        <a:rPr lang="en-US" altLang="zh-CN">
                          <a:latin typeface="汉仪君黑-45简" panose="020B0604020202020204" charset="-122"/>
                          <a:ea typeface="汉仪君黑-45简" panose="020B0604020202020204" charset="-122"/>
                        </a:rPr>
                        <a:t> 1</a:t>
                      </a:r>
                      <a:r>
                        <a:rPr lang="zh-CN" altLang="en-US">
                          <a:latin typeface="汉仪君黑-45简" panose="020B0604020202020204" charset="-122"/>
                          <a:ea typeface="汉仪君黑-45简" panose="020B0604020202020204" charset="-122"/>
                        </a:rPr>
                        <a:t>至</a:t>
                      </a:r>
                      <a:r>
                        <a:rPr lang="en-US" altLang="zh-CN">
                          <a:latin typeface="汉仪君黑-45简" panose="020B0604020202020204" charset="-122"/>
                          <a:ea typeface="汉仪君黑-45简" panose="020B0604020202020204" charset="-122"/>
                        </a:rPr>
                        <a:t> 85k </a:t>
                      </a:r>
                      <a:endParaRPr lang="en-US" altLang="zh-CN">
                        <a:latin typeface="汉仪君黑-45简" panose="020B0604020202020204" charset="-122"/>
                        <a:ea typeface="汉仪君黑-45简" panose="020B0604020202020204" charset="-122"/>
                      </a:endParaRPr>
                    </a:p>
                  </a:txBody>
                  <a:tcPr/>
                </a:tc>
              </a:tr>
              <a:tr h="381000">
                <a:tc>
                  <a:txBody>
                    <a:bodyPr/>
                    <a:p>
                      <a:pPr algn="ctr">
                        <a:buNone/>
                      </a:pPr>
                      <a:r>
                        <a:rPr lang="zh-CN" altLang="en-US">
                          <a:latin typeface="汉仪君黑-45简" panose="020B0604020202020204" charset="-122"/>
                          <a:ea typeface="汉仪君黑-45简" panose="020B0604020202020204" charset="-122"/>
                        </a:rPr>
                        <a:t>每通道</a:t>
                      </a:r>
                      <a:r>
                        <a:rPr lang="en-US" altLang="zh-CN">
                          <a:latin typeface="汉仪君黑-45简" panose="020B0604020202020204" charset="-122"/>
                          <a:ea typeface="汉仪君黑-45简" panose="020B0604020202020204" charset="-122"/>
                        </a:rPr>
                        <a:t> ADC </a:t>
                      </a:r>
                      <a:endParaRPr lang="en-US" altLang="zh-CN">
                        <a:latin typeface="汉仪君黑-45简" panose="020B0604020202020204" charset="-122"/>
                        <a:ea typeface="汉仪君黑-45简" panose="020B0604020202020204" charset="-122"/>
                      </a:endParaRPr>
                    </a:p>
                  </a:txBody>
                  <a:tcPr/>
                </a:tc>
                <a:tc>
                  <a:txBody>
                    <a:bodyPr/>
                    <a:p>
                      <a:pPr algn="ctr">
                        <a:buNone/>
                      </a:pPr>
                      <a:r>
                        <a:rPr lang="en-US" altLang="zh-CN">
                          <a:latin typeface="汉仪君黑-45简" panose="020B0604020202020204" charset="-122"/>
                          <a:ea typeface="汉仪君黑-45简" panose="020B0604020202020204" charset="-122"/>
                        </a:rPr>
                        <a:t>800 kSa/s @ 24 </a:t>
                      </a:r>
                      <a:r>
                        <a:rPr lang="zh-CN" altLang="en-US">
                          <a:latin typeface="汉仪君黑-45简" panose="020B0604020202020204" charset="-122"/>
                          <a:ea typeface="汉仪君黑-45简" panose="020B0604020202020204" charset="-122"/>
                        </a:rPr>
                        <a:t>位</a:t>
                      </a:r>
                      <a:r>
                        <a:rPr lang="en-US" altLang="zh-CN">
                          <a:latin typeface="汉仪君黑-45简" panose="020B0604020202020204" charset="-122"/>
                          <a:ea typeface="汉仪君黑-45简" panose="020B0604020202020204" charset="-122"/>
                        </a:rPr>
                        <a:t> </a:t>
                      </a:r>
                      <a:endParaRPr lang="en-US" altLang="zh-CN">
                        <a:latin typeface="汉仪君黑-45简" panose="020B0604020202020204" charset="-122"/>
                        <a:ea typeface="汉仪君黑-45简" panose="020B0604020202020204" charset="-122"/>
                      </a:endParaRPr>
                    </a:p>
                  </a:txBody>
                  <a:tcPr/>
                </a:tc>
              </a:tr>
              <a:tr h="381000">
                <a:tc>
                  <a:txBody>
                    <a:bodyPr/>
                    <a:p>
                      <a:pPr algn="ctr">
                        <a:buNone/>
                      </a:pPr>
                      <a:r>
                        <a:rPr lang="zh-CN" altLang="en-US">
                          <a:latin typeface="汉仪君黑-45简" panose="020B0604020202020204" charset="-122"/>
                          <a:ea typeface="汉仪君黑-45简" panose="020B0604020202020204" charset="-122"/>
                        </a:rPr>
                        <a:t>符合</a:t>
                      </a:r>
                      <a:r>
                        <a:rPr lang="en-US" altLang="zh-CN">
                          <a:latin typeface="汉仪君黑-45简" panose="020B0604020202020204" charset="-122"/>
                          <a:ea typeface="汉仪君黑-45简" panose="020B0604020202020204" charset="-122"/>
                        </a:rPr>
                        <a:t> IEPE </a:t>
                      </a:r>
                      <a:r>
                        <a:rPr lang="zh-CN" altLang="en-US">
                          <a:latin typeface="汉仪君黑-45简" panose="020B0604020202020204" charset="-122"/>
                          <a:ea typeface="汉仪君黑-45简" panose="020B0604020202020204" charset="-122"/>
                        </a:rPr>
                        <a:t>电流源要求的电压</a:t>
                      </a:r>
                      <a:r>
                        <a:rPr lang="en-US" altLang="zh-CN">
                          <a:latin typeface="汉仪君黑-45简" panose="020B0604020202020204" charset="-122"/>
                          <a:ea typeface="汉仪君黑-45简" panose="020B0604020202020204" charset="-122"/>
                        </a:rPr>
                        <a:t> </a:t>
                      </a:r>
                      <a:endParaRPr lang="en-US" altLang="zh-CN">
                        <a:latin typeface="汉仪君黑-45简" panose="020B0604020202020204" charset="-122"/>
                        <a:ea typeface="汉仪君黑-45简" panose="020B0604020202020204" charset="-122"/>
                      </a:endParaRPr>
                    </a:p>
                  </a:txBody>
                  <a:tcPr/>
                </a:tc>
                <a:tc>
                  <a:txBody>
                    <a:bodyPr/>
                    <a:p>
                      <a:pPr algn="ctr">
                        <a:buNone/>
                      </a:pPr>
                      <a:r>
                        <a:rPr lang="en-US" altLang="zh-CN">
                          <a:latin typeface="汉仪君黑-45简" panose="020B0604020202020204" charset="-122"/>
                          <a:ea typeface="汉仪君黑-45简" panose="020B0604020202020204" charset="-122"/>
                        </a:rPr>
                        <a:t>20 V </a:t>
                      </a:r>
                      <a:endParaRPr lang="en-US" altLang="zh-CN">
                        <a:latin typeface="汉仪君黑-45简" panose="020B0604020202020204" charset="-122"/>
                        <a:ea typeface="汉仪君黑-45简" panose="020B0604020202020204" charset="-122"/>
                      </a:endParaRPr>
                    </a:p>
                  </a:txBody>
                  <a:tcPr/>
                </a:tc>
              </a:tr>
              <a:tr h="381000">
                <a:tc>
                  <a:txBody>
                    <a:bodyPr/>
                    <a:p>
                      <a:pPr algn="ctr">
                        <a:buNone/>
                      </a:pPr>
                      <a:r>
                        <a:rPr lang="zh-CN" altLang="en-US">
                          <a:latin typeface="汉仪君黑-45简" panose="020B0604020202020204" charset="-122"/>
                          <a:ea typeface="汉仪君黑-45简" panose="020B0604020202020204" charset="-122"/>
                        </a:rPr>
                        <a:t>过压保护</a:t>
                      </a:r>
                      <a:endParaRPr lang="zh-CN" altLang="en-US">
                        <a:latin typeface="汉仪君黑-45简" panose="020B0604020202020204" charset="-122"/>
                        <a:ea typeface="汉仪君黑-45简" panose="020B0604020202020204" charset="-122"/>
                      </a:endParaRPr>
                    </a:p>
                  </a:txBody>
                  <a:tcPr/>
                </a:tc>
                <a:tc>
                  <a:txBody>
                    <a:bodyPr/>
                    <a:p>
                      <a:pPr algn="ctr">
                        <a:buNone/>
                      </a:pPr>
                      <a:r>
                        <a:rPr lang="zh-CN" altLang="en-US">
                          <a:latin typeface="汉仪君黑-45简" panose="020B0604020202020204" charset="-122"/>
                          <a:ea typeface="汉仪君黑-45简" panose="020B0604020202020204" charset="-122"/>
                        </a:rPr>
                        <a:t>±</a:t>
                      </a:r>
                      <a:r>
                        <a:rPr lang="en-US" altLang="zh-CN">
                          <a:latin typeface="汉仪君黑-45简" panose="020B0604020202020204" charset="-122"/>
                          <a:ea typeface="汉仪君黑-45简" panose="020B0604020202020204" charset="-122"/>
                        </a:rPr>
                        <a:t> 42 V </a:t>
                      </a:r>
                      <a:endParaRPr lang="en-US" altLang="zh-CN">
                        <a:latin typeface="汉仪君黑-45简" panose="020B0604020202020204" charset="-122"/>
                        <a:ea typeface="汉仪君黑-45简" panose="020B0604020202020204" charset="-122"/>
                      </a:endParaRPr>
                    </a:p>
                  </a:txBody>
                  <a:tcPr/>
                </a:tc>
              </a:tr>
              <a:tr h="381000">
                <a:tc>
                  <a:txBody>
                    <a:bodyPr/>
                    <a:p>
                      <a:pPr algn="ctr">
                        <a:buNone/>
                      </a:pPr>
                      <a:r>
                        <a:rPr lang="zh-CN" altLang="en-US">
                          <a:latin typeface="汉仪君黑-45简" panose="020B0604020202020204" charset="-122"/>
                          <a:ea typeface="汉仪君黑-45简" panose="020B0604020202020204" charset="-122"/>
                        </a:rPr>
                        <a:t>触发事件（通道）</a:t>
                      </a:r>
                      <a:r>
                        <a:rPr lang="en-US" altLang="zh-CN">
                          <a:latin typeface="汉仪君黑-45简" panose="020B0604020202020204" charset="-122"/>
                          <a:ea typeface="汉仪君黑-45简" panose="020B0604020202020204" charset="-122"/>
                        </a:rPr>
                        <a:t> </a:t>
                      </a:r>
                      <a:endParaRPr lang="en-US" altLang="zh-CN">
                        <a:latin typeface="汉仪君黑-45简" panose="020B0604020202020204" charset="-122"/>
                        <a:ea typeface="汉仪君黑-45简" panose="020B0604020202020204" charset="-122"/>
                      </a:endParaRPr>
                    </a:p>
                  </a:txBody>
                  <a:tcPr/>
                </a:tc>
                <a:tc>
                  <a:txBody>
                    <a:bodyPr/>
                    <a:p>
                      <a:pPr algn="ctr">
                        <a:buNone/>
                      </a:pPr>
                      <a:r>
                        <a:rPr lang="zh-CN" altLang="en-US">
                          <a:latin typeface="汉仪君黑-45简" panose="020B0604020202020204" charset="-122"/>
                          <a:ea typeface="汉仪君黑-45简" panose="020B0604020202020204" charset="-122"/>
                        </a:rPr>
                        <a:t>软件，</a:t>
                      </a:r>
                      <a:r>
                        <a:rPr lang="en-US" altLang="zh-CN">
                          <a:latin typeface="汉仪君黑-45简" panose="020B0604020202020204" charset="-122"/>
                          <a:ea typeface="汉仪君黑-45简" panose="020B0604020202020204" charset="-122"/>
                        </a:rPr>
                        <a:t>IMM</a:t>
                      </a:r>
                      <a:r>
                        <a:rPr lang="zh-CN" altLang="en-US">
                          <a:latin typeface="汉仪君黑-45简" panose="020B0604020202020204" charset="-122"/>
                          <a:ea typeface="汉仪君黑-45简" panose="020B0604020202020204" charset="-122"/>
                        </a:rPr>
                        <a:t>，电平</a:t>
                      </a:r>
                      <a:r>
                        <a:rPr lang="en-US" altLang="zh-CN">
                          <a:latin typeface="汉仪君黑-45简" panose="020B0604020202020204" charset="-122"/>
                          <a:ea typeface="汉仪君黑-45简" panose="020B0604020202020204" charset="-122"/>
                        </a:rPr>
                        <a:t>/</a:t>
                      </a:r>
                      <a:r>
                        <a:rPr lang="zh-CN" altLang="en-US">
                          <a:latin typeface="汉仪君黑-45简" panose="020B0604020202020204" charset="-122"/>
                          <a:ea typeface="汉仪君黑-45简" panose="020B0604020202020204" charset="-122"/>
                        </a:rPr>
                        <a:t>斜率</a:t>
                      </a:r>
                      <a:r>
                        <a:rPr lang="en-US" altLang="zh-CN">
                          <a:latin typeface="汉仪君黑-45简" panose="020B0604020202020204" charset="-122"/>
                          <a:ea typeface="汉仪君黑-45简" panose="020B0604020202020204" charset="-122"/>
                        </a:rPr>
                        <a:t> </a:t>
                      </a:r>
                      <a:endParaRPr lang="en-US" altLang="zh-CN">
                        <a:latin typeface="汉仪君黑-45简" panose="020B0604020202020204" charset="-122"/>
                        <a:ea typeface="汉仪君黑-45简" panose="020B0604020202020204" charset="-122"/>
                      </a:endParaRPr>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r>
              <a:rPr lang="zh-CN" altLang="en-US">
                <a:latin typeface="汉仪君黑-45简" panose="020B0604020202020204" charset="-122"/>
                <a:ea typeface="汉仪君黑-45简" panose="020B0604020202020204" charset="-122"/>
              </a:rPr>
              <a:t>选型介绍</a:t>
            </a:r>
            <a:endParaRPr lang="zh-CN" altLang="en-US">
              <a:latin typeface="汉仪君黑-45简" panose="020B0604020202020204" charset="-122"/>
              <a:ea typeface="汉仪君黑-45简" panose="020B0604020202020204" charset="-122"/>
            </a:endParaRPr>
          </a:p>
        </p:txBody>
      </p:sp>
      <p:sp>
        <p:nvSpPr>
          <p:cNvPr id="4" name="文本框 3"/>
          <p:cNvSpPr txBox="1"/>
          <p:nvPr/>
        </p:nvSpPr>
        <p:spPr>
          <a:xfrm>
            <a:off x="1664970" y="883285"/>
            <a:ext cx="9376410" cy="5608320"/>
          </a:xfrm>
          <a:prstGeom prst="rect">
            <a:avLst/>
          </a:prstGeom>
          <a:noFill/>
        </p:spPr>
        <p:txBody>
          <a:bodyPr wrap="square" rtlCol="0">
            <a:noAutofit/>
          </a:bodyPr>
          <a:p>
            <a:pPr indent="0" fontAlgn="auto"/>
            <a:r>
              <a:rPr lang="zh-CN" altLang="en-US">
                <a:latin typeface="汉仪君黑-45简" panose="020B0604020202020204" charset="-122"/>
                <a:ea typeface="汉仪君黑-45简" panose="020B0604020202020204" charset="-122"/>
              </a:rPr>
              <a:t>二、</a:t>
            </a:r>
            <a:r>
              <a:rPr lang="en-US" altLang="zh-CN" sz="2400">
                <a:latin typeface="汉仪君黑-45简" panose="020B0604020202020204" charset="-122"/>
                <a:ea typeface="汉仪君黑-45简" panose="020B0604020202020204" charset="-122"/>
                <a:sym typeface="+mn-ea"/>
              </a:rPr>
              <a:t>KEYSIGHT </a:t>
            </a:r>
            <a:r>
              <a:rPr lang="en-US" altLang="zh-CN" sz="2400">
                <a:latin typeface="汉仪君黑-45简" panose="020B0604020202020204" charset="-122"/>
                <a:ea typeface="汉仪君黑-45简" panose="020B0604020202020204" charset="-122"/>
              </a:rPr>
              <a:t>DAQM909A  4 </a:t>
            </a:r>
            <a:r>
              <a:rPr lang="zh-CN" altLang="en-US" sz="2400">
                <a:latin typeface="汉仪君黑-45简" panose="020B0604020202020204" charset="-122"/>
                <a:ea typeface="汉仪君黑-45简" panose="020B0604020202020204" charset="-122"/>
              </a:rPr>
              <a:t>通道同步采样模块</a:t>
            </a:r>
            <a:endParaRPr lang="zh-CN" altLang="en-US" sz="2400">
              <a:latin typeface="汉仪君黑-45简" panose="020B0604020202020204" charset="-122"/>
              <a:ea typeface="汉仪君黑-45简" panose="020B0604020202020204" charset="-122"/>
            </a:endParaRPr>
          </a:p>
        </p:txBody>
      </p:sp>
      <p:pic>
        <p:nvPicPr>
          <p:cNvPr id="2" name="图片 1"/>
          <p:cNvPicPr>
            <a:picLocks noChangeAspect="1"/>
          </p:cNvPicPr>
          <p:nvPr/>
        </p:nvPicPr>
        <p:blipFill>
          <a:blip r:embed="rId1"/>
          <a:stretch>
            <a:fillRect/>
          </a:stretch>
        </p:blipFill>
        <p:spPr>
          <a:xfrm>
            <a:off x="3390900" y="1301750"/>
            <a:ext cx="6087110" cy="53797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descr="F:\水调歌头\客户资料\订单\欧亚自动化\ppt\1-背景.jpg"/>
          <p:cNvPicPr>
            <a:picLocks noChangeAspect="1" noChangeArrowheads="1"/>
          </p:cNvPicPr>
          <p:nvPr/>
        </p:nvPicPr>
        <p:blipFill rotWithShape="1">
          <a:blip r:embed="rId1" cstate="print"/>
          <a:srcRect l="683" t="1342" r="1250" b="30369"/>
          <a:stretch>
            <a:fillRect/>
          </a:stretch>
        </p:blipFill>
        <p:spPr bwMode="auto">
          <a:xfrm>
            <a:off x="0" y="1"/>
            <a:ext cx="7262402" cy="6858000"/>
          </a:xfrm>
          <a:prstGeom prst="rect">
            <a:avLst/>
          </a:prstGeom>
          <a:noFill/>
          <a:ln>
            <a:noFill/>
          </a:ln>
        </p:spPr>
      </p:pic>
      <p:sp>
        <p:nvSpPr>
          <p:cNvPr id="6" name="矩形 5"/>
          <p:cNvSpPr/>
          <p:nvPr/>
        </p:nvSpPr>
        <p:spPr>
          <a:xfrm>
            <a:off x="0" y="0"/>
            <a:ext cx="7894320" cy="6858000"/>
          </a:xfrm>
          <a:prstGeom prst="rect">
            <a:avLst/>
          </a:prstGeom>
          <a:gradFill>
            <a:gsLst>
              <a:gs pos="0">
                <a:schemeClr val="accent1">
                  <a:lumMod val="5000"/>
                  <a:lumOff val="95000"/>
                  <a:alpha val="40000"/>
                </a:schemeClr>
              </a:gs>
              <a:gs pos="100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endParaRPr>
          </a:p>
        </p:txBody>
      </p:sp>
      <p:sp>
        <p:nvSpPr>
          <p:cNvPr id="5" name="矩形 4"/>
          <p:cNvSpPr/>
          <p:nvPr/>
        </p:nvSpPr>
        <p:spPr>
          <a:xfrm>
            <a:off x="0" y="5534560"/>
            <a:ext cx="12192000" cy="132343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endParaRPr>
          </a:p>
        </p:txBody>
      </p:sp>
      <p:grpSp>
        <p:nvGrpSpPr>
          <p:cNvPr id="79" name="组合 78"/>
          <p:cNvGrpSpPr/>
          <p:nvPr/>
        </p:nvGrpSpPr>
        <p:grpSpPr>
          <a:xfrm>
            <a:off x="2487000" y="3810368"/>
            <a:ext cx="7218000" cy="145406"/>
            <a:chOff x="1689904" y="3740795"/>
            <a:chExt cx="8812192" cy="264046"/>
          </a:xfrm>
        </p:grpSpPr>
        <p:cxnSp>
          <p:nvCxnSpPr>
            <p:cNvPr id="11" name="直接连接符 10"/>
            <p:cNvCxnSpPr/>
            <p:nvPr/>
          </p:nvCxnSpPr>
          <p:spPr>
            <a:xfrm>
              <a:off x="1689904" y="3740795"/>
              <a:ext cx="0" cy="264046"/>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869745" y="3740795"/>
              <a:ext cx="0" cy="264046"/>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2049586"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2229427" y="3740795"/>
              <a:ext cx="0" cy="264046"/>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2409268"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589109" y="3740795"/>
              <a:ext cx="0" cy="264046"/>
            </a:xfrm>
            <a:prstGeom prst="line">
              <a:avLst/>
            </a:prstGeom>
            <a:ln w="825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2768950" y="3740795"/>
              <a:ext cx="0" cy="264046"/>
            </a:xfrm>
            <a:prstGeom prst="line">
              <a:avLst/>
            </a:prstGeom>
            <a:ln w="889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2948791"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3128632"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308473"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3668155"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3847996" y="3740795"/>
              <a:ext cx="0" cy="264046"/>
            </a:xfrm>
            <a:prstGeom prst="line">
              <a:avLst/>
            </a:prstGeom>
            <a:ln w="889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4207678"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488314" y="3740795"/>
              <a:ext cx="0" cy="264046"/>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4027837"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4387519"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927042"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4747201"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5106883" y="3740795"/>
              <a:ext cx="0" cy="264046"/>
            </a:xfrm>
            <a:prstGeom prst="line">
              <a:avLst/>
            </a:prstGeom>
            <a:ln w="825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5286724"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5466565"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6006088"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5646406"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567360"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5826247"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10502096" y="3740795"/>
              <a:ext cx="0" cy="264046"/>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10322272" y="3740795"/>
              <a:ext cx="0" cy="264046"/>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10142431"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9962590" y="3740795"/>
              <a:ext cx="0" cy="264046"/>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9782749"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9602908" y="3740795"/>
              <a:ext cx="0" cy="264046"/>
            </a:xfrm>
            <a:prstGeom prst="line">
              <a:avLst/>
            </a:prstGeom>
            <a:ln w="825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9423067" y="3740795"/>
              <a:ext cx="0" cy="264046"/>
            </a:xfrm>
            <a:prstGeom prst="line">
              <a:avLst/>
            </a:prstGeom>
            <a:ln w="889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9243226"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9063385"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8883544"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8523862"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8344021" y="3740795"/>
              <a:ext cx="0" cy="264046"/>
            </a:xfrm>
            <a:prstGeom prst="line">
              <a:avLst/>
            </a:prstGeom>
            <a:ln w="889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7984339"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8703703" y="3740795"/>
              <a:ext cx="0" cy="264046"/>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8164180"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7804498"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7264975"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7444816"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7085134" y="3740795"/>
              <a:ext cx="0" cy="264046"/>
            </a:xfrm>
            <a:prstGeom prst="line">
              <a:avLst/>
            </a:prstGeom>
            <a:ln w="825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6905293"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6725452"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6185929"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6545611"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7624657"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6365770"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1927909" y="1582019"/>
            <a:ext cx="8336182" cy="1862048"/>
          </a:xfrm>
          <a:prstGeom prst="rect">
            <a:avLst/>
          </a:prstGeom>
          <a:noFill/>
        </p:spPr>
        <p:txBody>
          <a:bodyPr wrap="square" rtlCol="0">
            <a:spAutoFit/>
          </a:bodyPr>
          <a:lstStyle/>
          <a:p>
            <a:pPr algn="ctr"/>
            <a:r>
              <a:rPr lang="zh-CN" altLang="en-US" sz="11500" b="1" dirty="0">
                <a:solidFill>
                  <a:srgbClr val="002060"/>
                </a:solidFill>
                <a:effectLst>
                  <a:outerShdw blurRad="38100" dist="38100" dir="2700000" algn="tl">
                    <a:srgbClr val="000000">
                      <a:alpha val="43137"/>
                    </a:srgbClr>
                  </a:outerShdw>
                </a:effectLst>
                <a:latin typeface="汉仪君黑-45简" panose="020B0604020202020204" charset="-122"/>
                <a:ea typeface="汉仪君黑-45简" panose="020B0604020202020204" charset="-122"/>
              </a:rPr>
              <a:t>感谢观看</a:t>
            </a:r>
            <a:endParaRPr lang="zh-CN" altLang="en-US" sz="11500" b="1" dirty="0">
              <a:solidFill>
                <a:srgbClr val="002060"/>
              </a:solidFill>
              <a:effectLst>
                <a:outerShdw blurRad="38100" dist="38100" dir="2700000" algn="tl">
                  <a:srgbClr val="000000">
                    <a:alpha val="43137"/>
                  </a:srgbClr>
                </a:outerShdw>
              </a:effectLst>
              <a:latin typeface="汉仪君黑-45简" panose="020B0604020202020204" charset="-122"/>
              <a:ea typeface="汉仪君黑-45简" panose="020B0604020202020204" charset="-122"/>
            </a:endParaRPr>
          </a:p>
        </p:txBody>
      </p:sp>
    </p:spTree>
  </p:cSld>
  <p:clrMapOvr>
    <a:masterClrMapping/>
  </p:clrMapOvr>
</p:sld>
</file>

<file path=ppt/tags/tag1.xml><?xml version="1.0" encoding="utf-8"?>
<p:tagLst xmlns:p="http://schemas.openxmlformats.org/presentationml/2006/main">
  <p:tag name="MH_OLD_SHAPE_ID" val="2"/>
  <p:tag name="REFSHAPE" val="687429360"/>
</p:tagLst>
</file>

<file path=ppt/tags/tag2.xml><?xml version="1.0" encoding="utf-8"?>
<p:tagLst xmlns:p="http://schemas.openxmlformats.org/presentationml/2006/main">
  <p:tag name="MH_OLD_SHAPE_ID" val="10"/>
  <p:tag name="REFSHAPE" val="687428064"/>
</p:tagLst>
</file>

<file path=ppt/tags/tag3.xml><?xml version="1.0" encoding="utf-8"?>
<p:tagLst xmlns:p="http://schemas.openxmlformats.org/presentationml/2006/main">
  <p:tag name="MH_OLD_SHAPE_ID" val="20"/>
  <p:tag name="REFSHAPE" val="687431808"/>
</p:tagLst>
</file>

<file path=ppt/tags/tag4.xml><?xml version="1.0" encoding="utf-8"?>
<p:tagLst xmlns:p="http://schemas.openxmlformats.org/presentationml/2006/main">
  <p:tag name="MH_OLD_SHAPE_ID" val="22"/>
  <p:tag name="REFSHAPE" val="687439000"/>
</p:tagLst>
</file>

<file path=ppt/tags/tag5.xml><?xml version="1.0" encoding="utf-8"?>
<p:tagLst xmlns:p="http://schemas.openxmlformats.org/presentationml/2006/main">
  <p:tag name="KSO_WM_DIAGRAM_VIRTUALLY_FRAME" val="{&quot;height&quot;:422.55,&quot;left&quot;:134.85,&quot;top&quot;:99.9,&quot;width&quot;:781.3}"/>
</p:tagLst>
</file>

<file path=ppt/tags/tag6.xml><?xml version="1.0" encoding="utf-8"?>
<p:tagLst xmlns:p="http://schemas.openxmlformats.org/presentationml/2006/main">
  <p:tag name="KSO_WM_DIAGRAM_VIRTUALLY_FRAME" val="{&quot;height&quot;:422.55,&quot;left&quot;:134.85,&quot;top&quot;:99.9,&quot;width&quot;:781.3}"/>
</p:tagLst>
</file>

<file path=ppt/tags/tag7.xml><?xml version="1.0" encoding="utf-8"?>
<p:tagLst xmlns:p="http://schemas.openxmlformats.org/presentationml/2006/main">
  <p:tag name="TABLE_ENDDRAG_ORIGIN_RECT" val="725*128"/>
  <p:tag name="TABLE_ENDDRAG_RECT" val="144*170*725*128"/>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webExtensions/_rels/webExtension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oleObject" Target="C:/Users/ENGINEER/AppData/Local/Temp/wps.gXCQPm/Workbook1.xlsx" TargetMode="External"/></Relationships>
</file>

<file path=ppt/webExtensions/webExtension1.xml><?xml version="1.0" encoding="utf-8"?>
<wpswe:webExtension xmlns:wpswe="http://www.wps.cn/officeDocument/2018/webExtension" xmlns:webet="https://web.wps.cn/et/2018/main" webet:type="Normal" type="0" webet:id="">
  <wpswe:extSource id="webet-pyShape" version="1.0"/>
  <wpswe:properties>
    <wpswe:property key="pythonData" value="[{&quot;data&quot;:&quot;{\&quot;options\&quot;:{\&quot;animation\&quot;:true,\&quot;animationThreshold\&quot;:2000,\&quot;animationDuration\&quot;:1000,\&quot;animationEasing\&quot;:\&quot;cubicOut\&quot;,\&quot;animationDelay\&quot;:0,\&quot;animationDurationUpdate\&quot;:300,\&quot;animationEasingUpdate\&quot;:\&quot;cubicOut\&quot;,\&quot;animationDelayUpdate\&quot;:0,\&quot;aria\&quot;:{\&quot;enabled\&quot;:false},\&quot;color\&quot;:[\&quot;#0000ffff\&quot;,\&quot;#5470c6\&quot;,\&quot;#91cc75\&quot;,\&quot;#fac858\&quot;,\&quot;#ee6666\&quot;,\&quot;#73c0de\&quot;,\&quot;#3ba272\&quot;,\&quot;#fc8452\&quot;,\&quot;#9a60b4\&quot;,\&quot;#ea7ccc\&quot;],\&quot;series\&quot;:[{\&quot;type\&quot;:\&quot;line\&quot;,\&quot;name\&quot;:\&quot;电阻值变化\&quot;,\&quot;connectNulls\&quot;:false,\&quot;xAxisIndex\&quot;:0,\&quot;yAxisIndex\&quot;:0,\&quot;symbolSize\&quot;:4,\&quot;showSymbol\&quot;:false,\&quot;smooth\&quot;:false,\&quot;clip\&quot;:true,\&quot;step\&quot;:false,\&quot;data\&quot;:[8718.31,8740.16,8717.07,8736.73,8720.61,8722.16,8723.03,8721.21,8715.58,8723.22,8738.31,8733.81,8728.4,8666.65,8553.61,8354.69,8137.76,8018.92,7844.65,7591.95,7492.9,7334.96,7249.74,7015.05,6863.62,6748.18,6577.32,6411.85,6348.59,6172.65,5538.68,5490,5396.93,5339.58,5208.55,4805.48,4761.43,4698.3,4659.67,4572.88,4504.06,4470.82,4405.29,4336.65,4304.44,4245.28,4192.84,4126.27,4056.93,4034.78,3991.99,3770.16,3694.58,3681.47,3639.23,3616.03,3597.05,3556.96,3541.36,3526.44,3485.41,3463.15,3455.27,3423.05,3390.51,3291.58,3283.7,3277.93,3256.89,3170.29,3160.83,3148.54,3131.27,3113.82,3099.02,3098.82,3081.86,3062.74,3053.63,3048.23,3028.3,3019.73,3016.38,2995.78,2995.72,2980.25,2969.75,2962.83,2948.52,2946.23,2914.05,2913.19,2902.19,2895.61,2882.99,2879.18,2864.02,2864.82,2859.9,2845.27,2843.82,2836.92,2800.93,2804.25,2770.75,2743.28,2746.97,2734.27,2735.38,2732.04,2721.29,2719.36,2715.3,2713.91,2709.19,2703.42,2697.91,2697.13,2697.32,2692.39,2684.25,2671.69,2664.53,2660.77,2666.05,2657.82,2659.63,2655.92,2646.73,2651.09,2646.09,2628.45,2625.94,2620.92,2621.39,2622.82,2619.32,2616.93,2613.38,2609.97,2612.26,2612.51,2608.72,2608.86,2599.37,2599.05,2596.44],\&quot;hoverAnimation\&quot;:true,\&quot;label\&quot;:{\&quot;show\&quot;:false,\&quot;margin\&quot;:8,\&quot;fontSize\&quot;:12},\&quot;logBase\&quot;:10,\&quot;seriesLayoutBy\&quot;:\&quot;column\&quot;,\&quot;lineStyle\&quot;:{\&quot;show\&quot;:true,\&quot;width\&quot;:1,\&quot;opacity\&quot;:1,\&quot;curveness\&quot;:0,\&quot;type\&quot;:\&quot;solid\&quot;},\&quot;zlevel\&quot;:0,\&quot;z\&quot;:0}],\&quot;legend\&quot;:[{\&quot;data\&quot;:[\&quot;电阻值变化\&quot;],\&quot;selected\&quot;:{},\&quot;type\&quot;:\&quot;scroll\&quot;,\&quot;show\&quot;:true,\&quot;top\&quot;:\&quot;bottom\&quot;,\&quot;padding\&quot;:10,\&quot;itemGap\&quot;:10,\&quot;itemWidth\&quot;:25,\&quot;itemHeight\&quot;:14,\&quot;backgroundColor\&quot;:\&quot;transparent\&quot;,\&quot;borderColor\&quot;:\&quot;transparent\&quot;,\&quot;borderRadius\&quot;:0,\&quot;pageButtonItemGap\&quot;:5,\&quot;pageButtonPosition\&quot;:\&quot;end\&quot;,\&quot;pageFormatter\&quot;:\&quot;{current}/{total}\&quot;,\&quot;pageIconColor\&quot;:\&quot;#2f4554\&quot;,\&quot;pageIconInactiveColor\&quot;:\&quot;#aaa\&quot;,\&quot;pageIconSize\&quot;:15,\&quot;animationDurationUpdate\&quot;:800,\&quot;selector\&quot;:false,\&quot;selectorPosition\&quot;:\&quot;auto\&quot;,\&quot;selectorItemGap\&quot;:7,\&quot;selectorButtonGap\&quot;:10}],\&quot;tooltip\&quot;:{\&quot;show\&quot;:true,\&quot;trigger\&quot;:\&quot;axis\&quot;,\&quot;triggerOn\&quot;:\&quot;mousemove|click\&quot;,\&quot;axisPointer\&quot;:{\&quot;type\&quot;:\&quot;cross\&quot;},\&quot;showContent\&quot;:true,\&quot;alwaysShowContent\&quot;:false,\&quot;showDelay\&quot;:0,\&quot;hideDelay\&quot;:100,\&quot;enterable\&quot;:false,\&quot;confine\&quot;:false,\&quot;appendToBody\&quot;:false,\&quot;transitionDuration\&quot;:0.4,\&quot;textStyle\&quot;:{\&quot;fontSize\&quot;:14},\&quot;borderWidth\&quot;:0,\&quot;padding\&quot;:5,\&quot;order\&quot;:\&quot;seriesAsc\&quot;},\&quot;xAxis\&quot;:[{\&quot;show\&quot;:true,\&quot;scale\&quot;:false,\&quot;nameLocation\&quot;:\&quot;end\&quot;,\&quot;nameGap\&quot;:15,\&quot;gridIndex\&quot;:0,\&quot;axisLine\&quot;:{\&quot;show\&quot;:true,\&quot;onZero\&quot;:true,\&quot;onZeroAxisIndex\&quot;:0,\&quot;lineStyle\&quot;:{\&quot;show\&quot;:true,\&quot;width\&quot;:1,\&quot;opacity\&quot;:1,\&quot;curveness\&quot;:0,\&quot;type\&quot;:\&quot;solid\&quot;,\&quot;color\&quot;:\&quot;#798893\&quot;}},\&quot;axisTick\&quot;:{\&quot;show\&quot;:true,\&quot;alignWithLabel\&quot;:false,\&quot;inside\&quot;:false,\&quot;lineStyle\&quot;:{\&quot;show\&quot;:true,\&quot;width\&quot;:1,\&quot;opacity\&quot;:1,\&quot;curveness\&quot;:0,\&quot;type\&quot;:\&quot;solid\&quot;,\&quot;color\&quot;:\&quot;#798893\&quot;}},\&quot;axisLabel\&quot;:{\&quot;show\&quot;:true,\&quot;rotate\&quot;:-45,\&quot;margin\&quot;:8,\&quot;fontSize\&quot;:12,\&quot;align\&quot;:\&quot;left\&quot;},\&quot;inverse\&quot;:false,\&quot;offset\&quot;:0,\&quot;splitNumber\&quot;:5,\&quot;minInterval\&quot;:0,\&quot;splitLine\&quot;:{\&quot;show\&quot;:true,\&quot;lineStyle\&quot;:{\&quot;show\&quot;:true,\&quot;width\&quot;:1,\&quot;opacity\&quot;:1,\&quot;curveness\&quot;:0,\&quot;type\&quot;:\&quot;solid\&quot;}},\&quot;data\&quot;:[\&quot;0\&quot;,\&quot;1\&quot;,\&quot;2\&quot;,\&quot;3\&quot;,\&quot;4\&quot;,\&quot;5\&quot;,\&quot;6\&quot;,\&quot;7\&quot;,\&quot;8\&quot;,\&quot;9\&quot;,\&quot;10\&quot;,\&quot;11\&quot;,\&quot;12\&quot;,\&quot;13\&quot;,\&quot;14\&quot;,\&quot;15\&quot;,\&quot;16\&quot;,\&quot;17\&quot;,\&quot;18\&quot;,\&quot;19\&quot;,\&quot;20\&quot;,\&quot;21\&quot;,\&quot;22\&quot;,\&quot;23\&quot;,\&quot;24\&quot;,\&quot;25\&quot;,\&quot;26\&quot;,\&quot;27\&quot;,\&quot;28\&quot;,\&quot;29\&quot;,\&quot;30\&quot;,\&quot;31\&quot;,\&quot;32\&quot;,\&quot;33\&quot;,\&quot;34\&quot;,\&quot;35\&quot;,\&quot;36\&quot;,\&quot;37\&quot;,\&quot;38\&quot;,\&quot;39\&quot;,\&quot;40\&quot;,\&quot;41\&quot;,\&quot;42\&quot;,\&quot;43\&quot;,\&quot;44\&quot;,\&quot;45\&quot;,\&quot;46\&quot;,\&quot;47\&quot;,\&quot;48\&quot;,\&quot;49\&quot;,\&quot;50\&quot;,\&quot;51\&quot;,\&quot;52\&quot;,\&quot;53\&quot;,\&quot;54\&quot;,\&quot;55\&quot;,\&quot;56\&quot;,\&quot;57\&quot;,\&quot;58\&quot;,\&quot;59\&quot;,\&quot;60\&quot;,\&quot;61\&quot;,\&quot;62\&quot;,\&quot;63\&quot;,\&quot;64\&quot;,\&quot;65\&quot;,\&quot;66\&quot;,\&quot;67\&quot;,\&quot;68\&quot;,\&quot;69\&quot;,\&quot;70\&quot;,\&quot;71\&quot;,\&quot;72\&quot;,\&quot;73\&quot;,\&quot;74\&quot;,\&quot;75\&quot;,\&quot;76\&quot;,\&quot;77\&quot;,\&quot;78\&quot;,\&quot;79\&quot;,\&quot;80\&quot;,\&quot;81\&quot;,\&quot;82\&quot;,\&quot;83\&quot;,\&quot;84\&quot;,\&quot;85\&quot;,\&quot;86\&quot;,\&quot;87\&quot;,\&quot;88\&quot;,\&quot;89\&quot;,\&quot;90\&quot;,\&quot;91\&quot;,\&quot;92\&quot;,\&quot;93\&quot;,\&quot;94\&quot;,\&quot;95\&quot;,\&quot;96\&quot;,\&quot;97\&quot;,\&quot;98\&quot;,\&quot;99\&quot;,\&quot;100\&quot;,\&quot;101\&quot;,\&quot;102\&quot;,\&quot;103\&quot;,\&quot;104\&quot;,\&quot;105\&quot;,\&quot;106\&quot;,\&quot;107\&quot;,\&quot;108\&quot;,\&quot;109\&quot;,\&quot;110\&quot;,\&quot;111\&quot;,\&quot;112\&quot;,\&quot;113\&quot;,\&quot;114\&quot;,\&quot;115\&quot;,\&quot;116\&quot;,\&quot;117\&quot;,\&quot;118\&quot;,\&quot;119\&quot;,\&quot;120\&quot;,\&quot;121\&quot;,\&quot;122\&quot;,\&quot;123\&quot;,\&quot;124\&quot;,\&quot;125\&quot;,\&quot;126\&quot;,\&quot;127\&quot;,\&quot;128\&quot;,\&quot;129\&quot;,\&quot;130\&quot;,\&quot;131\&quot;,\&quot;132\&quot;,\&quot;133\&quot;,\&quot;134\&quot;,\&quot;135\&quot;,\&quot;136\&quot;,\&quot;137\&quot;,\&quot;138\&quot;,\&quot;139\&quot;,\&quot;140\&quot;,\&quot;141\&quot;,\&quot;142\&quot;,\&quot;143\&quot;,\&quot;144\&quot;,\&quot;145\&quot;,\&quot;146\&quot;]}],\&quot;yAxis\&quot;:[{\&quot;show\&quot;:true,\&quot;scale\&quot;:false,\&quot;nameLocation\&quot;:\&quot;end\&quot;,\&quot;nameGap\&quot;:15,\&quot;gridIndex\&quot;:0,\&quot;axisLine\&quot;:{\&quot;show\&quot;:true,\&quot;onZero\&quot;:true,\&quot;onZeroAxisIndex\&quot;:0,\&quot;lineStyle\&quot;:{\&quot;show\&quot;:true,\&quot;width\&quot;:1,\&quot;opacity\&quot;:1,\&quot;curveness\&quot;:0,\&quot;type\&quot;:\&quot;solid\&quot;,\&quot;color\&quot;:\&quot;#798893\&quot;}},\&quot;axisTick\&quot;:{\&quot;show\&quot;:true,\&quot;alignWithLabel\&quot;:false,\&quot;inside\&quot;:false,\&quot;lineStyle\&quot;:{\&quot;show\&quot;:true,\&quot;width\&quot;:1,\&quot;opacity\&quot;:1,\&quot;curveness\&quot;:0,\&quot;type\&quot;:\&quot;solid\&quot;,\&quot;color\&quot;:\&quot;#F5F5F5\&quot;}},\&quot;axisLabel\&quot;:{\&quot;show\&quot;:true,\&quot;color\&quot;:\&quot;#798893\&quot;,\&quot;rotate\&quot;:0,\&quot;margin\&quot;:8,\&quot;fontSize\&quot;:12},\&quot;inverse\&quot;:false,\&quot;offset\&quot;:0,\&quot;splitNumber\&quot;:5,\&quot;minInterval\&quot;:0,\&quot;splitLine\&quot;:{\&quot;show\&quot;:true,\&quot;lineStyle\&quot;:{\&quot;show\&quot;:true,\&quot;width\&quot;:1,\&quot;opacity\&quot;:1,\&quot;curveness\&quot;:0,\&quot;type\&quot;:\&quot;solid\&quot;,\&quot;color\&quot;:\&quot;#F5F5F5\&quot;}}}],\&quot;title\&quot;:[{\&quot;show\&quot;:true,\&quot;text\&quot;:\&quot;NTC热敏电阻时间常数分析 (基于完整U列数据)\&quot;,\&quot;target\&quot;:\&quot;blank\&quot;,\&quot;subtarget\&quot;:\&quot;blank\&quot;,\&quot;left\&quot;:\&quot;2%\&quot;,\&quot;top\&quot;:\&quot;2%\&quot;,\&quot;padding\&quot;:5,\&quot;itemGap\&quot;:10,\&quot;textAlign\&quot;:\&quot;auto\&quot;,\&quot;textVerticalAlign\&quot;:\&quot;auto\&quot;,\&quot;triggerEvent\&quot;:false,\&quot;textStyle\&quot;:{\&quot;color\&quot;:\&quot;#333\&quot;,\&quot;fontSize\&quot;:14}}],\&quot;grid\&quot;:[{\&quot;show\&quot;:true,\&quot;zlevel\&quot;:0,\&quot;z\&quot;:2,\&quot;left\&quot;:\&quot;26px\&quot;,\&quot;right\&quot;:\&quot;26px\&quot;,\&quot;containLabel\&quot;:true,\&quot;backgroundColor\&quot;:\&quot;transparent\&quot;,\&quot;borderColor\&quot;:\&quot;#ccc\&quot;,\&quot;borderWidth\&quot;:0,\&quot;shadowOffsetX\&quot;:0,\&quot;shadowOffsetY\&quot;:0}],\&quot;backgroundColor\&quot;:\&quot;#fff\&quot;}}&quot;,&quot;event&quot;:&quot;echarts&quot;}]"/>
  </wpswe:properties>
  <wpswe:watchingCache>
    <wpswe:linkPath>C:/Users/ENGINEER/AppData/Local/Temp/wps.gXCQPm/Workbook1.xlsx</wpswe:linkPath>
  </wpswe:watchingCache>
  <wpswe:snapshot xmlns:r="http://schemas.openxmlformats.org/officeDocument/2006/relationships" r:embed="rId2"/>
  <wpswe:externalData xmlns:r="http://schemas.openxmlformats.org/officeDocument/2006/relationships" r:id="rId1"/>
  <wpswe:url>https://www.kdocs.cn/ksop/script/?version=857bf5820e#/pytemplate</wpswe:url>
  <wpswe:constantSnapshot>false</wpswe:constantSnapshot>
</wpswe:webExtension>
</file>

<file path=docProps/app.xml><?xml version="1.0" encoding="utf-8"?>
<Properties xmlns="http://schemas.openxmlformats.org/officeDocument/2006/extended-properties" xmlns:vt="http://schemas.openxmlformats.org/officeDocument/2006/docPropsVTypes">
  <TotalTime>0</TotalTime>
  <Words>2842</Words>
  <Application>WPS 演示</Application>
  <PresentationFormat>宽屏</PresentationFormat>
  <Paragraphs>245</Paragraphs>
  <Slides>14</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14</vt:i4>
      </vt:variant>
    </vt:vector>
  </HeadingPairs>
  <TitlesOfParts>
    <vt:vector size="32" baseType="lpstr">
      <vt:lpstr>Arial</vt:lpstr>
      <vt:lpstr>宋体</vt:lpstr>
      <vt:lpstr>Wingdings</vt:lpstr>
      <vt:lpstr>微软雅黑</vt:lpstr>
      <vt:lpstr>Chaparral Pro Light</vt:lpstr>
      <vt:lpstr>iconfont</vt:lpstr>
      <vt:lpstr>Agency FB</vt:lpstr>
      <vt:lpstr>微软雅黑 Light</vt:lpstr>
      <vt:lpstr>Arial</vt:lpstr>
      <vt:lpstr>黑体</vt:lpstr>
      <vt:lpstr>等线</vt:lpstr>
      <vt:lpstr>Calibri</vt:lpstr>
      <vt:lpstr>Arial Unicode MS</vt:lpstr>
      <vt:lpstr>汉仪君黑-45简</vt:lpstr>
      <vt:lpstr>汉仪雅酷黑简</vt:lpstr>
      <vt:lpstr>方正仿宋_GB2312</vt:lpstr>
      <vt:lpstr>汉仪颜楷简</vt:lpstr>
      <vt:lpstr>WPS</vt:lpstr>
      <vt:lpstr>PowerPoint 演示文稿</vt:lpstr>
      <vt:lpstr>PowerPoint 演示文稿</vt:lpstr>
      <vt:lpstr>项目背景</vt:lpstr>
      <vt:lpstr>数据分析</vt:lpstr>
      <vt:lpstr>数据分析</vt:lpstr>
      <vt:lpstr>数据分析</vt:lpstr>
      <vt:lpstr>PowerPoint 演示文稿</vt:lpstr>
      <vt:lpstr>方案介绍</vt:lpstr>
      <vt:lpstr>方案介绍</vt:lpstr>
      <vt:lpstr>SCADA系统主界面</vt:lpstr>
      <vt:lpstr>选型介绍</vt:lpstr>
      <vt:lpstr>选型介绍</vt:lpstr>
      <vt:lpstr>选型介绍</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ENGINEER</dc:creator>
  <cp:lastModifiedBy>西城以西</cp:lastModifiedBy>
  <cp:revision>19</cp:revision>
  <dcterms:created xsi:type="dcterms:W3CDTF">2023-08-09T12:44:00Z</dcterms:created>
  <dcterms:modified xsi:type="dcterms:W3CDTF">2025-12-05T00:53:46Z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29275CCD48774B9B82642F525FA62720_12</vt:lpwstr>
  </property>
</Properties>
</file>